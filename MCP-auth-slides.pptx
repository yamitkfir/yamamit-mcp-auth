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86712"/>
  </p:normalViewPr>
  <p:slideViewPr>
    <p:cSldViewPr snapToGrid="0" snapToObjects="1">
      <p:cViewPr varScale="1">
        <p:scale>
          <a:sx n="109" d="100"/>
          <a:sy n="109" d="100"/>
        </p:scale>
        <p:origin x="129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982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11091672" cy="365760"/>
          </a:xfrm>
          <a:prstGeom prst="rect">
            <a:avLst/>
          </a:prstGeom>
          <a:noFill/>
        </p:spPr>
        <p:txBody>
          <a:bodyPr wrap="square" lIns="0" tIns="0" rIns="0" bIns="0" anchor="t">
            <a:spAutoFit/>
          </a:bodyPr>
          <a:lstStyle/>
          <a:p>
            <a:pPr algn="l"/>
            <a:r>
              <a:rPr sz="1400" b="1" i="0">
                <a:solidFill>
                  <a:srgbClr val="02C39A"/>
                </a:solidFill>
                <a:latin typeface="Calibri"/>
              </a:rPr>
              <a:t>MCP AUTHORIZATION IN THE WILD</a:t>
            </a:r>
          </a:p>
        </p:txBody>
      </p:sp>
      <p:sp>
        <p:nvSpPr>
          <p:cNvPr id="3" name="TextBox 2"/>
          <p:cNvSpPr txBox="1"/>
          <p:nvPr/>
        </p:nvSpPr>
        <p:spPr>
          <a:xfrm>
            <a:off x="548640" y="1874519"/>
            <a:ext cx="11091672" cy="1188720"/>
          </a:xfrm>
          <a:prstGeom prst="rect">
            <a:avLst/>
          </a:prstGeom>
          <a:noFill/>
        </p:spPr>
        <p:txBody>
          <a:bodyPr wrap="square" lIns="0" tIns="0" rIns="0" bIns="0" anchor="t">
            <a:spAutoFit/>
          </a:bodyPr>
          <a:lstStyle/>
          <a:p>
            <a:pPr algn="l">
              <a:lnSpc>
                <a:spcPct val="102000"/>
              </a:lnSpc>
            </a:pPr>
            <a:r>
              <a:rPr sz="3600" b="1" i="0">
                <a:solidFill>
                  <a:srgbClr val="FFFFFF"/>
                </a:solidFill>
                <a:latin typeface="Calibri"/>
              </a:rPr>
              <a:t>Do MCP servers protect their tools the way the rules require?</a:t>
            </a:r>
          </a:p>
        </p:txBody>
      </p:sp>
      <p:sp>
        <p:nvSpPr>
          <p:cNvPr id="4" name="TextBox 3"/>
          <p:cNvSpPr txBox="1"/>
          <p:nvPr/>
        </p:nvSpPr>
        <p:spPr>
          <a:xfrm>
            <a:off x="548640" y="3154680"/>
            <a:ext cx="11091672" cy="276999"/>
          </a:xfrm>
          <a:prstGeom prst="rect">
            <a:avLst/>
          </a:prstGeom>
          <a:noFill/>
        </p:spPr>
        <p:txBody>
          <a:bodyPr wrap="square" lIns="0" tIns="0" rIns="0" bIns="0" anchor="t">
            <a:spAutoFit/>
          </a:bodyPr>
          <a:lstStyle/>
          <a:p>
            <a:pPr algn="l"/>
            <a:r>
              <a:rPr sz="1800" b="0" i="0" dirty="0">
                <a:solidFill>
                  <a:srgbClr val="CADCFC"/>
                </a:solidFill>
                <a:latin typeface="Calibri"/>
              </a:rPr>
              <a:t>A scanner that measures a server's login setup from the outside </a:t>
            </a:r>
            <a:r>
              <a:rPr lang="en-US" sz="1800" b="0" i="0" dirty="0">
                <a:solidFill>
                  <a:srgbClr val="CADCFC"/>
                </a:solidFill>
                <a:latin typeface="Calibri"/>
              </a:rPr>
              <a:t>-</a:t>
            </a:r>
            <a:r>
              <a:rPr sz="1800" b="0" i="0" dirty="0">
                <a:solidFill>
                  <a:srgbClr val="CADCFC"/>
                </a:solidFill>
                <a:latin typeface="Calibri"/>
              </a:rPr>
              <a:t> </a:t>
            </a:r>
            <a:r>
              <a:rPr lang="en-US" sz="1800" b="0" i="0" dirty="0">
                <a:solidFill>
                  <a:srgbClr val="CADCFC"/>
                </a:solidFill>
                <a:latin typeface="Calibri"/>
              </a:rPr>
              <a:t>before</a:t>
            </a:r>
            <a:r>
              <a:rPr sz="1800" b="0" i="0" dirty="0">
                <a:solidFill>
                  <a:srgbClr val="CADCFC"/>
                </a:solidFill>
                <a:latin typeface="Calibri"/>
              </a:rPr>
              <a:t> ever logging in.</a:t>
            </a:r>
          </a:p>
        </p:txBody>
      </p:sp>
      <p:sp>
        <p:nvSpPr>
          <p:cNvPr id="5" name="Rounded Rectangle 4"/>
          <p:cNvSpPr/>
          <p:nvPr/>
        </p:nvSpPr>
        <p:spPr>
          <a:xfrm>
            <a:off x="548640" y="4114800"/>
            <a:ext cx="6035040" cy="137160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4416437"/>
            <a:ext cx="5486400" cy="759182"/>
          </a:xfrm>
          <a:prstGeom prst="rect">
            <a:avLst/>
          </a:prstGeom>
          <a:noFill/>
        </p:spPr>
        <p:txBody>
          <a:bodyPr wrap="square" lIns="0" tIns="0" rIns="0" bIns="0" anchor="ctr">
            <a:spAutoFit/>
          </a:bodyPr>
          <a:lstStyle/>
          <a:p>
            <a:pPr algn="l">
              <a:spcAft>
                <a:spcPts val="400"/>
              </a:spcAft>
            </a:pPr>
            <a:r>
              <a:rPr sz="3200" b="1" i="0" dirty="0">
                <a:solidFill>
                  <a:srgbClr val="02C39A"/>
                </a:solidFill>
                <a:latin typeface="Calibri"/>
              </a:rPr>
              <a:t>28 of 83</a:t>
            </a:r>
          </a:p>
          <a:p>
            <a:pPr algn="l"/>
            <a:r>
              <a:rPr sz="1400" b="0" i="0" dirty="0">
                <a:solidFill>
                  <a:srgbClr val="CADCFC"/>
                </a:solidFill>
                <a:latin typeface="Calibri"/>
              </a:rPr>
              <a:t>public MCP servers hand their tool list to a stranger </a:t>
            </a:r>
            <a:r>
              <a:rPr lang="en-US" sz="1400" b="0" i="0" dirty="0">
                <a:solidFill>
                  <a:srgbClr val="CADCFC"/>
                </a:solidFill>
                <a:latin typeface="Calibri"/>
              </a:rPr>
              <a:t>-</a:t>
            </a:r>
            <a:r>
              <a:rPr sz="1400" b="0" i="0" dirty="0">
                <a:solidFill>
                  <a:srgbClr val="CADCFC"/>
                </a:solidFill>
                <a:latin typeface="Calibri"/>
              </a:rPr>
              <a:t> no login.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BACKGROUND</a:t>
            </a:r>
          </a:p>
        </p:txBody>
      </p:sp>
      <p:sp>
        <p:nvSpPr>
          <p:cNvPr id="3" name="TextBox 2"/>
          <p:cNvSpPr txBox="1"/>
          <p:nvPr/>
        </p:nvSpPr>
        <p:spPr>
          <a:xfrm>
            <a:off x="548640" y="658368"/>
            <a:ext cx="11091672" cy="430887"/>
          </a:xfrm>
          <a:prstGeom prst="rect">
            <a:avLst/>
          </a:prstGeom>
          <a:noFill/>
        </p:spPr>
        <p:txBody>
          <a:bodyPr wrap="square" lIns="0" tIns="0" rIns="0" bIns="0" anchor="t">
            <a:spAutoFit/>
          </a:bodyPr>
          <a:lstStyle/>
          <a:p>
            <a:pPr algn="l"/>
            <a:r>
              <a:rPr sz="2800" b="1" i="0" dirty="0">
                <a:solidFill>
                  <a:srgbClr val="12233F"/>
                </a:solidFill>
                <a:latin typeface="Calibri"/>
              </a:rPr>
              <a:t>MCP servers give an AI tools </a:t>
            </a:r>
            <a:r>
              <a:rPr lang="en-US" sz="2800" b="1" i="0" dirty="0">
                <a:solidFill>
                  <a:srgbClr val="12233F"/>
                </a:solidFill>
                <a:latin typeface="Calibri"/>
              </a:rPr>
              <a:t>-</a:t>
            </a:r>
            <a:r>
              <a:rPr sz="2800" b="1" i="0" dirty="0">
                <a:solidFill>
                  <a:srgbClr val="12233F"/>
                </a:solidFill>
                <a:latin typeface="Calibri"/>
              </a:rPr>
              <a:t> and ship with no security</a:t>
            </a:r>
          </a:p>
        </p:txBody>
      </p:sp>
      <p:sp>
        <p:nvSpPr>
          <p:cNvPr id="4" name="TextBox 3"/>
          <p:cNvSpPr txBox="1"/>
          <p:nvPr/>
        </p:nvSpPr>
        <p:spPr>
          <a:xfrm>
            <a:off x="548640" y="1691640"/>
            <a:ext cx="6035040" cy="868680"/>
          </a:xfrm>
          <a:prstGeom prst="rect">
            <a:avLst/>
          </a:prstGeom>
          <a:noFill/>
        </p:spPr>
        <p:txBody>
          <a:bodyPr wrap="square" lIns="0" tIns="0" rIns="0" bIns="0" anchor="t">
            <a:spAutoFit/>
          </a:bodyPr>
          <a:lstStyle/>
          <a:p>
            <a:pPr algn="l">
              <a:lnSpc>
                <a:spcPct val="105000"/>
              </a:lnSpc>
            </a:pPr>
            <a:r>
              <a:rPr sz="1600" b="1" i="0" dirty="0">
                <a:solidFill>
                  <a:srgbClr val="1B2A3A"/>
                </a:solidFill>
                <a:latin typeface="Calibri"/>
              </a:rPr>
              <a:t>MCP (Model Context Protocol)</a:t>
            </a:r>
            <a:r>
              <a:rPr sz="1600" b="0" i="0" dirty="0">
                <a:solidFill>
                  <a:srgbClr val="1B2A3A"/>
                </a:solidFill>
                <a:latin typeface="Calibri"/>
              </a:rPr>
              <a:t> lets an AI assistant use outside tools (“search the docs”, “run this query”) over the internet. Published by Anthropic.</a:t>
            </a:r>
          </a:p>
        </p:txBody>
      </p:sp>
      <p:sp>
        <p:nvSpPr>
          <p:cNvPr id="5" name="TextBox 4"/>
          <p:cNvSpPr txBox="1"/>
          <p:nvPr/>
        </p:nvSpPr>
        <p:spPr>
          <a:xfrm>
            <a:off x="548640" y="2697480"/>
            <a:ext cx="6035040" cy="909801"/>
          </a:xfrm>
          <a:prstGeom prst="rect">
            <a:avLst/>
          </a:prstGeom>
          <a:noFill/>
        </p:spPr>
        <p:txBody>
          <a:bodyPr wrap="square" lIns="0" tIns="0" rIns="0" bIns="0" anchor="t">
            <a:spAutoFit/>
          </a:bodyPr>
          <a:lstStyle/>
          <a:p>
            <a:pPr algn="l">
              <a:lnSpc>
                <a:spcPct val="103000"/>
              </a:lnSpc>
              <a:spcAft>
                <a:spcPts val="800"/>
              </a:spcAft>
            </a:pPr>
            <a:r>
              <a:rPr sz="1500" b="0" i="0" dirty="0">
                <a:solidFill>
                  <a:srgbClr val="1B2A3A"/>
                </a:solidFill>
                <a:latin typeface="Calibri"/>
              </a:rPr>
              <a:t>•  A tool call is just an HTTP request carrying a JSON-RPC message.</a:t>
            </a:r>
          </a:p>
          <a:p>
            <a:pPr algn="l">
              <a:lnSpc>
                <a:spcPct val="103000"/>
              </a:lnSpc>
              <a:spcAft>
                <a:spcPts val="800"/>
              </a:spcAft>
            </a:pPr>
            <a:r>
              <a:rPr sz="1500" b="0" i="0" dirty="0">
                <a:solidFill>
                  <a:srgbClr val="1B2A3A"/>
                </a:solidFill>
                <a:latin typeface="Calibri"/>
              </a:rPr>
              <a:t>•  The protocol </a:t>
            </a:r>
            <a:r>
              <a:rPr sz="1500" b="0" i="0" dirty="0" err="1">
                <a:solidFill>
                  <a:srgbClr val="1B2A3A"/>
                </a:solidFill>
                <a:latin typeface="Calibri"/>
              </a:rPr>
              <a:t>standardises</a:t>
            </a:r>
            <a:r>
              <a:rPr sz="1500" b="0" i="0" dirty="0">
                <a:solidFill>
                  <a:srgbClr val="1B2A3A"/>
                </a:solidFill>
                <a:latin typeface="Calibri"/>
              </a:rPr>
              <a:t> the menu of actions and the messages.</a:t>
            </a:r>
          </a:p>
          <a:p>
            <a:pPr algn="l">
              <a:lnSpc>
                <a:spcPct val="103000"/>
              </a:lnSpc>
              <a:spcAft>
                <a:spcPts val="0"/>
              </a:spcAft>
            </a:pPr>
            <a:r>
              <a:rPr sz="1500" b="0" i="0" dirty="0">
                <a:solidFill>
                  <a:srgbClr val="1B2A3A"/>
                </a:solidFill>
                <a:latin typeface="Calibri"/>
              </a:rPr>
              <a:t>•  </a:t>
            </a:r>
            <a:r>
              <a:rPr sz="1500" b="0" i="0" u="sng" dirty="0">
                <a:solidFill>
                  <a:srgbClr val="1B2A3A"/>
                </a:solidFill>
                <a:latin typeface="Calibri"/>
              </a:rPr>
              <a:t>Authentication is left to the implementer </a:t>
            </a:r>
            <a:r>
              <a:rPr lang="en-US" sz="1500" b="0" i="0" dirty="0">
                <a:solidFill>
                  <a:srgbClr val="1B2A3A"/>
                </a:solidFill>
                <a:latin typeface="Calibri"/>
              </a:rPr>
              <a:t>-</a:t>
            </a:r>
            <a:r>
              <a:rPr sz="1500" b="0" i="0" dirty="0">
                <a:solidFill>
                  <a:srgbClr val="1B2A3A"/>
                </a:solidFill>
                <a:latin typeface="Calibri"/>
              </a:rPr>
              <a:t> which is where things go wrong.</a:t>
            </a:r>
          </a:p>
        </p:txBody>
      </p:sp>
      <p:sp>
        <p:nvSpPr>
          <p:cNvPr id="6" name="TextBox 5"/>
          <p:cNvSpPr txBox="1"/>
          <p:nvPr/>
        </p:nvSpPr>
        <p:spPr>
          <a:xfrm>
            <a:off x="548640" y="4389120"/>
            <a:ext cx="6035040" cy="457200"/>
          </a:xfrm>
          <a:prstGeom prst="rect">
            <a:avLst/>
          </a:prstGeom>
          <a:noFill/>
        </p:spPr>
        <p:txBody>
          <a:bodyPr wrap="square" lIns="0" tIns="0" rIns="0" bIns="0" anchor="t">
            <a:spAutoFit/>
          </a:bodyPr>
          <a:lstStyle/>
          <a:p>
            <a:pPr algn="l"/>
            <a:r>
              <a:rPr sz="1300" b="0" i="1" dirty="0">
                <a:solidFill>
                  <a:srgbClr val="5C6B7A"/>
                </a:solidFill>
                <a:latin typeface="Calibri"/>
              </a:rPr>
              <a:t>Real MCP servers you'd </a:t>
            </a:r>
            <a:r>
              <a:rPr sz="1300" b="0" i="1" dirty="0" err="1">
                <a:solidFill>
                  <a:srgbClr val="5C6B7A"/>
                </a:solidFill>
                <a:latin typeface="Calibri"/>
              </a:rPr>
              <a:t>recognise</a:t>
            </a:r>
            <a:r>
              <a:rPr sz="1300" b="0" i="1" dirty="0">
                <a:solidFill>
                  <a:srgbClr val="5C6B7A"/>
                </a:solidFill>
                <a:latin typeface="Calibri"/>
              </a:rPr>
              <a:t>: Stripe, Notion, GitHub, Linear, PayPal.</a:t>
            </a:r>
          </a:p>
        </p:txBody>
      </p:sp>
      <p:sp>
        <p:nvSpPr>
          <p:cNvPr id="7" name="Rounded Rectangle 6"/>
          <p:cNvSpPr/>
          <p:nvPr/>
        </p:nvSpPr>
        <p:spPr>
          <a:xfrm>
            <a:off x="7223760" y="2011680"/>
            <a:ext cx="1920240" cy="8229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1716" y="2207716"/>
            <a:ext cx="1735183" cy="430887"/>
          </a:xfrm>
          <a:prstGeom prst="rect">
            <a:avLst/>
          </a:prstGeom>
          <a:noFill/>
        </p:spPr>
        <p:txBody>
          <a:bodyPr wrap="square" lIns="0" tIns="0" rIns="0" bIns="0" anchor="ctr">
            <a:spAutoFit/>
          </a:bodyPr>
          <a:lstStyle/>
          <a:p>
            <a:pPr algn="ctr"/>
            <a:r>
              <a:rPr sz="1400" b="1" i="0" dirty="0">
                <a:solidFill>
                  <a:srgbClr val="12233F"/>
                </a:solidFill>
                <a:latin typeface="Calibri"/>
              </a:rPr>
              <a:t>AI assistant</a:t>
            </a:r>
            <a:r>
              <a:rPr lang="en-US" sz="1400" b="1" i="0" dirty="0">
                <a:solidFill>
                  <a:srgbClr val="12233F"/>
                </a:solidFill>
                <a:latin typeface="Calibri"/>
              </a:rPr>
              <a:t> (via an MCP client)</a:t>
            </a:r>
            <a:endParaRPr sz="1400" b="1" i="0" dirty="0">
              <a:solidFill>
                <a:srgbClr val="12233F"/>
              </a:solidFill>
              <a:latin typeface="Calibri"/>
            </a:endParaRPr>
          </a:p>
        </p:txBody>
      </p:sp>
      <p:sp>
        <p:nvSpPr>
          <p:cNvPr id="9" name="Rounded Rectangle 8"/>
          <p:cNvSpPr/>
          <p:nvPr/>
        </p:nvSpPr>
        <p:spPr>
          <a:xfrm>
            <a:off x="7223760" y="3429000"/>
            <a:ext cx="1920240" cy="8229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23760" y="3429000"/>
            <a:ext cx="1920240" cy="822960"/>
          </a:xfrm>
          <a:prstGeom prst="rect">
            <a:avLst/>
          </a:prstGeom>
          <a:noFill/>
        </p:spPr>
        <p:txBody>
          <a:bodyPr wrap="square" lIns="0" tIns="0" rIns="0" bIns="0" anchor="ctr">
            <a:spAutoFit/>
          </a:bodyPr>
          <a:lstStyle/>
          <a:p>
            <a:pPr algn="ctr"/>
            <a:r>
              <a:rPr sz="1400" b="1" i="0">
                <a:solidFill>
                  <a:srgbClr val="FFFFFF"/>
                </a:solidFill>
                <a:latin typeface="Calibri"/>
              </a:rPr>
              <a:t>MCP server</a:t>
            </a:r>
          </a:p>
        </p:txBody>
      </p:sp>
      <p:sp>
        <p:nvSpPr>
          <p:cNvPr id="11" name="Rounded Rectangle 10"/>
          <p:cNvSpPr/>
          <p:nvPr/>
        </p:nvSpPr>
        <p:spPr>
          <a:xfrm>
            <a:off x="9738360" y="3291840"/>
            <a:ext cx="1600200"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38360" y="3291840"/>
            <a:ext cx="1600200" cy="1097280"/>
          </a:xfrm>
          <a:prstGeom prst="rect">
            <a:avLst/>
          </a:prstGeom>
          <a:noFill/>
        </p:spPr>
        <p:txBody>
          <a:bodyPr wrap="square" lIns="0" tIns="0" rIns="0" bIns="0" anchor="ctr">
            <a:spAutoFit/>
          </a:bodyPr>
          <a:lstStyle/>
          <a:p>
            <a:pPr algn="ctr"/>
            <a:r>
              <a:rPr sz="1200" b="0" i="0">
                <a:solidFill>
                  <a:srgbClr val="1B2A3A"/>
                </a:solidFill>
                <a:latin typeface="Calibri"/>
              </a:rPr>
              <a:t>tools
(actions + data)</a:t>
            </a:r>
          </a:p>
        </p:txBody>
      </p:sp>
      <p:sp>
        <p:nvSpPr>
          <p:cNvPr id="13" name="Down Arrow 12"/>
          <p:cNvSpPr/>
          <p:nvPr/>
        </p:nvSpPr>
        <p:spPr>
          <a:xfrm>
            <a:off x="7973568" y="2852928"/>
            <a:ext cx="411480" cy="457200"/>
          </a:xfrm>
          <a:prstGeom prst="down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81928" y="2971800"/>
            <a:ext cx="1691640" cy="274320"/>
          </a:xfrm>
          <a:prstGeom prst="rect">
            <a:avLst/>
          </a:prstGeom>
          <a:noFill/>
        </p:spPr>
        <p:txBody>
          <a:bodyPr wrap="square" lIns="0" tIns="0" rIns="0" bIns="0" anchor="t">
            <a:spAutoFit/>
          </a:bodyPr>
          <a:lstStyle/>
          <a:p>
            <a:pPr algn="r"/>
            <a:r>
              <a:rPr sz="1000" b="0" i="0">
                <a:solidFill>
                  <a:srgbClr val="5C6B7A"/>
                </a:solidFill>
                <a:latin typeface="Courier New"/>
              </a:rPr>
              <a:t>HTTP + JSON-RPC</a:t>
            </a:r>
          </a:p>
        </p:txBody>
      </p:sp>
      <p:sp>
        <p:nvSpPr>
          <p:cNvPr id="15" name="Right Arrow 14"/>
          <p:cNvSpPr/>
          <p:nvPr/>
        </p:nvSpPr>
        <p:spPr>
          <a:xfrm>
            <a:off x="9162288" y="3657600"/>
            <a:ext cx="457200"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BACKGROUND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vocabulary: authentication, authorization, OAuth</a:t>
            </a:r>
          </a:p>
        </p:txBody>
      </p:sp>
      <p:sp>
        <p:nvSpPr>
          <p:cNvPr id="4" name="TextBox 3"/>
          <p:cNvSpPr txBox="1"/>
          <p:nvPr/>
        </p:nvSpPr>
        <p:spPr>
          <a:xfrm>
            <a:off x="548640" y="1737360"/>
            <a:ext cx="6126480" cy="229102"/>
          </a:xfrm>
          <a:prstGeom prst="rect">
            <a:avLst/>
          </a:prstGeom>
          <a:noFill/>
        </p:spPr>
        <p:txBody>
          <a:bodyPr wrap="square" lIns="0" tIns="0" rIns="0" bIns="0" anchor="t">
            <a:spAutoFit/>
          </a:bodyPr>
          <a:lstStyle/>
          <a:p>
            <a:pPr algn="l">
              <a:lnSpc>
                <a:spcPct val="103000"/>
              </a:lnSpc>
            </a:pPr>
            <a:r>
              <a:rPr sz="1500" b="1" i="0" dirty="0">
                <a:solidFill>
                  <a:srgbClr val="1C7293"/>
                </a:solidFill>
                <a:latin typeface="Calibri"/>
              </a:rPr>
              <a:t>Authentication </a:t>
            </a:r>
            <a:r>
              <a:rPr lang="en-US" sz="1500" b="1" i="0" dirty="0">
                <a:solidFill>
                  <a:srgbClr val="1C7293"/>
                </a:solidFill>
                <a:latin typeface="Calibri"/>
              </a:rPr>
              <a:t>- </a:t>
            </a:r>
            <a:r>
              <a:rPr sz="1500" b="0" i="0" dirty="0">
                <a:solidFill>
                  <a:srgbClr val="1B2A3A"/>
                </a:solidFill>
                <a:latin typeface="Calibri"/>
              </a:rPr>
              <a:t>proving who you are (showing your ticket).</a:t>
            </a:r>
          </a:p>
        </p:txBody>
      </p:sp>
      <p:sp>
        <p:nvSpPr>
          <p:cNvPr id="5" name="TextBox 4"/>
          <p:cNvSpPr txBox="1"/>
          <p:nvPr/>
        </p:nvSpPr>
        <p:spPr>
          <a:xfrm>
            <a:off x="548640" y="2395728"/>
            <a:ext cx="6126480" cy="229102"/>
          </a:xfrm>
          <a:prstGeom prst="rect">
            <a:avLst/>
          </a:prstGeom>
          <a:noFill/>
        </p:spPr>
        <p:txBody>
          <a:bodyPr wrap="square" lIns="0" tIns="0" rIns="0" bIns="0" anchor="t">
            <a:spAutoFit/>
          </a:bodyPr>
          <a:lstStyle/>
          <a:p>
            <a:pPr algn="l">
              <a:lnSpc>
                <a:spcPct val="103000"/>
              </a:lnSpc>
            </a:pPr>
            <a:r>
              <a:rPr sz="1500" b="1" i="0" dirty="0">
                <a:solidFill>
                  <a:srgbClr val="1C7293"/>
                </a:solidFill>
                <a:latin typeface="Calibri"/>
              </a:rPr>
              <a:t>Authorization </a:t>
            </a:r>
            <a:r>
              <a:rPr lang="en-US" sz="1500" b="1" i="0" dirty="0">
                <a:solidFill>
                  <a:srgbClr val="1C7293"/>
                </a:solidFill>
                <a:latin typeface="Calibri"/>
              </a:rPr>
              <a:t>-</a:t>
            </a:r>
            <a:r>
              <a:rPr sz="1500" b="1" i="0" dirty="0">
                <a:solidFill>
                  <a:srgbClr val="1C7293"/>
                </a:solidFill>
                <a:latin typeface="Calibri"/>
              </a:rPr>
              <a:t> </a:t>
            </a:r>
            <a:r>
              <a:rPr sz="1500" b="0" i="0" dirty="0">
                <a:solidFill>
                  <a:srgbClr val="1B2A3A"/>
                </a:solidFill>
                <a:latin typeface="Calibri"/>
              </a:rPr>
              <a:t>deciding what you may do once you're known.</a:t>
            </a:r>
          </a:p>
        </p:txBody>
      </p:sp>
      <p:sp>
        <p:nvSpPr>
          <p:cNvPr id="6" name="TextBox 5"/>
          <p:cNvSpPr txBox="1"/>
          <p:nvPr/>
        </p:nvSpPr>
        <p:spPr>
          <a:xfrm>
            <a:off x="548640" y="3054096"/>
            <a:ext cx="6126480" cy="466859"/>
          </a:xfrm>
          <a:prstGeom prst="rect">
            <a:avLst/>
          </a:prstGeom>
          <a:noFill/>
        </p:spPr>
        <p:txBody>
          <a:bodyPr wrap="square" lIns="0" tIns="0" rIns="0" bIns="0" anchor="t">
            <a:spAutoFit/>
          </a:bodyPr>
          <a:lstStyle/>
          <a:p>
            <a:pPr algn="l">
              <a:lnSpc>
                <a:spcPct val="103000"/>
              </a:lnSpc>
            </a:pPr>
            <a:r>
              <a:rPr sz="1500" b="1" i="0" dirty="0">
                <a:solidFill>
                  <a:srgbClr val="1C7293"/>
                </a:solidFill>
                <a:latin typeface="Calibri"/>
              </a:rPr>
              <a:t>OAuth 2.1 </a:t>
            </a:r>
            <a:r>
              <a:rPr lang="en-US" sz="1500" b="1" i="0" dirty="0">
                <a:solidFill>
                  <a:srgbClr val="1C7293"/>
                </a:solidFill>
                <a:latin typeface="Calibri"/>
              </a:rPr>
              <a:t>-</a:t>
            </a:r>
            <a:r>
              <a:rPr sz="1500" b="1" i="0" dirty="0">
                <a:solidFill>
                  <a:srgbClr val="1C7293"/>
                </a:solidFill>
                <a:latin typeface="Calibri"/>
              </a:rPr>
              <a:t> </a:t>
            </a:r>
            <a:r>
              <a:rPr sz="1500" b="0" i="0" dirty="0">
                <a:solidFill>
                  <a:srgbClr val="1B2A3A"/>
                </a:solidFill>
                <a:latin typeface="Calibri"/>
              </a:rPr>
              <a:t>the login system </a:t>
            </a:r>
            <a:r>
              <a:rPr lang="en-US" sz="1500" b="0" i="0" dirty="0">
                <a:solidFill>
                  <a:srgbClr val="1B2A3A"/>
                </a:solidFill>
                <a:latin typeface="Calibri"/>
              </a:rPr>
              <a:t>that </a:t>
            </a:r>
            <a:r>
              <a:rPr sz="1500" b="0" i="0" dirty="0">
                <a:solidFill>
                  <a:srgbClr val="1B2A3A"/>
                </a:solidFill>
                <a:latin typeface="Calibri"/>
              </a:rPr>
              <a:t>MCP adopted. You log in at a separate authorization server, which hands the app a token.</a:t>
            </a:r>
          </a:p>
        </p:txBody>
      </p:sp>
      <p:sp>
        <p:nvSpPr>
          <p:cNvPr id="7" name="TextBox 6"/>
          <p:cNvSpPr txBox="1"/>
          <p:nvPr/>
        </p:nvSpPr>
        <p:spPr>
          <a:xfrm>
            <a:off x="548640" y="3922776"/>
            <a:ext cx="6126480" cy="229102"/>
          </a:xfrm>
          <a:prstGeom prst="rect">
            <a:avLst/>
          </a:prstGeom>
          <a:noFill/>
        </p:spPr>
        <p:txBody>
          <a:bodyPr wrap="square" lIns="0" tIns="0" rIns="0" bIns="0" anchor="t">
            <a:spAutoFit/>
          </a:bodyPr>
          <a:lstStyle/>
          <a:p>
            <a:pPr algn="l">
              <a:lnSpc>
                <a:spcPct val="103000"/>
              </a:lnSpc>
            </a:pPr>
            <a:r>
              <a:rPr sz="1500" b="1" i="0" dirty="0">
                <a:solidFill>
                  <a:srgbClr val="1C7293"/>
                </a:solidFill>
                <a:latin typeface="Calibri"/>
              </a:rPr>
              <a:t>Token </a:t>
            </a:r>
            <a:r>
              <a:rPr lang="en-US" sz="1500" b="1" i="0" dirty="0">
                <a:solidFill>
                  <a:srgbClr val="1C7293"/>
                </a:solidFill>
                <a:latin typeface="Calibri"/>
              </a:rPr>
              <a:t>- </a:t>
            </a:r>
            <a:r>
              <a:rPr sz="1500" b="0" i="0" dirty="0">
                <a:solidFill>
                  <a:srgbClr val="1B2A3A"/>
                </a:solidFill>
                <a:latin typeface="Calibri"/>
              </a:rPr>
              <a:t>a digital ticket </a:t>
            </a:r>
            <a:r>
              <a:rPr lang="en-US" sz="1500" b="0" i="0" dirty="0">
                <a:solidFill>
                  <a:srgbClr val="1B2A3A"/>
                </a:solidFill>
                <a:latin typeface="Calibri"/>
              </a:rPr>
              <a:t>-</a:t>
            </a:r>
            <a:r>
              <a:rPr sz="1500" b="0" i="0" dirty="0">
                <a:solidFill>
                  <a:srgbClr val="1B2A3A"/>
                </a:solidFill>
                <a:latin typeface="Calibri"/>
              </a:rPr>
              <a:t> whoever holds it gets in</a:t>
            </a:r>
            <a:r>
              <a:rPr lang="en-US" sz="1500" b="0" i="0" dirty="0">
                <a:solidFill>
                  <a:srgbClr val="1B2A3A"/>
                </a:solidFill>
                <a:latin typeface="Calibri"/>
              </a:rPr>
              <a:t>.</a:t>
            </a:r>
            <a:endParaRPr sz="1500" b="0" i="0" dirty="0">
              <a:solidFill>
                <a:srgbClr val="1B2A3A"/>
              </a:solidFill>
              <a:latin typeface="Calibri"/>
            </a:endParaRPr>
          </a:p>
        </p:txBody>
      </p:sp>
      <p:sp>
        <p:nvSpPr>
          <p:cNvPr id="8" name="Rounded Rectangle 7"/>
          <p:cNvSpPr/>
          <p:nvPr/>
        </p:nvSpPr>
        <p:spPr>
          <a:xfrm>
            <a:off x="7040880" y="1783080"/>
            <a:ext cx="4480560" cy="658368"/>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1783080"/>
            <a:ext cx="4114800" cy="658368"/>
          </a:xfrm>
          <a:prstGeom prst="rect">
            <a:avLst/>
          </a:prstGeom>
          <a:noFill/>
        </p:spPr>
        <p:txBody>
          <a:bodyPr wrap="square" lIns="0" tIns="0" rIns="0" bIns="0" anchor="ctr">
            <a:spAutoFit/>
          </a:bodyPr>
          <a:lstStyle/>
          <a:p>
            <a:pPr algn="l"/>
            <a:r>
              <a:rPr sz="1400" b="1" i="0">
                <a:solidFill>
                  <a:srgbClr val="FFFFFF"/>
                </a:solidFill>
                <a:latin typeface="Calibri"/>
              </a:rPr>
              <a:t>User</a:t>
            </a:r>
          </a:p>
        </p:txBody>
      </p:sp>
      <p:sp>
        <p:nvSpPr>
          <p:cNvPr id="10" name="Rounded Rectangle 9"/>
          <p:cNvSpPr/>
          <p:nvPr/>
        </p:nvSpPr>
        <p:spPr>
          <a:xfrm>
            <a:off x="7040880" y="2624328"/>
            <a:ext cx="4480560" cy="658368"/>
          </a:xfrm>
          <a:prstGeom prst="roundRect">
            <a:avLst>
              <a:gd name="adj" fmla="val 6000"/>
            </a:avLst>
          </a:prstGeom>
          <a:solidFill>
            <a:srgbClr val="13405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2624328"/>
            <a:ext cx="4114800" cy="658368"/>
          </a:xfrm>
          <a:prstGeom prst="rect">
            <a:avLst/>
          </a:prstGeom>
          <a:noFill/>
        </p:spPr>
        <p:txBody>
          <a:bodyPr wrap="square" lIns="0" tIns="0" rIns="0" bIns="0" anchor="ctr">
            <a:spAutoFit/>
          </a:bodyPr>
          <a:lstStyle/>
          <a:p>
            <a:pPr algn="l"/>
            <a:r>
              <a:rPr sz="1400" b="1" i="0">
                <a:solidFill>
                  <a:srgbClr val="FFFFFF"/>
                </a:solidFill>
                <a:latin typeface="Calibri"/>
              </a:rPr>
              <a:t>Client (the app)</a:t>
            </a:r>
          </a:p>
        </p:txBody>
      </p:sp>
      <p:sp>
        <p:nvSpPr>
          <p:cNvPr id="12" name="Rounded Rectangle 11"/>
          <p:cNvSpPr/>
          <p:nvPr/>
        </p:nvSpPr>
        <p:spPr>
          <a:xfrm>
            <a:off x="7040880" y="3465576"/>
            <a:ext cx="4480560" cy="658368"/>
          </a:xfrm>
          <a:prstGeom prst="roundRect">
            <a:avLst>
              <a:gd name="adj" fmla="val 6000"/>
            </a:avLst>
          </a:prstGeom>
          <a:solidFill>
            <a:srgbClr val="13405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3465576"/>
            <a:ext cx="4114800" cy="658368"/>
          </a:xfrm>
          <a:prstGeom prst="rect">
            <a:avLst/>
          </a:prstGeom>
          <a:noFill/>
        </p:spPr>
        <p:txBody>
          <a:bodyPr wrap="square" lIns="0" tIns="0" rIns="0" bIns="0" anchor="ctr">
            <a:spAutoFit/>
          </a:bodyPr>
          <a:lstStyle/>
          <a:p>
            <a:pPr algn="l"/>
            <a:r>
              <a:rPr sz="1400" b="1" i="0">
                <a:solidFill>
                  <a:srgbClr val="FFFFFF"/>
                </a:solidFill>
                <a:latin typeface="Calibri"/>
              </a:rPr>
              <a:t>MCP server (tools)</a:t>
            </a:r>
          </a:p>
        </p:txBody>
      </p:sp>
      <p:sp>
        <p:nvSpPr>
          <p:cNvPr id="14" name="Rounded Rectangle 13"/>
          <p:cNvSpPr/>
          <p:nvPr/>
        </p:nvSpPr>
        <p:spPr>
          <a:xfrm>
            <a:off x="7040880" y="4306824"/>
            <a:ext cx="4480560" cy="658368"/>
          </a:xfrm>
          <a:prstGeom prst="roundRect">
            <a:avLst>
              <a:gd name="adj" fmla="val 6000"/>
            </a:avLst>
          </a:prstGeom>
          <a:solidFill>
            <a:srgbClr val="0E4E4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4306824"/>
            <a:ext cx="4114800" cy="658368"/>
          </a:xfrm>
          <a:prstGeom prst="rect">
            <a:avLst/>
          </a:prstGeom>
          <a:noFill/>
        </p:spPr>
        <p:txBody>
          <a:bodyPr wrap="square" lIns="0" tIns="0" rIns="0" bIns="0" anchor="ctr">
            <a:spAutoFit/>
          </a:bodyPr>
          <a:lstStyle/>
          <a:p>
            <a:pPr algn="l"/>
            <a:r>
              <a:rPr sz="1400" b="1" i="0">
                <a:solidFill>
                  <a:srgbClr val="FFFFFF"/>
                </a:solidFill>
                <a:latin typeface="Calibri"/>
              </a:rPr>
              <a:t>Auth server (login)</a:t>
            </a:r>
          </a:p>
        </p:txBody>
      </p:sp>
      <p:sp>
        <p:nvSpPr>
          <p:cNvPr id="16" name="TextBox 15"/>
          <p:cNvSpPr txBox="1"/>
          <p:nvPr/>
        </p:nvSpPr>
        <p:spPr>
          <a:xfrm>
            <a:off x="7040880" y="5166359"/>
            <a:ext cx="4480560" cy="548640"/>
          </a:xfrm>
          <a:prstGeom prst="rect">
            <a:avLst/>
          </a:prstGeom>
          <a:noFill/>
        </p:spPr>
        <p:txBody>
          <a:bodyPr wrap="square" lIns="0" tIns="0" rIns="0" bIns="0" anchor="t">
            <a:spAutoFit/>
          </a:bodyPr>
          <a:lstStyle/>
          <a:p>
            <a:pPr algn="l"/>
            <a:r>
              <a:rPr sz="1200" b="0" i="1">
                <a:solidFill>
                  <a:srgbClr val="5C6B7A"/>
                </a:solidFill>
                <a:latin typeface="Calibri"/>
              </a:rPr>
              <a:t>The MCP server and the login server are often different companies.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RESEARCH QUESTION</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dirty="0">
                <a:solidFill>
                  <a:srgbClr val="12233F"/>
                </a:solidFill>
                <a:latin typeface="Calibri"/>
              </a:rPr>
              <a:t>The one question we answer</a:t>
            </a:r>
          </a:p>
        </p:txBody>
      </p:sp>
      <p:sp>
        <p:nvSpPr>
          <p:cNvPr id="4" name="TextBox 3"/>
          <p:cNvSpPr txBox="1"/>
          <p:nvPr/>
        </p:nvSpPr>
        <p:spPr>
          <a:xfrm>
            <a:off x="548640" y="1737360"/>
            <a:ext cx="11091672" cy="457200"/>
          </a:xfrm>
          <a:prstGeom prst="rect">
            <a:avLst/>
          </a:prstGeom>
          <a:noFill/>
        </p:spPr>
        <p:txBody>
          <a:bodyPr wrap="square" lIns="0" tIns="0" rIns="0" bIns="0" anchor="t">
            <a:spAutoFit/>
          </a:bodyPr>
          <a:lstStyle/>
          <a:p>
            <a:pPr algn="l"/>
            <a:r>
              <a:rPr sz="1600" b="0" i="0" dirty="0">
                <a:solidFill>
                  <a:srgbClr val="1B2A3A"/>
                </a:solidFill>
                <a:latin typeface="Calibri"/>
              </a:rPr>
              <a:t>Project goal: map the gap between what the MCP spec </a:t>
            </a:r>
            <a:r>
              <a:rPr sz="1600" b="1" i="0" dirty="0">
                <a:solidFill>
                  <a:srgbClr val="1B2A3A"/>
                </a:solidFill>
                <a:latin typeface="Calibri"/>
              </a:rPr>
              <a:t>requires</a:t>
            </a:r>
            <a:r>
              <a:rPr sz="1600" b="0" i="0" dirty="0">
                <a:solidFill>
                  <a:srgbClr val="1B2A3A"/>
                </a:solidFill>
                <a:latin typeface="Calibri"/>
              </a:rPr>
              <a:t> and what real servers </a:t>
            </a:r>
            <a:r>
              <a:rPr sz="1600" b="1" i="0" dirty="0">
                <a:solidFill>
                  <a:srgbClr val="1B2A3A"/>
                </a:solidFill>
                <a:latin typeface="Calibri"/>
              </a:rPr>
              <a:t>do</a:t>
            </a:r>
            <a:r>
              <a:rPr sz="1600" b="0" i="0" dirty="0">
                <a:solidFill>
                  <a:srgbClr val="1B2A3A"/>
                </a:solidFill>
                <a:latin typeface="Calibri"/>
              </a:rPr>
              <a:t>.</a:t>
            </a:r>
          </a:p>
        </p:txBody>
      </p:sp>
      <p:sp>
        <p:nvSpPr>
          <p:cNvPr id="5" name="TextBox 4"/>
          <p:cNvSpPr txBox="1"/>
          <p:nvPr/>
        </p:nvSpPr>
        <p:spPr>
          <a:xfrm>
            <a:off x="548640" y="2286000"/>
            <a:ext cx="11091672" cy="230832"/>
          </a:xfrm>
          <a:prstGeom prst="rect">
            <a:avLst/>
          </a:prstGeom>
          <a:noFill/>
        </p:spPr>
        <p:txBody>
          <a:bodyPr wrap="square" lIns="0" tIns="0" rIns="0" bIns="0" anchor="t">
            <a:spAutoFit/>
          </a:bodyPr>
          <a:lstStyle/>
          <a:p>
            <a:pPr algn="l"/>
            <a:r>
              <a:rPr sz="1500" b="0" i="0" dirty="0">
                <a:solidFill>
                  <a:srgbClr val="5C6B7A"/>
                </a:solidFill>
                <a:latin typeface="Calibri"/>
              </a:rPr>
              <a:t>Supervisor's steer:  </a:t>
            </a:r>
            <a:r>
              <a:rPr sz="1500" b="0" i="1" dirty="0">
                <a:solidFill>
                  <a:srgbClr val="12233F"/>
                </a:solidFill>
                <a:latin typeface="Calibri"/>
              </a:rPr>
              <a:t>“focus on ONE angle </a:t>
            </a:r>
            <a:r>
              <a:rPr lang="en-US" sz="1500" b="0" i="1" dirty="0">
                <a:solidFill>
                  <a:srgbClr val="12233F"/>
                </a:solidFill>
                <a:latin typeface="Calibri"/>
              </a:rPr>
              <a:t>-</a:t>
            </a:r>
            <a:r>
              <a:rPr sz="1500" b="0" i="1" dirty="0">
                <a:solidFill>
                  <a:srgbClr val="12233F"/>
                </a:solidFill>
                <a:latin typeface="Calibri"/>
              </a:rPr>
              <a:t> you can't cover everything.”</a:t>
            </a:r>
          </a:p>
        </p:txBody>
      </p:sp>
      <p:sp>
        <p:nvSpPr>
          <p:cNvPr id="6" name="Rounded Rectangle 5"/>
          <p:cNvSpPr/>
          <p:nvPr/>
        </p:nvSpPr>
        <p:spPr>
          <a:xfrm>
            <a:off x="548640" y="3017520"/>
            <a:ext cx="11091672" cy="128016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1" eaLnBrk="1" latinLnBrk="0" hangingPunct="1"/>
            <a:endParaRPr/>
          </a:p>
        </p:txBody>
      </p:sp>
      <p:sp>
        <p:nvSpPr>
          <p:cNvPr id="7" name="TextBox 6"/>
          <p:cNvSpPr txBox="1"/>
          <p:nvPr/>
        </p:nvSpPr>
        <p:spPr>
          <a:xfrm>
            <a:off x="822959" y="3336403"/>
            <a:ext cx="10543032" cy="633250"/>
          </a:xfrm>
          <a:prstGeom prst="rect">
            <a:avLst/>
          </a:prstGeom>
          <a:noFill/>
        </p:spPr>
        <p:txBody>
          <a:bodyPr wrap="square" lIns="0" tIns="0" rIns="0" bIns="0" anchor="ctr">
            <a:spAutoFit/>
          </a:bodyPr>
          <a:lstStyle/>
          <a:p>
            <a:pPr algn="l">
              <a:lnSpc>
                <a:spcPct val="105000"/>
              </a:lnSpc>
            </a:pPr>
            <a:r>
              <a:rPr sz="2000" b="1" i="0" dirty="0">
                <a:solidFill>
                  <a:srgbClr val="1C7293"/>
                </a:solidFill>
                <a:latin typeface="Calibri"/>
              </a:rPr>
              <a:t>Our angle:  </a:t>
            </a:r>
            <a:r>
              <a:rPr sz="2000" b="0" i="0" dirty="0">
                <a:solidFill>
                  <a:srgbClr val="1B2A3A"/>
                </a:solidFill>
                <a:latin typeface="Calibri"/>
              </a:rPr>
              <a:t>Does a server correctly </a:t>
            </a:r>
            <a:r>
              <a:rPr sz="2000" b="1" i="0" dirty="0">
                <a:solidFill>
                  <a:srgbClr val="12233F"/>
                </a:solidFill>
                <a:latin typeface="Calibri"/>
              </a:rPr>
              <a:t>advertise and enforce</a:t>
            </a:r>
            <a:r>
              <a:rPr sz="2000" b="0" i="0" dirty="0">
                <a:solidFill>
                  <a:srgbClr val="1B2A3A"/>
                </a:solidFill>
                <a:latin typeface="Calibri"/>
              </a:rPr>
              <a:t> its login, seen by a caller </a:t>
            </a:r>
            <a:r>
              <a:rPr lang="en-US" sz="2000" b="0" i="0" dirty="0">
                <a:solidFill>
                  <a:srgbClr val="1B2A3A"/>
                </a:solidFill>
                <a:latin typeface="Calibri"/>
              </a:rPr>
              <a:t>holding </a:t>
            </a:r>
            <a:br>
              <a:rPr lang="en-US" sz="2000" b="0" i="0" dirty="0">
                <a:solidFill>
                  <a:srgbClr val="1B2A3A"/>
                </a:solidFill>
                <a:latin typeface="Calibri"/>
              </a:rPr>
            </a:br>
            <a:r>
              <a:rPr sz="2000" b="0" i="0" dirty="0">
                <a:solidFill>
                  <a:srgbClr val="1B2A3A"/>
                </a:solidFill>
                <a:latin typeface="Calibri"/>
              </a:rPr>
              <a:t>no credentials?</a:t>
            </a:r>
          </a:p>
        </p:txBody>
      </p:sp>
      <p:sp>
        <p:nvSpPr>
          <p:cNvPr id="8" name="TextBox 7"/>
          <p:cNvSpPr txBox="1"/>
          <p:nvPr/>
        </p:nvSpPr>
        <p:spPr>
          <a:xfrm>
            <a:off x="548640" y="4526280"/>
            <a:ext cx="11091672" cy="600549"/>
          </a:xfrm>
          <a:prstGeom prst="rect">
            <a:avLst/>
          </a:prstGeom>
          <a:noFill/>
        </p:spPr>
        <p:txBody>
          <a:bodyPr wrap="square" lIns="0" tIns="0" rIns="0" bIns="0" anchor="t">
            <a:spAutoFit/>
          </a:bodyPr>
          <a:lstStyle/>
          <a:p>
            <a:pPr algn="l">
              <a:lnSpc>
                <a:spcPct val="103000"/>
              </a:lnSpc>
              <a:spcAft>
                <a:spcPts val="800"/>
              </a:spcAft>
            </a:pPr>
            <a:r>
              <a:rPr sz="1600" b="0" i="0" dirty="0">
                <a:solidFill>
                  <a:srgbClr val="1B2A3A"/>
                </a:solidFill>
                <a:latin typeface="Calibri"/>
              </a:rPr>
              <a:t>•  It needs no login, so it is testable today against any public server.</a:t>
            </a:r>
          </a:p>
          <a:p>
            <a:pPr algn="l">
              <a:lnSpc>
                <a:spcPct val="103000"/>
              </a:lnSpc>
              <a:spcAft>
                <a:spcPts val="0"/>
              </a:spcAft>
            </a:pPr>
            <a:r>
              <a:rPr sz="1600" b="0" i="0" dirty="0">
                <a:solidFill>
                  <a:srgbClr val="1B2A3A"/>
                </a:solidFill>
                <a:latin typeface="Calibri"/>
              </a:rPr>
              <a:t>•  It measures whether login is advertised and enforced </a:t>
            </a:r>
            <a:r>
              <a:rPr lang="en-US" sz="1600" b="0" i="0" dirty="0">
                <a:solidFill>
                  <a:srgbClr val="1B2A3A"/>
                </a:solidFill>
                <a:latin typeface="Calibri"/>
              </a:rPr>
              <a:t>-</a:t>
            </a:r>
            <a:r>
              <a:rPr sz="1600" b="0" i="0" dirty="0">
                <a:solidFill>
                  <a:srgbClr val="1B2A3A"/>
                </a:solidFill>
                <a:latin typeface="Calibri"/>
              </a:rPr>
              <a:t> not whether it is sound.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430887"/>
          </a:xfrm>
          <a:prstGeom prst="rect">
            <a:avLst/>
          </a:prstGeom>
          <a:noFill/>
        </p:spPr>
        <p:txBody>
          <a:bodyPr wrap="square" lIns="0" tIns="0" rIns="0" bIns="0" anchor="t">
            <a:spAutoFit/>
          </a:bodyPr>
          <a:lstStyle/>
          <a:p>
            <a:pPr algn="l"/>
            <a:r>
              <a:rPr sz="2800" b="1" i="0" dirty="0">
                <a:solidFill>
                  <a:srgbClr val="12233F"/>
                </a:solidFill>
                <a:latin typeface="Calibri"/>
              </a:rPr>
              <a:t>How login </a:t>
            </a:r>
            <a:r>
              <a:rPr lang="en-US" sz="2800" b="1" i="0" dirty="0">
                <a:solidFill>
                  <a:srgbClr val="12233F"/>
                </a:solidFill>
                <a:latin typeface="Calibri"/>
              </a:rPr>
              <a:t>generally </a:t>
            </a:r>
            <a:r>
              <a:rPr sz="2800" b="1" i="0" dirty="0">
                <a:solidFill>
                  <a:srgbClr val="12233F"/>
                </a:solidFill>
                <a:latin typeface="Calibri"/>
              </a:rPr>
              <a:t>works </a:t>
            </a:r>
            <a:r>
              <a:rPr lang="en-US" sz="2800" b="1" i="0" dirty="0">
                <a:solidFill>
                  <a:srgbClr val="12233F"/>
                </a:solidFill>
                <a:latin typeface="Calibri"/>
              </a:rPr>
              <a:t>-</a:t>
            </a:r>
            <a:r>
              <a:rPr sz="2800" b="1" i="0" dirty="0">
                <a:solidFill>
                  <a:srgbClr val="12233F"/>
                </a:solidFill>
                <a:latin typeface="Calibri"/>
              </a:rPr>
              <a:t> and where the scanner stops</a:t>
            </a:r>
          </a:p>
        </p:txBody>
      </p:sp>
      <p:sp>
        <p:nvSpPr>
          <p:cNvPr id="4" name="Rounded Rectangle 3"/>
          <p:cNvSpPr/>
          <p:nvPr/>
        </p:nvSpPr>
        <p:spPr>
          <a:xfrm>
            <a:off x="548640" y="1783080"/>
            <a:ext cx="6583680" cy="10515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3080"/>
            <a:ext cx="731520" cy="1051560"/>
          </a:xfrm>
          <a:prstGeom prst="rect">
            <a:avLst/>
          </a:prstGeom>
          <a:noFill/>
        </p:spPr>
        <p:txBody>
          <a:bodyPr wrap="square" lIns="0" tIns="0" rIns="0" bIns="0" anchor="ctr">
            <a:spAutoFit/>
          </a:bodyPr>
          <a:lstStyle/>
          <a:p>
            <a:pPr algn="ctr"/>
            <a:r>
              <a:rPr sz="3400" b="1" i="0">
                <a:solidFill>
                  <a:srgbClr val="FFFFFF"/>
                </a:solidFill>
                <a:latin typeface="Calibri"/>
              </a:rPr>
              <a:t>1</a:t>
            </a:r>
          </a:p>
        </p:txBody>
      </p:sp>
      <p:sp>
        <p:nvSpPr>
          <p:cNvPr id="6" name="TextBox 5"/>
          <p:cNvSpPr txBox="1"/>
          <p:nvPr/>
        </p:nvSpPr>
        <p:spPr>
          <a:xfrm>
            <a:off x="1554480" y="1874519"/>
            <a:ext cx="5486400" cy="868680"/>
          </a:xfrm>
          <a:prstGeom prst="rect">
            <a:avLst/>
          </a:prstGeom>
          <a:noFill/>
        </p:spPr>
        <p:txBody>
          <a:bodyPr wrap="square" lIns="0" tIns="0" rIns="0" bIns="0" anchor="ctr">
            <a:spAutoFit/>
          </a:bodyPr>
          <a:lstStyle/>
          <a:p>
            <a:pPr algn="l">
              <a:spcAft>
                <a:spcPts val="300"/>
              </a:spcAft>
            </a:pPr>
            <a:r>
              <a:rPr sz="1500" b="1" i="0" dirty="0">
                <a:solidFill>
                  <a:srgbClr val="FFFFFF"/>
                </a:solidFill>
                <a:latin typeface="Calibri"/>
              </a:rPr>
              <a:t>Ask with no token</a:t>
            </a:r>
          </a:p>
          <a:p>
            <a:pPr algn="l"/>
            <a:r>
              <a:rPr sz="1250" b="0" i="0" dirty="0">
                <a:solidFill>
                  <a:srgbClr val="E6EEF5"/>
                </a:solidFill>
                <a:latin typeface="Calibri"/>
              </a:rPr>
              <a:t>A protected server answers 401 “log in first” and points at its login-info page.</a:t>
            </a:r>
          </a:p>
        </p:txBody>
      </p:sp>
      <p:sp>
        <p:nvSpPr>
          <p:cNvPr id="7" name="Rounded Rectangle 6"/>
          <p:cNvSpPr/>
          <p:nvPr/>
        </p:nvSpPr>
        <p:spPr>
          <a:xfrm>
            <a:off x="548640" y="3017520"/>
            <a:ext cx="6583680" cy="1051560"/>
          </a:xfrm>
          <a:prstGeom prst="roundRect">
            <a:avLst>
              <a:gd name="adj" fmla="val 6000"/>
            </a:avLst>
          </a:prstGeom>
          <a:solidFill>
            <a:srgbClr val="13405A"/>
          </a:solidFill>
          <a:ln w="12700">
            <a:solidFill>
              <a:srgbClr val="134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017520"/>
            <a:ext cx="731520" cy="1051560"/>
          </a:xfrm>
          <a:prstGeom prst="rect">
            <a:avLst/>
          </a:prstGeom>
          <a:noFill/>
        </p:spPr>
        <p:txBody>
          <a:bodyPr wrap="square" lIns="0" tIns="0" rIns="0" bIns="0" anchor="ctr">
            <a:spAutoFit/>
          </a:bodyPr>
          <a:lstStyle/>
          <a:p>
            <a:pPr algn="ctr"/>
            <a:r>
              <a:rPr sz="3400" b="1" i="0">
                <a:solidFill>
                  <a:srgbClr val="FFFFFF"/>
                </a:solidFill>
                <a:latin typeface="Calibri"/>
              </a:rPr>
              <a:t>2</a:t>
            </a:r>
          </a:p>
        </p:txBody>
      </p:sp>
      <p:sp>
        <p:nvSpPr>
          <p:cNvPr id="9" name="TextBox 8"/>
          <p:cNvSpPr txBox="1"/>
          <p:nvPr/>
        </p:nvSpPr>
        <p:spPr>
          <a:xfrm>
            <a:off x="1554480" y="3108960"/>
            <a:ext cx="5486400" cy="868680"/>
          </a:xfrm>
          <a:prstGeom prst="rect">
            <a:avLst/>
          </a:prstGeom>
          <a:noFill/>
        </p:spPr>
        <p:txBody>
          <a:bodyPr wrap="square" lIns="0" tIns="0" rIns="0" bIns="0" anchor="ctr">
            <a:spAutoFit/>
          </a:bodyPr>
          <a:lstStyle/>
          <a:p>
            <a:pPr algn="l">
              <a:spcAft>
                <a:spcPts val="300"/>
              </a:spcAft>
            </a:pPr>
            <a:r>
              <a:rPr sz="1500" b="1" i="0" dirty="0">
                <a:solidFill>
                  <a:srgbClr val="FFFFFF"/>
                </a:solidFill>
                <a:latin typeface="Calibri"/>
              </a:rPr>
              <a:t>Get a token</a:t>
            </a:r>
          </a:p>
          <a:p>
            <a:pPr algn="l"/>
            <a:r>
              <a:rPr sz="1250" b="0" i="0" dirty="0">
                <a:solidFill>
                  <a:srgbClr val="E6EEF5"/>
                </a:solidFill>
                <a:latin typeface="Calibri"/>
              </a:rPr>
              <a:t>Read the public login pages, send the user to log in, receive a token.</a:t>
            </a:r>
          </a:p>
        </p:txBody>
      </p:sp>
      <p:sp>
        <p:nvSpPr>
          <p:cNvPr id="10" name="Rounded Rectangle 9"/>
          <p:cNvSpPr/>
          <p:nvPr/>
        </p:nvSpPr>
        <p:spPr>
          <a:xfrm>
            <a:off x="548640" y="4251960"/>
            <a:ext cx="658368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251960"/>
            <a:ext cx="731520" cy="1051560"/>
          </a:xfrm>
          <a:prstGeom prst="rect">
            <a:avLst/>
          </a:prstGeom>
          <a:noFill/>
        </p:spPr>
        <p:txBody>
          <a:bodyPr wrap="square" lIns="0" tIns="0" rIns="0" bIns="0" anchor="ctr">
            <a:spAutoFit/>
          </a:bodyPr>
          <a:lstStyle/>
          <a:p>
            <a:pPr algn="ctr"/>
            <a:r>
              <a:rPr sz="3400" b="1" i="0">
                <a:solidFill>
                  <a:srgbClr val="5C6B7A"/>
                </a:solidFill>
                <a:latin typeface="Calibri"/>
              </a:rPr>
              <a:t>3</a:t>
            </a:r>
          </a:p>
        </p:txBody>
      </p:sp>
      <p:sp>
        <p:nvSpPr>
          <p:cNvPr id="12" name="TextBox 11"/>
          <p:cNvSpPr txBox="1"/>
          <p:nvPr/>
        </p:nvSpPr>
        <p:spPr>
          <a:xfrm>
            <a:off x="1554480" y="4343400"/>
            <a:ext cx="5486400" cy="868680"/>
          </a:xfrm>
          <a:prstGeom prst="rect">
            <a:avLst/>
          </a:prstGeom>
          <a:noFill/>
        </p:spPr>
        <p:txBody>
          <a:bodyPr wrap="square" lIns="0" tIns="0" rIns="0" bIns="0" anchor="ctr">
            <a:spAutoFit/>
          </a:bodyPr>
          <a:lstStyle/>
          <a:p>
            <a:pPr algn="l">
              <a:spcAft>
                <a:spcPts val="300"/>
              </a:spcAft>
            </a:pPr>
            <a:r>
              <a:rPr sz="1500" b="1" i="0">
                <a:solidFill>
                  <a:srgbClr val="5C6B7A"/>
                </a:solidFill>
                <a:latin typeface="Calibri"/>
              </a:rPr>
              <a:t>Ask again, now with the token</a:t>
            </a:r>
          </a:p>
          <a:p>
            <a:pPr algn="l"/>
            <a:r>
              <a:rPr sz="1250" b="0" i="0">
                <a:solidFill>
                  <a:srgbClr val="5C6B7A"/>
                </a:solidFill>
                <a:latin typeface="Calibri"/>
              </a:rPr>
              <a:t>Only now does the conversation actually open.</a:t>
            </a:r>
          </a:p>
        </p:txBody>
      </p:sp>
      <p:sp>
        <p:nvSpPr>
          <p:cNvPr id="13" name="Rounded Rectangle 12"/>
          <p:cNvSpPr/>
          <p:nvPr/>
        </p:nvSpPr>
        <p:spPr>
          <a:xfrm>
            <a:off x="7498079" y="1783080"/>
            <a:ext cx="4160520" cy="416052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2839919"/>
            <a:ext cx="3657600" cy="2092561"/>
          </a:xfrm>
          <a:prstGeom prst="rect">
            <a:avLst/>
          </a:prstGeom>
          <a:noFill/>
        </p:spPr>
        <p:txBody>
          <a:bodyPr wrap="square" lIns="0" tIns="0" rIns="0" bIns="0" anchor="ctr">
            <a:spAutoFit/>
          </a:bodyPr>
          <a:lstStyle/>
          <a:p>
            <a:pPr algn="l">
              <a:lnSpc>
                <a:spcPct val="106000"/>
              </a:lnSpc>
              <a:spcAft>
                <a:spcPts val="200"/>
              </a:spcAft>
            </a:pPr>
            <a:r>
              <a:rPr sz="2000" b="1" i="0" dirty="0">
                <a:solidFill>
                  <a:srgbClr val="FFFFFF"/>
                </a:solidFill>
                <a:latin typeface="Calibri"/>
              </a:rPr>
              <a:t>We do step 1,</a:t>
            </a:r>
          </a:p>
          <a:p>
            <a:pPr algn="l">
              <a:lnSpc>
                <a:spcPct val="106000"/>
              </a:lnSpc>
              <a:spcAft>
                <a:spcPts val="1200"/>
              </a:spcAft>
            </a:pPr>
            <a:r>
              <a:rPr sz="2000" b="1" i="0" dirty="0">
                <a:solidFill>
                  <a:srgbClr val="02C39A"/>
                </a:solidFill>
                <a:latin typeface="Calibri"/>
              </a:rPr>
              <a:t>plus the reading half of step 2.</a:t>
            </a:r>
          </a:p>
          <a:p>
            <a:pPr algn="l">
              <a:lnSpc>
                <a:spcPct val="106000"/>
              </a:lnSpc>
              <a:spcAft>
                <a:spcPts val="1000"/>
              </a:spcAft>
            </a:pPr>
            <a:r>
              <a:rPr sz="1400" b="0" i="0" dirty="0">
                <a:solidFill>
                  <a:srgbClr val="CADCFC"/>
                </a:solidFill>
                <a:latin typeface="Calibri"/>
              </a:rPr>
              <a:t>The login pages are public and need no token </a:t>
            </a:r>
            <a:r>
              <a:rPr lang="en-US" sz="1400" b="0" i="0" dirty="0">
                <a:solidFill>
                  <a:srgbClr val="CADCFC"/>
                </a:solidFill>
                <a:latin typeface="Calibri"/>
              </a:rPr>
              <a:t>-</a:t>
            </a:r>
            <a:r>
              <a:rPr sz="1400" b="0" i="0" dirty="0">
                <a:solidFill>
                  <a:srgbClr val="CADCFC"/>
                </a:solidFill>
                <a:latin typeface="Calibri"/>
              </a:rPr>
              <a:t> that is what makes half the checks possible.</a:t>
            </a:r>
          </a:p>
          <a:p>
            <a:pPr algn="l">
              <a:lnSpc>
                <a:spcPct val="106000"/>
              </a:lnSpc>
            </a:pPr>
            <a:r>
              <a:rPr sz="1400" b="0" i="0" dirty="0">
                <a:solidFill>
                  <a:srgbClr val="CADCFC"/>
                </a:solidFill>
                <a:latin typeface="Calibri"/>
              </a:rPr>
              <a:t>We never obtain a token and never reach step 3. So every verdict describes what a server does for a caller holding nothing.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One scan, start to finish</a:t>
            </a:r>
          </a:p>
        </p:txBody>
      </p:sp>
      <p:sp>
        <p:nvSpPr>
          <p:cNvPr id="4" name="Rounded Rectangle 3"/>
          <p:cNvSpPr/>
          <p:nvPr/>
        </p:nvSpPr>
        <p:spPr>
          <a:xfrm>
            <a:off x="548640"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Validate
the target</a:t>
            </a:r>
          </a:p>
        </p:txBody>
      </p:sp>
      <p:sp>
        <p:nvSpPr>
          <p:cNvPr id="6" name="Right Arrow 5"/>
          <p:cNvSpPr/>
          <p:nvPr/>
        </p:nvSpPr>
        <p:spPr>
          <a:xfrm>
            <a:off x="2532888"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807208"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07208"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Handshake
(once)</a:t>
            </a:r>
          </a:p>
        </p:txBody>
      </p:sp>
      <p:sp>
        <p:nvSpPr>
          <p:cNvPr id="9" name="Right Arrow 8"/>
          <p:cNvSpPr/>
          <p:nvPr/>
        </p:nvSpPr>
        <p:spPr>
          <a:xfrm>
            <a:off x="4791455"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65775"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65775"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Find the login
pages (once)</a:t>
            </a:r>
          </a:p>
        </p:txBody>
      </p:sp>
      <p:sp>
        <p:nvSpPr>
          <p:cNvPr id="12" name="Right Arrow 11"/>
          <p:cNvSpPr/>
          <p:nvPr/>
        </p:nvSpPr>
        <p:spPr>
          <a:xfrm>
            <a:off x="7050023"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24344" y="2011680"/>
            <a:ext cx="1965960" cy="1051560"/>
          </a:xfrm>
          <a:prstGeom prst="roundRect">
            <a:avLst>
              <a:gd name="adj" fmla="val 6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24344" y="2011680"/>
            <a:ext cx="1965960" cy="1051560"/>
          </a:xfrm>
          <a:prstGeom prst="rect">
            <a:avLst/>
          </a:prstGeom>
          <a:noFill/>
        </p:spPr>
        <p:txBody>
          <a:bodyPr wrap="square" lIns="0" tIns="0" rIns="0" bIns="0" anchor="ctr">
            <a:spAutoFit/>
          </a:bodyPr>
          <a:lstStyle/>
          <a:p>
            <a:pPr algn="ctr"/>
            <a:r>
              <a:rPr sz="1300" b="1" i="0">
                <a:solidFill>
                  <a:srgbClr val="FFFFFF"/>
                </a:solidFill>
                <a:latin typeface="Calibri"/>
              </a:rPr>
              <a:t>Run all checks
concurrently</a:t>
            </a:r>
          </a:p>
        </p:txBody>
      </p:sp>
      <p:sp>
        <p:nvSpPr>
          <p:cNvPr id="15" name="Right Arrow 14"/>
          <p:cNvSpPr/>
          <p:nvPr/>
        </p:nvSpPr>
        <p:spPr>
          <a:xfrm>
            <a:off x="9308592" y="2441448"/>
            <a:ext cx="256032"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582911" y="2011680"/>
            <a:ext cx="1965960" cy="10515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911" y="2011680"/>
            <a:ext cx="1965960" cy="1051560"/>
          </a:xfrm>
          <a:prstGeom prst="rect">
            <a:avLst/>
          </a:prstGeom>
          <a:noFill/>
        </p:spPr>
        <p:txBody>
          <a:bodyPr wrap="square" lIns="0" tIns="0" rIns="0" bIns="0" anchor="ctr">
            <a:spAutoFit/>
          </a:bodyPr>
          <a:lstStyle/>
          <a:p>
            <a:pPr algn="ctr"/>
            <a:r>
              <a:rPr sz="1300" b="1" i="0">
                <a:solidFill>
                  <a:srgbClr val="12233F"/>
                </a:solidFill>
                <a:latin typeface="Calibri"/>
              </a:rPr>
              <a:t>Release +
build report</a:t>
            </a:r>
          </a:p>
        </p:txBody>
      </p:sp>
      <p:sp>
        <p:nvSpPr>
          <p:cNvPr id="18" name="TextBox 17"/>
          <p:cNvSpPr txBox="1"/>
          <p:nvPr/>
        </p:nvSpPr>
        <p:spPr>
          <a:xfrm>
            <a:off x="548640" y="3566160"/>
            <a:ext cx="11091672" cy="1436612"/>
          </a:xfrm>
          <a:prstGeom prst="rect">
            <a:avLst/>
          </a:prstGeom>
          <a:noFill/>
        </p:spPr>
        <p:txBody>
          <a:bodyPr wrap="square" lIns="0" tIns="0" rIns="0" bIns="0" anchor="t">
            <a:spAutoFit/>
          </a:bodyPr>
          <a:lstStyle/>
          <a:p>
            <a:pPr algn="l">
              <a:lnSpc>
                <a:spcPct val="103000"/>
              </a:lnSpc>
              <a:spcAft>
                <a:spcPts val="1000"/>
              </a:spcAft>
            </a:pPr>
            <a:r>
              <a:rPr sz="1500" b="0" i="0" dirty="0">
                <a:solidFill>
                  <a:srgbClr val="1B2A3A"/>
                </a:solidFill>
                <a:latin typeface="Calibri"/>
              </a:rPr>
              <a:t>•  Handshake: the opening MCP exchange. The server may hand back a session id </a:t>
            </a:r>
            <a:r>
              <a:rPr lang="en-US" sz="1500" b="0" i="0" dirty="0">
                <a:solidFill>
                  <a:srgbClr val="1B2A3A"/>
                </a:solidFill>
                <a:latin typeface="Calibri"/>
              </a:rPr>
              <a:t>-</a:t>
            </a:r>
            <a:r>
              <a:rPr sz="1500" b="0" i="0" dirty="0">
                <a:solidFill>
                  <a:srgbClr val="1B2A3A"/>
                </a:solidFill>
                <a:latin typeface="Calibri"/>
              </a:rPr>
              <a:t> a temporary “same conversation” label, not a password. We replay it so a server that merely wants one is not mistaken for secured.</a:t>
            </a:r>
          </a:p>
          <a:p>
            <a:pPr algn="l">
              <a:lnSpc>
                <a:spcPct val="103000"/>
              </a:lnSpc>
              <a:spcAft>
                <a:spcPts val="1000"/>
              </a:spcAft>
            </a:pPr>
            <a:r>
              <a:rPr sz="1500" b="0" i="0" dirty="0">
                <a:solidFill>
                  <a:srgbClr val="1B2A3A"/>
                </a:solidFill>
                <a:latin typeface="Calibri"/>
              </a:rPr>
              <a:t>•  Find the login pages: two public pages </a:t>
            </a:r>
            <a:r>
              <a:rPr lang="en-US" sz="1500" b="0" i="0" dirty="0">
                <a:solidFill>
                  <a:srgbClr val="1B2A3A"/>
                </a:solidFill>
                <a:latin typeface="Calibri"/>
              </a:rPr>
              <a:t>-</a:t>
            </a:r>
            <a:r>
              <a:rPr sz="1500" b="0" i="0" dirty="0">
                <a:solidFill>
                  <a:srgbClr val="1B2A3A"/>
                </a:solidFill>
                <a:latin typeface="Calibri"/>
              </a:rPr>
              <a:t> where to log in, and the login server's own description. Two, because the MCP server and login server are often different companies. Fetched once and shared by every check that needs them.</a:t>
            </a:r>
          </a:p>
          <a:p>
            <a:pPr algn="l">
              <a:lnSpc>
                <a:spcPct val="103000"/>
              </a:lnSpc>
              <a:spcAft>
                <a:spcPts val="0"/>
              </a:spcAft>
            </a:pPr>
            <a:r>
              <a:rPr sz="1500" b="0" i="0" dirty="0">
                <a:solidFill>
                  <a:srgbClr val="1B2A3A"/>
                </a:solidFill>
                <a:latin typeface="Calibri"/>
              </a:rPr>
              <a:t>•  Checks run concurrently; none reads another's answer, so order never changes a result.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430887"/>
          </a:xfrm>
          <a:prstGeom prst="rect">
            <a:avLst/>
          </a:prstGeom>
          <a:noFill/>
        </p:spPr>
        <p:txBody>
          <a:bodyPr wrap="square" lIns="0" tIns="0" rIns="0" bIns="0" anchor="t">
            <a:spAutoFit/>
          </a:bodyPr>
          <a:lstStyle/>
          <a:p>
            <a:pPr algn="l"/>
            <a:r>
              <a:rPr sz="2800" b="1" i="0" dirty="0">
                <a:solidFill>
                  <a:srgbClr val="12233F"/>
                </a:solidFill>
                <a:latin typeface="Calibri"/>
              </a:rPr>
              <a:t>Five possible answers </a:t>
            </a:r>
            <a:r>
              <a:rPr lang="en-US" sz="2800" b="1" i="0" dirty="0">
                <a:solidFill>
                  <a:srgbClr val="12233F"/>
                </a:solidFill>
                <a:latin typeface="Calibri"/>
              </a:rPr>
              <a:t>-</a:t>
            </a:r>
            <a:r>
              <a:rPr sz="2800" b="1" i="0" dirty="0">
                <a:solidFill>
                  <a:srgbClr val="12233F"/>
                </a:solidFill>
                <a:latin typeface="Calibri"/>
              </a:rPr>
              <a:t> including an honest “I don't know”</a:t>
            </a:r>
          </a:p>
        </p:txBody>
      </p:sp>
      <p:sp>
        <p:nvSpPr>
          <p:cNvPr id="4" name="Rounded Rectangle 3"/>
          <p:cNvSpPr/>
          <p:nvPr/>
        </p:nvSpPr>
        <p:spPr>
          <a:xfrm>
            <a:off x="548640" y="1874519"/>
            <a:ext cx="2468880" cy="566928"/>
          </a:xfrm>
          <a:prstGeom prst="roundRect">
            <a:avLst>
              <a:gd name="adj" fmla="val 6000"/>
            </a:avLst>
          </a:prstGeom>
          <a:solidFill>
            <a:srgbClr val="FFFFFF"/>
          </a:solidFill>
          <a:ln w="1905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74519"/>
            <a:ext cx="2468880" cy="566928"/>
          </a:xfrm>
          <a:prstGeom prst="rect">
            <a:avLst/>
          </a:prstGeom>
          <a:noFill/>
        </p:spPr>
        <p:txBody>
          <a:bodyPr wrap="square" lIns="0" tIns="0" rIns="0" bIns="0" anchor="ctr">
            <a:spAutoFit/>
          </a:bodyPr>
          <a:lstStyle/>
          <a:p>
            <a:pPr algn="ctr"/>
            <a:r>
              <a:rPr sz="1300" b="1" i="0">
                <a:solidFill>
                  <a:srgbClr val="B23A3A"/>
                </a:solidFill>
                <a:latin typeface="Courier New"/>
              </a:rPr>
              <a:t>HAS_GAP</a:t>
            </a:r>
          </a:p>
        </p:txBody>
      </p:sp>
      <p:sp>
        <p:nvSpPr>
          <p:cNvPr id="6" name="TextBox 5"/>
          <p:cNvSpPr txBox="1"/>
          <p:nvPr/>
        </p:nvSpPr>
        <p:spPr>
          <a:xfrm>
            <a:off x="3246120" y="1874519"/>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weakness is really there</a:t>
            </a:r>
          </a:p>
        </p:txBody>
      </p:sp>
      <p:sp>
        <p:nvSpPr>
          <p:cNvPr id="7" name="Rounded Rectangle 6"/>
          <p:cNvSpPr/>
          <p:nvPr/>
        </p:nvSpPr>
        <p:spPr>
          <a:xfrm>
            <a:off x="548640" y="2587752"/>
            <a:ext cx="2468880" cy="566928"/>
          </a:xfrm>
          <a:prstGeom prst="roundRect">
            <a:avLst>
              <a:gd name="adj" fmla="val 6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587752"/>
            <a:ext cx="2468880" cy="566928"/>
          </a:xfrm>
          <a:prstGeom prst="rect">
            <a:avLst/>
          </a:prstGeom>
          <a:noFill/>
        </p:spPr>
        <p:txBody>
          <a:bodyPr wrap="square" lIns="0" tIns="0" rIns="0" bIns="0" anchor="ctr">
            <a:spAutoFit/>
          </a:bodyPr>
          <a:lstStyle/>
          <a:p>
            <a:pPr algn="ctr"/>
            <a:r>
              <a:rPr sz="1300" b="1" i="0">
                <a:solidFill>
                  <a:srgbClr val="2E7D32"/>
                </a:solidFill>
                <a:latin typeface="Courier New"/>
              </a:rPr>
              <a:t>NO_GAP</a:t>
            </a:r>
          </a:p>
        </p:txBody>
      </p:sp>
      <p:sp>
        <p:nvSpPr>
          <p:cNvPr id="9" name="TextBox 8"/>
          <p:cNvSpPr txBox="1"/>
          <p:nvPr/>
        </p:nvSpPr>
        <p:spPr>
          <a:xfrm>
            <a:off x="3246120" y="2587752"/>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server handles it correctly</a:t>
            </a:r>
          </a:p>
        </p:txBody>
      </p:sp>
      <p:sp>
        <p:nvSpPr>
          <p:cNvPr id="10" name="Rounded Rectangle 9"/>
          <p:cNvSpPr/>
          <p:nvPr/>
        </p:nvSpPr>
        <p:spPr>
          <a:xfrm>
            <a:off x="548640" y="3300984"/>
            <a:ext cx="2468880" cy="566928"/>
          </a:xfrm>
          <a:prstGeom prst="roundRect">
            <a:avLst>
              <a:gd name="adj" fmla="val 6000"/>
            </a:avLst>
          </a:prstGeom>
          <a:solidFill>
            <a:srgbClr val="FFFFFF"/>
          </a:solidFill>
          <a:ln w="1905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300984"/>
            <a:ext cx="2468880" cy="566928"/>
          </a:xfrm>
          <a:prstGeom prst="rect">
            <a:avLst/>
          </a:prstGeom>
          <a:noFill/>
        </p:spPr>
        <p:txBody>
          <a:bodyPr wrap="square" lIns="0" tIns="0" rIns="0" bIns="0" anchor="ctr">
            <a:spAutoFit/>
          </a:bodyPr>
          <a:lstStyle/>
          <a:p>
            <a:pPr algn="ctr"/>
            <a:r>
              <a:rPr sz="1300" b="1" i="0">
                <a:solidFill>
                  <a:srgbClr val="5C6B7A"/>
                </a:solidFill>
                <a:latin typeface="Courier New"/>
              </a:rPr>
              <a:t>NOT_APPLICABLE</a:t>
            </a:r>
          </a:p>
        </p:txBody>
      </p:sp>
      <p:sp>
        <p:nvSpPr>
          <p:cNvPr id="12" name="TextBox 11"/>
          <p:cNvSpPr txBox="1"/>
          <p:nvPr/>
        </p:nvSpPr>
        <p:spPr>
          <a:xfrm>
            <a:off x="3246120" y="3300984"/>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check cannot apply here</a:t>
            </a:r>
          </a:p>
        </p:txBody>
      </p:sp>
      <p:sp>
        <p:nvSpPr>
          <p:cNvPr id="13" name="Rounded Rectangle 12"/>
          <p:cNvSpPr/>
          <p:nvPr/>
        </p:nvSpPr>
        <p:spPr>
          <a:xfrm>
            <a:off x="548640" y="4014216"/>
            <a:ext cx="2468880" cy="566928"/>
          </a:xfrm>
          <a:prstGeom prst="roundRect">
            <a:avLst>
              <a:gd name="adj" fmla="val 6000"/>
            </a:avLst>
          </a:prstGeom>
          <a:solidFill>
            <a:srgbClr val="FFFFFF"/>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014216"/>
            <a:ext cx="2468880" cy="566928"/>
          </a:xfrm>
          <a:prstGeom prst="rect">
            <a:avLst/>
          </a:prstGeom>
          <a:noFill/>
        </p:spPr>
        <p:txBody>
          <a:bodyPr wrap="square" lIns="0" tIns="0" rIns="0" bIns="0" anchor="ctr">
            <a:spAutoFit/>
          </a:bodyPr>
          <a:lstStyle/>
          <a:p>
            <a:pPr algn="ctr"/>
            <a:r>
              <a:rPr sz="1300" b="1" i="0">
                <a:solidFill>
                  <a:srgbClr val="B4740A"/>
                </a:solidFill>
                <a:latin typeface="Courier New"/>
              </a:rPr>
              <a:t>INCONCLUSIVE</a:t>
            </a:r>
          </a:p>
        </p:txBody>
      </p:sp>
      <p:sp>
        <p:nvSpPr>
          <p:cNvPr id="15" name="TextBox 14"/>
          <p:cNvSpPr txBox="1"/>
          <p:nvPr/>
        </p:nvSpPr>
        <p:spPr>
          <a:xfrm>
            <a:off x="3246120" y="4014216"/>
            <a:ext cx="3931920" cy="566928"/>
          </a:xfrm>
          <a:prstGeom prst="rect">
            <a:avLst/>
          </a:prstGeom>
          <a:noFill/>
        </p:spPr>
        <p:txBody>
          <a:bodyPr wrap="square" lIns="0" tIns="0" rIns="0" bIns="0" anchor="ctr">
            <a:spAutoFit/>
          </a:bodyPr>
          <a:lstStyle/>
          <a:p>
            <a:pPr algn="l"/>
            <a:r>
              <a:rPr sz="1400" b="0" i="0">
                <a:solidFill>
                  <a:srgbClr val="1B2A3A"/>
                </a:solidFill>
                <a:latin typeface="Calibri"/>
              </a:rPr>
              <a:t>we tried; the reply didn't let us decide</a:t>
            </a:r>
          </a:p>
        </p:txBody>
      </p:sp>
      <p:sp>
        <p:nvSpPr>
          <p:cNvPr id="16" name="Rounded Rectangle 15"/>
          <p:cNvSpPr/>
          <p:nvPr/>
        </p:nvSpPr>
        <p:spPr>
          <a:xfrm>
            <a:off x="548640" y="4727448"/>
            <a:ext cx="2468880" cy="566928"/>
          </a:xfrm>
          <a:prstGeom prst="roundRect">
            <a:avLst>
              <a:gd name="adj" fmla="val 6000"/>
            </a:avLst>
          </a:prstGeom>
          <a:solidFill>
            <a:srgbClr val="FFFFFF"/>
          </a:solidFill>
          <a:ln w="1905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727448"/>
            <a:ext cx="2468880" cy="566928"/>
          </a:xfrm>
          <a:prstGeom prst="rect">
            <a:avLst/>
          </a:prstGeom>
          <a:noFill/>
        </p:spPr>
        <p:txBody>
          <a:bodyPr wrap="square" lIns="0" tIns="0" rIns="0" bIns="0" anchor="ctr">
            <a:spAutoFit/>
          </a:bodyPr>
          <a:lstStyle/>
          <a:p>
            <a:pPr algn="ctr"/>
            <a:r>
              <a:rPr sz="1300" b="1" i="0">
                <a:solidFill>
                  <a:srgbClr val="5C6B7A"/>
                </a:solidFill>
                <a:latin typeface="Courier New"/>
              </a:rPr>
              <a:t>ERROR</a:t>
            </a:r>
          </a:p>
        </p:txBody>
      </p:sp>
      <p:sp>
        <p:nvSpPr>
          <p:cNvPr id="18" name="TextBox 17"/>
          <p:cNvSpPr txBox="1"/>
          <p:nvPr/>
        </p:nvSpPr>
        <p:spPr>
          <a:xfrm>
            <a:off x="3246120" y="4727448"/>
            <a:ext cx="3931920" cy="566928"/>
          </a:xfrm>
          <a:prstGeom prst="rect">
            <a:avLst/>
          </a:prstGeom>
          <a:noFill/>
        </p:spPr>
        <p:txBody>
          <a:bodyPr wrap="square" lIns="0" tIns="0" rIns="0" bIns="0" anchor="ctr">
            <a:spAutoFit/>
          </a:bodyPr>
          <a:lstStyle/>
          <a:p>
            <a:pPr algn="l"/>
            <a:r>
              <a:rPr sz="1400" b="0" i="0">
                <a:solidFill>
                  <a:srgbClr val="1B2A3A"/>
                </a:solidFill>
                <a:latin typeface="Calibri"/>
              </a:rPr>
              <a:t>the check itself could not run</a:t>
            </a:r>
          </a:p>
        </p:txBody>
      </p:sp>
      <p:sp>
        <p:nvSpPr>
          <p:cNvPr id="19" name="Rounded Rectangle 18"/>
          <p:cNvSpPr/>
          <p:nvPr/>
        </p:nvSpPr>
        <p:spPr>
          <a:xfrm>
            <a:off x="7452360" y="1874519"/>
            <a:ext cx="4206240" cy="356616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79" y="2103120"/>
            <a:ext cx="3703320" cy="3200400"/>
          </a:xfrm>
          <a:prstGeom prst="rect">
            <a:avLst/>
          </a:prstGeom>
          <a:noFill/>
        </p:spPr>
        <p:txBody>
          <a:bodyPr wrap="square" lIns="0" tIns="0" rIns="0" bIns="0" anchor="t">
            <a:spAutoFit/>
          </a:bodyPr>
          <a:lstStyle/>
          <a:p>
            <a:pPr algn="l">
              <a:lnSpc>
                <a:spcPct val="105000"/>
              </a:lnSpc>
              <a:spcAft>
                <a:spcPts val="1000"/>
              </a:spcAft>
            </a:pPr>
            <a:r>
              <a:rPr sz="1700" b="1" i="0">
                <a:solidFill>
                  <a:srgbClr val="12233F"/>
                </a:solidFill>
                <a:latin typeface="Calibri"/>
              </a:rPr>
              <a:t>INCONCLUSIVE is a real result.</a:t>
            </a:r>
          </a:p>
          <a:p>
            <a:pPr algn="l">
              <a:lnSpc>
                <a:spcPct val="105000"/>
              </a:lnSpc>
              <a:spcAft>
                <a:spcPts val="1000"/>
              </a:spcAft>
            </a:pPr>
            <a:r>
              <a:rPr sz="1400" b="0" i="0">
                <a:solidFill>
                  <a:srgbClr val="1B2A3A"/>
                </a:solidFill>
                <a:latin typeface="Calibri"/>
              </a:rPr>
              <a:t>A tool that only ever says “vulnerable” or “fine” hides its own uncertainty.</a:t>
            </a:r>
          </a:p>
          <a:p>
            <a:pPr algn="l">
              <a:lnSpc>
                <a:spcPct val="105000"/>
              </a:lnSpc>
            </a:pPr>
            <a:r>
              <a:rPr sz="1400" b="0" i="0">
                <a:solidFill>
                  <a:srgbClr val="1B2A3A"/>
                </a:solidFill>
                <a:latin typeface="Calibri"/>
              </a:rPr>
              <a:t>Example: a firewall's blanket “403 forbidden” once looked like “login enforced”, so a blocked scan was graded secure. An unconfirmable refusal is now INCONCLUSIVE instead.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METHOD</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Every answer carries its evidence</a:t>
            </a:r>
          </a:p>
        </p:txBody>
      </p:sp>
      <p:sp>
        <p:nvSpPr>
          <p:cNvPr id="4" name="TextBox 3"/>
          <p:cNvSpPr txBox="1"/>
          <p:nvPr/>
        </p:nvSpPr>
        <p:spPr>
          <a:xfrm>
            <a:off x="548640" y="1737360"/>
            <a:ext cx="5943600" cy="1668918"/>
          </a:xfrm>
          <a:prstGeom prst="rect">
            <a:avLst/>
          </a:prstGeom>
          <a:noFill/>
        </p:spPr>
        <p:txBody>
          <a:bodyPr wrap="square" lIns="0" tIns="0" rIns="0" bIns="0" anchor="t">
            <a:spAutoFit/>
          </a:bodyPr>
          <a:lstStyle/>
          <a:p>
            <a:pPr algn="l">
              <a:lnSpc>
                <a:spcPct val="105000"/>
              </a:lnSpc>
              <a:spcAft>
                <a:spcPts val="1000"/>
              </a:spcAft>
            </a:pPr>
            <a:r>
              <a:rPr sz="1600" b="0" i="0" dirty="0">
                <a:solidFill>
                  <a:srgbClr val="1B2A3A"/>
                </a:solidFill>
                <a:latin typeface="Calibri"/>
              </a:rPr>
              <a:t>Each finding records the exact request we sent and the reply we got </a:t>
            </a:r>
            <a:r>
              <a:rPr lang="en-US" sz="1600" b="0" i="0" dirty="0">
                <a:solidFill>
                  <a:srgbClr val="1B2A3A"/>
                </a:solidFill>
                <a:latin typeface="Calibri"/>
              </a:rPr>
              <a:t>-</a:t>
            </a:r>
            <a:r>
              <a:rPr sz="1600" b="0" i="0" dirty="0">
                <a:solidFill>
                  <a:srgbClr val="1B2A3A"/>
                </a:solidFill>
                <a:latin typeface="Calibri"/>
              </a:rPr>
              <a:t> the URL, the method, which headers we chose (an Authorization header is never present), and the response body.</a:t>
            </a:r>
          </a:p>
          <a:p>
            <a:pPr algn="l">
              <a:lnSpc>
                <a:spcPct val="105000"/>
              </a:lnSpc>
            </a:pPr>
            <a:r>
              <a:rPr sz="1600" b="0" i="0" dirty="0">
                <a:solidFill>
                  <a:srgbClr val="1B2A3A"/>
                </a:solidFill>
                <a:latin typeface="Calibri"/>
              </a:rPr>
              <a:t>A verdict is only trustworthy if the report also shows what was asked. All 83 servers' raw output is committed, so any claim in this talk is re-checkable.</a:t>
            </a:r>
          </a:p>
        </p:txBody>
      </p:sp>
      <p:sp>
        <p:nvSpPr>
          <p:cNvPr id="5" name="Rounded Rectangle 4"/>
          <p:cNvSpPr/>
          <p:nvPr/>
        </p:nvSpPr>
        <p:spPr>
          <a:xfrm>
            <a:off x="6858000" y="1783080"/>
            <a:ext cx="4800600" cy="3749039"/>
          </a:xfrm>
          <a:prstGeom prst="roundRect">
            <a:avLst>
              <a:gd name="adj" fmla="val 6000"/>
            </a:avLst>
          </a:prstGeom>
          <a:solidFill>
            <a:srgbClr val="0E1B2E"/>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2011680"/>
            <a:ext cx="4297680" cy="3383280"/>
          </a:xfrm>
          <a:prstGeom prst="rect">
            <a:avLst/>
          </a:prstGeom>
          <a:noFill/>
        </p:spPr>
        <p:txBody>
          <a:bodyPr wrap="square" lIns="0" tIns="0" rIns="0" bIns="0" anchor="t">
            <a:spAutoFit/>
          </a:bodyPr>
          <a:lstStyle/>
          <a:p>
            <a:pPr algn="l">
              <a:lnSpc>
                <a:spcPct val="115000"/>
              </a:lnSpc>
              <a:spcAft>
                <a:spcPts val="800"/>
              </a:spcAft>
            </a:pPr>
            <a:r>
              <a:rPr sz="1300" b="1" i="0" dirty="0">
                <a:solidFill>
                  <a:srgbClr val="02C39A"/>
                </a:solidFill>
                <a:latin typeface="Courier New"/>
              </a:rPr>
              <a:t>one finding (shape)</a:t>
            </a:r>
          </a:p>
          <a:p>
            <a:pPr algn="l">
              <a:lnSpc>
                <a:spcPct val="115000"/>
              </a:lnSpc>
            </a:pPr>
            <a:r>
              <a:rPr sz="1250" b="0" i="0" dirty="0">
                <a:solidFill>
                  <a:srgbClr val="CADCFC"/>
                </a:solidFill>
                <a:latin typeface="Courier New"/>
              </a:rPr>
              <a:t>gap:      no-authentication-remote</a:t>
            </a:r>
          </a:p>
          <a:p>
            <a:pPr algn="l">
              <a:lnSpc>
                <a:spcPct val="115000"/>
              </a:lnSpc>
            </a:pPr>
            <a:r>
              <a:rPr sz="1250" b="0" i="0" dirty="0">
                <a:solidFill>
                  <a:srgbClr val="8FE3C9"/>
                </a:solidFill>
                <a:latin typeface="Courier New"/>
              </a:rPr>
              <a:t>verdict:  HAS_GAP</a:t>
            </a:r>
          </a:p>
          <a:p>
            <a:pPr algn="l">
              <a:lnSpc>
                <a:spcPct val="115000"/>
              </a:lnSpc>
            </a:pPr>
            <a:r>
              <a:rPr sz="1250" b="0" i="0" dirty="0">
                <a:solidFill>
                  <a:srgbClr val="CADCFC"/>
                </a:solidFill>
                <a:latin typeface="Courier New"/>
              </a:rPr>
              <a:t>severity: medium</a:t>
            </a:r>
          </a:p>
          <a:p>
            <a:pPr algn="l">
              <a:lnSpc>
                <a:spcPct val="115000"/>
              </a:lnSpc>
            </a:pPr>
            <a:r>
              <a:rPr sz="1250" b="0" i="0" dirty="0">
                <a:solidFill>
                  <a:srgbClr val="CADCFC"/>
                </a:solidFill>
                <a:latin typeface="Courier New"/>
              </a:rPr>
              <a:t>request:  POST /</a:t>
            </a:r>
            <a:r>
              <a:rPr sz="1250" b="0" i="0" dirty="0" err="1">
                <a:solidFill>
                  <a:srgbClr val="CADCFC"/>
                </a:solidFill>
                <a:latin typeface="Courier New"/>
              </a:rPr>
              <a:t>mcp</a:t>
            </a:r>
            <a:r>
              <a:rPr sz="1250" b="0" i="0" dirty="0">
                <a:solidFill>
                  <a:srgbClr val="CADCFC"/>
                </a:solidFill>
                <a:latin typeface="Courier New"/>
              </a:rPr>
              <a:t>  tools/list</a:t>
            </a:r>
          </a:p>
          <a:p>
            <a:pPr algn="l">
              <a:lnSpc>
                <a:spcPct val="115000"/>
              </a:lnSpc>
            </a:pPr>
            <a:r>
              <a:rPr sz="1250" b="0" i="0" dirty="0">
                <a:solidFill>
                  <a:srgbClr val="CADCFC"/>
                </a:solidFill>
                <a:latin typeface="Courier New"/>
              </a:rPr>
              <a:t>          (NO Authorization header)</a:t>
            </a:r>
          </a:p>
          <a:p>
            <a:pPr algn="l">
              <a:lnSpc>
                <a:spcPct val="115000"/>
              </a:lnSpc>
            </a:pPr>
            <a:r>
              <a:rPr sz="1250" b="0" i="0" dirty="0">
                <a:solidFill>
                  <a:srgbClr val="8FE3C9"/>
                </a:solidFill>
                <a:latin typeface="Courier New"/>
              </a:rPr>
              <a:t>response: HTTP 200  { 71 tools }</a:t>
            </a:r>
          </a:p>
          <a:p>
            <a:pPr algn="l">
              <a:lnSpc>
                <a:spcPct val="115000"/>
              </a:lnSpc>
            </a:pPr>
            <a:r>
              <a:rPr sz="1250" b="0" i="0" dirty="0">
                <a:solidFill>
                  <a:srgbClr val="CADCFC"/>
                </a:solidFill>
                <a:latin typeface="Courier New"/>
              </a:rPr>
              <a:t>rule:     MCP Transports §Security</a:t>
            </a:r>
          </a:p>
        </p:txBody>
      </p:sp>
      <p:sp>
        <p:nvSpPr>
          <p:cNvPr id="7" name="TextBox 6"/>
          <p:cNvSpPr txBox="1"/>
          <p:nvPr/>
        </p:nvSpPr>
        <p:spPr>
          <a:xfrm>
            <a:off x="548640" y="3749039"/>
            <a:ext cx="5943600" cy="443263"/>
          </a:xfrm>
          <a:prstGeom prst="rect">
            <a:avLst/>
          </a:prstGeom>
          <a:noFill/>
        </p:spPr>
        <p:txBody>
          <a:bodyPr wrap="square" lIns="0" tIns="0" rIns="0" bIns="0" anchor="t">
            <a:spAutoFit/>
          </a:bodyPr>
          <a:lstStyle/>
          <a:p>
            <a:pPr algn="l">
              <a:lnSpc>
                <a:spcPct val="105000"/>
              </a:lnSpc>
            </a:pPr>
            <a:r>
              <a:rPr sz="1400" b="0" i="1" dirty="0">
                <a:solidFill>
                  <a:srgbClr val="5C6B7A"/>
                </a:solidFill>
                <a:latin typeface="Calibri"/>
              </a:rPr>
              <a:t>Secrets in a reply are replaced with a placeholder before anything is written to disk </a:t>
            </a:r>
            <a:r>
              <a:rPr lang="en-US" sz="1400" b="0" i="1" dirty="0">
                <a:solidFill>
                  <a:srgbClr val="5C6B7A"/>
                </a:solidFill>
                <a:latin typeface="Calibri"/>
              </a:rPr>
              <a:t>-</a:t>
            </a:r>
            <a:r>
              <a:rPr sz="1400" b="0" i="1" dirty="0">
                <a:solidFill>
                  <a:srgbClr val="5C6B7A"/>
                </a:solidFill>
                <a:latin typeface="Calibri"/>
              </a:rPr>
              <a:t> the field name stays, because “a secret was issued” is itself evidence.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dirty="0">
                <a:solidFill>
                  <a:srgbClr val="12233F"/>
                </a:solidFill>
                <a:latin typeface="Calibri"/>
              </a:rPr>
              <a:t>The 14 checks</a:t>
            </a:r>
          </a:p>
        </p:txBody>
      </p:sp>
      <p:sp>
        <p:nvSpPr>
          <p:cNvPr id="4" name="TextBox 3"/>
          <p:cNvSpPr txBox="1"/>
          <p:nvPr/>
        </p:nvSpPr>
        <p:spPr>
          <a:xfrm>
            <a:off x="548640" y="1371600"/>
            <a:ext cx="11091672" cy="365760"/>
          </a:xfrm>
          <a:prstGeom prst="rect">
            <a:avLst/>
          </a:prstGeom>
          <a:noFill/>
        </p:spPr>
        <p:txBody>
          <a:bodyPr wrap="square" lIns="0" tIns="0" rIns="0" bIns="0" anchor="t">
            <a:spAutoFit/>
          </a:bodyPr>
          <a:lstStyle/>
          <a:p>
            <a:pPr algn="l"/>
            <a:r>
              <a:rPr sz="1400" b="0" i="1">
                <a:solidFill>
                  <a:srgbClr val="5C6B7A"/>
                </a:solidFill>
                <a:latin typeface="Calibri"/>
              </a:rPr>
              <a:t>One check per known weakness. Twelve are read-only; two register a client and are off by default.</a:t>
            </a:r>
          </a:p>
        </p:txBody>
      </p:sp>
      <p:graphicFrame>
        <p:nvGraphicFramePr>
          <p:cNvPr id="5" name="Table 4"/>
          <p:cNvGraphicFramePr>
            <a:graphicFrameLocks noGrp="1"/>
          </p:cNvGraphicFramePr>
          <p:nvPr/>
        </p:nvGraphicFramePr>
        <p:xfrm>
          <a:off x="548640" y="1828800"/>
          <a:ext cx="11064240" cy="45262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01752">
                <a:tc>
                  <a:txBody>
                    <a:bodyPr/>
                    <a:lstStyle/>
                    <a:p>
                      <a:pPr algn="ctr"/>
                      <a:r>
                        <a:rPr sz="1100" b="1">
                          <a:solidFill>
                            <a:srgbClr val="FFFFFF"/>
                          </a:solidFill>
                          <a:latin typeface="Calibri"/>
                        </a:rPr>
                        <a:t>#</a:t>
                      </a:r>
                    </a:p>
                  </a:txBody>
                  <a:tcPr anchor="ctr">
                    <a:solidFill>
                      <a:srgbClr val="12233F"/>
                    </a:solidFill>
                  </a:tcPr>
                </a:tc>
                <a:tc>
                  <a:txBody>
                    <a:bodyPr/>
                    <a:lstStyle/>
                    <a:p>
                      <a:pPr algn="l"/>
                      <a:r>
                        <a:rPr sz="1100" b="1">
                          <a:solidFill>
                            <a:srgbClr val="FFFFFF"/>
                          </a:solidFill>
                          <a:latin typeface="Calibri"/>
                        </a:rPr>
                        <a:t>Check</a:t>
                      </a:r>
                    </a:p>
                  </a:txBody>
                  <a:tcPr anchor="ctr">
                    <a:solidFill>
                      <a:srgbClr val="12233F"/>
                    </a:solidFill>
                  </a:tcPr>
                </a:tc>
                <a:tc>
                  <a:txBody>
                    <a:bodyPr/>
                    <a:lstStyle/>
                    <a:p>
                      <a:pPr algn="l"/>
                      <a:r>
                        <a:rPr sz="1100" b="1">
                          <a:solidFill>
                            <a:srgbClr val="FFFFFF"/>
                          </a:solidFill>
                          <a:latin typeface="Calibri"/>
                        </a:rPr>
                        <a:t>What it asks</a:t>
                      </a:r>
                    </a:p>
                  </a:txBody>
                  <a:tcPr anchor="ctr">
                    <a:solidFill>
                      <a:srgbClr val="12233F"/>
                    </a:solidFill>
                  </a:tcPr>
                </a:tc>
                <a:tc>
                  <a:txBody>
                    <a:bodyPr/>
                    <a:lstStyle/>
                    <a:p>
                      <a:pPr algn="ctr"/>
                      <a:r>
                        <a:rPr sz="1100" b="1">
                          <a:solidFill>
                            <a:srgbClr val="FFFFFF"/>
                          </a:solidFill>
                          <a:latin typeface="Calibri"/>
                        </a:rPr>
                        <a:t>Sev</a:t>
                      </a:r>
                    </a:p>
                  </a:txBody>
                  <a:tcPr anchor="ctr">
                    <a:solidFill>
                      <a:srgbClr val="12233F"/>
                    </a:solidFill>
                  </a:tcPr>
                </a:tc>
                <a:extLst>
                  <a:ext uri="{0D108BD9-81ED-4DB2-BD59-A6C34878D82A}">
                    <a16:rowId xmlns:a16="http://schemas.microsoft.com/office/drawing/2014/main" val="10000"/>
                  </a:ext>
                </a:extLst>
              </a:tr>
              <a:tr h="301752">
                <a:tc>
                  <a:txBody>
                    <a:bodyPr/>
                    <a:lstStyle/>
                    <a:p>
                      <a:pPr algn="ctr"/>
                      <a:r>
                        <a:rPr sz="1050" b="1">
                          <a:solidFill>
                            <a:srgbClr val="1C7293"/>
                          </a:solidFill>
                          <a:latin typeface="Calibri"/>
                        </a:rPr>
                        <a:t>1</a:t>
                      </a:r>
                    </a:p>
                  </a:txBody>
                  <a:tcPr marT="12700" marB="12700" anchor="ctr">
                    <a:solidFill>
                      <a:srgbClr val="FFFFFF"/>
                    </a:solidFill>
                  </a:tcPr>
                </a:tc>
                <a:tc>
                  <a:txBody>
                    <a:bodyPr/>
                    <a:lstStyle/>
                    <a:p>
                      <a:pPr algn="l"/>
                      <a:r>
                        <a:rPr sz="1050" b="0">
                          <a:solidFill>
                            <a:srgbClr val="1B2A3A"/>
                          </a:solidFill>
                          <a:latin typeface="Courier New"/>
                        </a:rPr>
                        <a:t>no-authentication-remote</a:t>
                      </a:r>
                    </a:p>
                  </a:txBody>
                  <a:tcPr marT="12700" marB="12700" anchor="ctr">
                    <a:solidFill>
                      <a:srgbClr val="FFFFFF"/>
                    </a:solidFill>
                  </a:tcPr>
                </a:tc>
                <a:tc>
                  <a:txBody>
                    <a:bodyPr/>
                    <a:lstStyle/>
                    <a:p>
                      <a:pPr algn="l"/>
                      <a:r>
                        <a:rPr sz="1050" b="0" dirty="0">
                          <a:solidFill>
                            <a:srgbClr val="1B2A3A"/>
                          </a:solidFill>
                          <a:latin typeface="Calibri"/>
                        </a:rPr>
                        <a:t>Can a stranger list the tools?</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1"/>
                  </a:ext>
                </a:extLst>
              </a:tr>
              <a:tr h="301752">
                <a:tc>
                  <a:txBody>
                    <a:bodyPr/>
                    <a:lstStyle/>
                    <a:p>
                      <a:pPr algn="ctr"/>
                      <a:r>
                        <a:rPr sz="1050" b="1">
                          <a:solidFill>
                            <a:srgbClr val="1C7293"/>
                          </a:solidFill>
                          <a:latin typeface="Calibri"/>
                        </a:rPr>
                        <a:t>13</a:t>
                      </a:r>
                    </a:p>
                  </a:txBody>
                  <a:tcPr marT="12700" marB="12700" anchor="ctr">
                    <a:solidFill>
                      <a:srgbClr val="F4F8FB"/>
                    </a:solidFill>
                  </a:tcPr>
                </a:tc>
                <a:tc>
                  <a:txBody>
                    <a:bodyPr/>
                    <a:lstStyle/>
                    <a:p>
                      <a:pPr algn="l"/>
                      <a:r>
                        <a:rPr sz="1050" b="0">
                          <a:solidFill>
                            <a:srgbClr val="1B2A3A"/>
                          </a:solidFill>
                          <a:latin typeface="Courier New"/>
                        </a:rPr>
                        <a:t>unauthenticated-tool-invocation</a:t>
                      </a:r>
                    </a:p>
                  </a:txBody>
                  <a:tcPr marT="12700" marB="12700" anchor="ctr">
                    <a:solidFill>
                      <a:srgbClr val="F4F8FB"/>
                    </a:solidFill>
                  </a:tcPr>
                </a:tc>
                <a:tc>
                  <a:txBody>
                    <a:bodyPr/>
                    <a:lstStyle/>
                    <a:p>
                      <a:pPr algn="l"/>
                      <a:r>
                        <a:rPr sz="1050" b="0">
                          <a:solidFill>
                            <a:srgbClr val="1B2A3A"/>
                          </a:solidFill>
                          <a:latin typeface="Calibri"/>
                        </a:rPr>
                        <a:t>Can a stranger run a tool?</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02"/>
                  </a:ext>
                </a:extLst>
              </a:tr>
              <a:tr h="301752">
                <a:tc>
                  <a:txBody>
                    <a:bodyPr/>
                    <a:lstStyle/>
                    <a:p>
                      <a:pPr algn="ctr"/>
                      <a:r>
                        <a:rPr sz="1050" b="1">
                          <a:solidFill>
                            <a:srgbClr val="1C7293"/>
                          </a:solidFill>
                          <a:latin typeface="Calibri"/>
                        </a:rPr>
                        <a:t>2</a:t>
                      </a:r>
                    </a:p>
                  </a:txBody>
                  <a:tcPr marT="12700" marB="12700" anchor="ctr">
                    <a:solidFill>
                      <a:srgbClr val="FFFFFF"/>
                    </a:solidFill>
                  </a:tcPr>
                </a:tc>
                <a:tc>
                  <a:txBody>
                    <a:bodyPr/>
                    <a:lstStyle/>
                    <a:p>
                      <a:pPr algn="l"/>
                      <a:r>
                        <a:rPr sz="1050" b="0">
                          <a:solidFill>
                            <a:srgbClr val="1B2A3A"/>
                          </a:solidFill>
                          <a:latin typeface="Courier New"/>
                        </a:rPr>
                        <a:t>no-tls-transport</a:t>
                      </a:r>
                    </a:p>
                  </a:txBody>
                  <a:tcPr marT="12700" marB="12700" anchor="ctr">
                    <a:solidFill>
                      <a:srgbClr val="FFFFFF"/>
                    </a:solidFill>
                  </a:tcPr>
                </a:tc>
                <a:tc>
                  <a:txBody>
                    <a:bodyPr/>
                    <a:lstStyle/>
                    <a:p>
                      <a:pPr algn="l"/>
                      <a:r>
                        <a:rPr sz="1050" b="0">
                          <a:solidFill>
                            <a:srgbClr val="1B2A3A"/>
                          </a:solidFill>
                          <a:latin typeface="Calibri"/>
                        </a:rPr>
                        <a:t>Is the traffic actually encrypted?</a:t>
                      </a:r>
                    </a:p>
                  </a:txBody>
                  <a:tcPr marT="12700" marB="12700" anchor="ctr">
                    <a:solidFill>
                      <a:srgbClr val="FFFFFF"/>
                    </a:solidFill>
                  </a:tcPr>
                </a:tc>
                <a:tc>
                  <a:txBody>
                    <a:bodyPr/>
                    <a:lstStyle/>
                    <a:p>
                      <a:pPr algn="ctr"/>
                      <a:r>
                        <a:rPr sz="1050" b="0">
                          <a:solidFill>
                            <a:srgbClr val="1B2A3A"/>
                          </a:solidFill>
                          <a:latin typeface="Calibri"/>
                        </a:rPr>
                        <a:t>high</a:t>
                      </a:r>
                    </a:p>
                  </a:txBody>
                  <a:tcPr marT="12700" marB="12700" anchor="ctr">
                    <a:solidFill>
                      <a:srgbClr val="FFFFFF"/>
                    </a:solidFill>
                  </a:tcPr>
                </a:tc>
                <a:extLst>
                  <a:ext uri="{0D108BD9-81ED-4DB2-BD59-A6C34878D82A}">
                    <a16:rowId xmlns:a16="http://schemas.microsoft.com/office/drawing/2014/main" val="10003"/>
                  </a:ext>
                </a:extLst>
              </a:tr>
              <a:tr h="301752">
                <a:tc>
                  <a:txBody>
                    <a:bodyPr/>
                    <a:lstStyle/>
                    <a:p>
                      <a:pPr algn="ctr"/>
                      <a:r>
                        <a:rPr sz="1050" b="1">
                          <a:solidFill>
                            <a:srgbClr val="1C7293"/>
                          </a:solidFill>
                          <a:latin typeface="Calibri"/>
                        </a:rPr>
                        <a:t>3</a:t>
                      </a:r>
                    </a:p>
                  </a:txBody>
                  <a:tcPr marT="12700" marB="12700" anchor="ctr">
                    <a:solidFill>
                      <a:srgbClr val="F4F8FB"/>
                    </a:solidFill>
                  </a:tcPr>
                </a:tc>
                <a:tc>
                  <a:txBody>
                    <a:bodyPr/>
                    <a:lstStyle/>
                    <a:p>
                      <a:pPr algn="l"/>
                      <a:r>
                        <a:rPr sz="1050" b="0">
                          <a:solidFill>
                            <a:srgbClr val="1B2A3A"/>
                          </a:solidFill>
                          <a:latin typeface="Courier New"/>
                        </a:rPr>
                        <a:t>missing-www-authenticate</a:t>
                      </a:r>
                    </a:p>
                  </a:txBody>
                  <a:tcPr marT="12700" marB="12700" anchor="ctr">
                    <a:solidFill>
                      <a:srgbClr val="F4F8FB"/>
                    </a:solidFill>
                  </a:tcPr>
                </a:tc>
                <a:tc>
                  <a:txBody>
                    <a:bodyPr/>
                    <a:lstStyle/>
                    <a:p>
                      <a:pPr algn="l"/>
                      <a:r>
                        <a:rPr sz="1050" b="0">
                          <a:solidFill>
                            <a:srgbClr val="1B2A3A"/>
                          </a:solidFill>
                          <a:latin typeface="Calibri"/>
                        </a:rPr>
                        <a:t>Does the 401 say where to log in?</a:t>
                      </a:r>
                    </a:p>
                  </a:txBody>
                  <a:tcPr marT="12700" marB="12700" anchor="ctr">
                    <a:solidFill>
                      <a:srgbClr val="F4F8FB"/>
                    </a:solidFill>
                  </a:tcPr>
                </a:tc>
                <a:tc>
                  <a:txBody>
                    <a:bodyPr/>
                    <a:lstStyle/>
                    <a:p>
                      <a:pPr algn="ctr"/>
                      <a:r>
                        <a:rPr sz="1050" b="0">
                          <a:solidFill>
                            <a:srgbClr val="1B2A3A"/>
                          </a:solidFill>
                          <a:latin typeface="Calibri"/>
                        </a:rPr>
                        <a:t>med</a:t>
                      </a:r>
                    </a:p>
                  </a:txBody>
                  <a:tcPr marT="12700" marB="12700" anchor="ctr">
                    <a:solidFill>
                      <a:srgbClr val="F4F8FB"/>
                    </a:solidFill>
                  </a:tcPr>
                </a:tc>
                <a:extLst>
                  <a:ext uri="{0D108BD9-81ED-4DB2-BD59-A6C34878D82A}">
                    <a16:rowId xmlns:a16="http://schemas.microsoft.com/office/drawing/2014/main" val="10004"/>
                  </a:ext>
                </a:extLst>
              </a:tr>
              <a:tr h="301752">
                <a:tc>
                  <a:txBody>
                    <a:bodyPr/>
                    <a:lstStyle/>
                    <a:p>
                      <a:pPr algn="ctr"/>
                      <a:r>
                        <a:rPr sz="1050" b="1">
                          <a:solidFill>
                            <a:srgbClr val="1C7293"/>
                          </a:solidFill>
                          <a:latin typeface="Calibri"/>
                        </a:rPr>
                        <a:t>4</a:t>
                      </a:r>
                    </a:p>
                  </a:txBody>
                  <a:tcPr marT="12700" marB="12700" anchor="ctr">
                    <a:solidFill>
                      <a:srgbClr val="FFFFFF"/>
                    </a:solidFill>
                  </a:tcPr>
                </a:tc>
                <a:tc>
                  <a:txBody>
                    <a:bodyPr/>
                    <a:lstStyle/>
                    <a:p>
                      <a:pPr algn="l"/>
                      <a:r>
                        <a:rPr sz="1050" b="0">
                          <a:solidFill>
                            <a:srgbClr val="1B2A3A"/>
                          </a:solidFill>
                          <a:latin typeface="Courier New"/>
                        </a:rPr>
                        <a:t>missing-protected-resource-metadata</a:t>
                      </a:r>
                    </a:p>
                  </a:txBody>
                  <a:tcPr marT="12700" marB="12700" anchor="ctr">
                    <a:solidFill>
                      <a:srgbClr val="FFFFFF"/>
                    </a:solidFill>
                  </a:tcPr>
                </a:tc>
                <a:tc>
                  <a:txBody>
                    <a:bodyPr/>
                    <a:lstStyle/>
                    <a:p>
                      <a:pPr algn="l"/>
                      <a:r>
                        <a:rPr sz="1050" b="0">
                          <a:solidFill>
                            <a:srgbClr val="1B2A3A"/>
                          </a:solidFill>
                          <a:latin typeface="Calibri"/>
                        </a:rPr>
                        <a:t>Is the login-info page published?</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5"/>
                  </a:ext>
                </a:extLst>
              </a:tr>
              <a:tr h="301752">
                <a:tc>
                  <a:txBody>
                    <a:bodyPr/>
                    <a:lstStyle/>
                    <a:p>
                      <a:pPr algn="ctr"/>
                      <a:r>
                        <a:rPr sz="1050" b="1">
                          <a:solidFill>
                            <a:srgbClr val="1C7293"/>
                          </a:solidFill>
                          <a:latin typeface="Calibri"/>
                        </a:rPr>
                        <a:t>5</a:t>
                      </a:r>
                    </a:p>
                  </a:txBody>
                  <a:tcPr marT="12700" marB="12700" anchor="ctr">
                    <a:solidFill>
                      <a:srgbClr val="F4F8FB"/>
                    </a:solidFill>
                  </a:tcPr>
                </a:tc>
                <a:tc>
                  <a:txBody>
                    <a:bodyPr/>
                    <a:lstStyle/>
                    <a:p>
                      <a:pPr algn="l"/>
                      <a:r>
                        <a:rPr sz="1050" b="0">
                          <a:solidFill>
                            <a:srgbClr val="1B2A3A"/>
                          </a:solidFill>
                          <a:latin typeface="Courier New"/>
                        </a:rPr>
                        <a:t>session-id-in-url</a:t>
                      </a:r>
                    </a:p>
                  </a:txBody>
                  <a:tcPr marT="12700" marB="12700" anchor="ctr">
                    <a:solidFill>
                      <a:srgbClr val="F4F8FB"/>
                    </a:solidFill>
                  </a:tcPr>
                </a:tc>
                <a:tc>
                  <a:txBody>
                    <a:bodyPr/>
                    <a:lstStyle/>
                    <a:p>
                      <a:pPr algn="l"/>
                      <a:r>
                        <a:rPr sz="1050" b="0">
                          <a:solidFill>
                            <a:srgbClr val="1B2A3A"/>
                          </a:solidFill>
                          <a:latin typeface="Calibri"/>
                        </a:rPr>
                        <a:t>Is the session tag leaking in the URL?</a:t>
                      </a:r>
                    </a:p>
                  </a:txBody>
                  <a:tcPr marT="12700" marB="12700" anchor="ctr">
                    <a:solidFill>
                      <a:srgbClr val="F4F8FB"/>
                    </a:solidFill>
                  </a:tcPr>
                </a:tc>
                <a:tc>
                  <a:txBody>
                    <a:bodyPr/>
                    <a:lstStyle/>
                    <a:p>
                      <a:pPr algn="ctr"/>
                      <a:r>
                        <a:rPr sz="1050" b="0">
                          <a:solidFill>
                            <a:srgbClr val="1B2A3A"/>
                          </a:solidFill>
                          <a:latin typeface="Calibri"/>
                        </a:rPr>
                        <a:t>med</a:t>
                      </a:r>
                    </a:p>
                  </a:txBody>
                  <a:tcPr marT="12700" marB="12700" anchor="ctr">
                    <a:solidFill>
                      <a:srgbClr val="F4F8FB"/>
                    </a:solidFill>
                  </a:tcPr>
                </a:tc>
                <a:extLst>
                  <a:ext uri="{0D108BD9-81ED-4DB2-BD59-A6C34878D82A}">
                    <a16:rowId xmlns:a16="http://schemas.microsoft.com/office/drawing/2014/main" val="10006"/>
                  </a:ext>
                </a:extLst>
              </a:tr>
              <a:tr h="301752">
                <a:tc>
                  <a:txBody>
                    <a:bodyPr/>
                    <a:lstStyle/>
                    <a:p>
                      <a:pPr algn="ctr"/>
                      <a:r>
                        <a:rPr sz="1050" b="1">
                          <a:solidFill>
                            <a:srgbClr val="1C7293"/>
                          </a:solidFill>
                          <a:latin typeface="Calibri"/>
                        </a:rPr>
                        <a:t>6</a:t>
                      </a:r>
                    </a:p>
                  </a:txBody>
                  <a:tcPr marT="12700" marB="12700" anchor="ctr">
                    <a:solidFill>
                      <a:srgbClr val="FFFFFF"/>
                    </a:solidFill>
                  </a:tcPr>
                </a:tc>
                <a:tc>
                  <a:txBody>
                    <a:bodyPr/>
                    <a:lstStyle/>
                    <a:p>
                      <a:pPr algn="l"/>
                      <a:r>
                        <a:rPr sz="1050" b="0">
                          <a:solidFill>
                            <a:srgbClr val="1B2A3A"/>
                          </a:solidFill>
                          <a:latin typeface="Courier New"/>
                        </a:rPr>
                        <a:t>predictable-session-id</a:t>
                      </a:r>
                    </a:p>
                  </a:txBody>
                  <a:tcPr marT="12700" marB="12700" anchor="ctr">
                    <a:solidFill>
                      <a:srgbClr val="FFFFFF"/>
                    </a:solidFill>
                  </a:tcPr>
                </a:tc>
                <a:tc>
                  <a:txBody>
                    <a:bodyPr/>
                    <a:lstStyle/>
                    <a:p>
                      <a:pPr algn="l"/>
                      <a:r>
                        <a:rPr sz="1050" b="0">
                          <a:solidFill>
                            <a:srgbClr val="1B2A3A"/>
                          </a:solidFill>
                          <a:latin typeface="Calibri"/>
                        </a:rPr>
                        <a:t>Are session tags guessable?</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7"/>
                  </a:ext>
                </a:extLst>
              </a:tr>
              <a:tr h="301752">
                <a:tc>
                  <a:txBody>
                    <a:bodyPr/>
                    <a:lstStyle/>
                    <a:p>
                      <a:pPr algn="ctr"/>
                      <a:r>
                        <a:rPr sz="1050" b="1">
                          <a:solidFill>
                            <a:srgbClr val="1C7293"/>
                          </a:solidFill>
                          <a:latin typeface="Calibri"/>
                        </a:rPr>
                        <a:t>7</a:t>
                      </a:r>
                    </a:p>
                  </a:txBody>
                  <a:tcPr marT="12700" marB="12700" anchor="ctr">
                    <a:solidFill>
                      <a:srgbClr val="F4F8FB"/>
                    </a:solidFill>
                  </a:tcPr>
                </a:tc>
                <a:tc>
                  <a:txBody>
                    <a:bodyPr/>
                    <a:lstStyle/>
                    <a:p>
                      <a:pPr algn="l"/>
                      <a:r>
                        <a:rPr sz="1050" b="0">
                          <a:solidFill>
                            <a:srgbClr val="1B2A3A"/>
                          </a:solidFill>
                          <a:latin typeface="Courier New"/>
                        </a:rPr>
                        <a:t>origin-not-validated</a:t>
                      </a:r>
                    </a:p>
                  </a:txBody>
                  <a:tcPr marT="12700" marB="12700" anchor="ctr">
                    <a:solidFill>
                      <a:srgbClr val="F4F8FB"/>
                    </a:solidFill>
                  </a:tcPr>
                </a:tc>
                <a:tc>
                  <a:txBody>
                    <a:bodyPr/>
                    <a:lstStyle/>
                    <a:p>
                      <a:pPr algn="l"/>
                      <a:r>
                        <a:rPr sz="1050" b="0">
                          <a:solidFill>
                            <a:srgbClr val="1B2A3A"/>
                          </a:solidFill>
                          <a:latin typeface="Calibri"/>
                        </a:rPr>
                        <a:t>Is a forged Origin accepted?</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08"/>
                  </a:ext>
                </a:extLst>
              </a:tr>
              <a:tr h="301752">
                <a:tc>
                  <a:txBody>
                    <a:bodyPr/>
                    <a:lstStyle/>
                    <a:p>
                      <a:pPr algn="ctr"/>
                      <a:r>
                        <a:rPr sz="1050" b="1">
                          <a:solidFill>
                            <a:srgbClr val="1C7293"/>
                          </a:solidFill>
                          <a:latin typeface="Calibri"/>
                        </a:rPr>
                        <a:t>8</a:t>
                      </a:r>
                    </a:p>
                  </a:txBody>
                  <a:tcPr marT="12700" marB="12700" anchor="ctr">
                    <a:solidFill>
                      <a:srgbClr val="FFFFFF"/>
                    </a:solidFill>
                  </a:tcPr>
                </a:tc>
                <a:tc>
                  <a:txBody>
                    <a:bodyPr/>
                    <a:lstStyle/>
                    <a:p>
                      <a:pPr algn="l"/>
                      <a:r>
                        <a:rPr sz="1050" b="0">
                          <a:solidFill>
                            <a:srgbClr val="1B2A3A"/>
                          </a:solidFill>
                          <a:latin typeface="Courier New"/>
                        </a:rPr>
                        <a:t>cors-misconfiguration</a:t>
                      </a:r>
                    </a:p>
                  </a:txBody>
                  <a:tcPr marT="12700" marB="12700" anchor="ctr">
                    <a:solidFill>
                      <a:srgbClr val="FFFFFF"/>
                    </a:solidFill>
                  </a:tcPr>
                </a:tc>
                <a:tc>
                  <a:txBody>
                    <a:bodyPr/>
                    <a:lstStyle/>
                    <a:p>
                      <a:pPr algn="l"/>
                      <a:r>
                        <a:rPr sz="1050" b="0">
                          <a:solidFill>
                            <a:srgbClr val="1B2A3A"/>
                          </a:solidFill>
                          <a:latin typeface="Calibri"/>
                        </a:rPr>
                        <a:t>May any website call it with credentials?</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09"/>
                  </a:ext>
                </a:extLst>
              </a:tr>
              <a:tr h="301752">
                <a:tc>
                  <a:txBody>
                    <a:bodyPr/>
                    <a:lstStyle/>
                    <a:p>
                      <a:pPr algn="ctr"/>
                      <a:r>
                        <a:rPr sz="1050" b="1">
                          <a:solidFill>
                            <a:srgbClr val="1C7293"/>
                          </a:solidFill>
                          <a:latin typeface="Calibri"/>
                        </a:rPr>
                        <a:t>9</a:t>
                      </a:r>
                    </a:p>
                  </a:txBody>
                  <a:tcPr marT="12700" marB="12700" anchor="ctr">
                    <a:solidFill>
                      <a:srgbClr val="F4F8FB"/>
                    </a:solidFill>
                  </a:tcPr>
                </a:tc>
                <a:tc>
                  <a:txBody>
                    <a:bodyPr/>
                    <a:lstStyle/>
                    <a:p>
                      <a:pPr algn="l"/>
                      <a:r>
                        <a:rPr sz="1050" b="0">
                          <a:solidFill>
                            <a:srgbClr val="1B2A3A"/>
                          </a:solidFill>
                          <a:latin typeface="Courier New"/>
                        </a:rPr>
                        <a:t>auth-endpoints-not-https</a:t>
                      </a:r>
                    </a:p>
                  </a:txBody>
                  <a:tcPr marT="12700" marB="12700" anchor="ctr">
                    <a:solidFill>
                      <a:srgbClr val="F4F8FB"/>
                    </a:solidFill>
                  </a:tcPr>
                </a:tc>
                <a:tc>
                  <a:txBody>
                    <a:bodyPr/>
                    <a:lstStyle/>
                    <a:p>
                      <a:pPr algn="l"/>
                      <a:r>
                        <a:rPr sz="1050" b="0">
                          <a:solidFill>
                            <a:srgbClr val="1B2A3A"/>
                          </a:solidFill>
                          <a:latin typeface="Calibri"/>
                        </a:rPr>
                        <a:t>Any login address on plain http?</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0"/>
                  </a:ext>
                </a:extLst>
              </a:tr>
              <a:tr h="301752">
                <a:tc>
                  <a:txBody>
                    <a:bodyPr/>
                    <a:lstStyle/>
                    <a:p>
                      <a:pPr algn="ctr"/>
                      <a:r>
                        <a:rPr sz="1050" b="1">
                          <a:solidFill>
                            <a:srgbClr val="1C7293"/>
                          </a:solidFill>
                          <a:latin typeface="Calibri"/>
                        </a:rPr>
                        <a:t>10</a:t>
                      </a:r>
                    </a:p>
                  </a:txBody>
                  <a:tcPr marT="12700" marB="12700" anchor="ctr">
                    <a:solidFill>
                      <a:srgbClr val="FFFFFF"/>
                    </a:solidFill>
                  </a:tcPr>
                </a:tc>
                <a:tc>
                  <a:txBody>
                    <a:bodyPr/>
                    <a:lstStyle/>
                    <a:p>
                      <a:pPr algn="l"/>
                      <a:r>
                        <a:rPr sz="1050" b="0">
                          <a:solidFill>
                            <a:srgbClr val="1B2A3A"/>
                          </a:solidFill>
                          <a:latin typeface="Courier New"/>
                        </a:rPr>
                        <a:t>missing-as-metadata</a:t>
                      </a:r>
                    </a:p>
                  </a:txBody>
                  <a:tcPr marT="12700" marB="12700" anchor="ctr">
                    <a:solidFill>
                      <a:srgbClr val="FFFFFF"/>
                    </a:solidFill>
                  </a:tcPr>
                </a:tc>
                <a:tc>
                  <a:txBody>
                    <a:bodyPr/>
                    <a:lstStyle/>
                    <a:p>
                      <a:pPr algn="l"/>
                      <a:r>
                        <a:rPr sz="1050" b="0">
                          <a:solidFill>
                            <a:srgbClr val="1B2A3A"/>
                          </a:solidFill>
                          <a:latin typeface="Calibri"/>
                        </a:rPr>
                        <a:t>Does the login server describe itself?</a:t>
                      </a:r>
                    </a:p>
                  </a:txBody>
                  <a:tcPr marT="12700" marB="12700" anchor="ctr">
                    <a:solidFill>
                      <a:srgbClr val="FFFFFF"/>
                    </a:solidFill>
                  </a:tcPr>
                </a:tc>
                <a:tc>
                  <a:txBody>
                    <a:bodyPr/>
                    <a:lstStyle/>
                    <a:p>
                      <a:pPr algn="ctr"/>
                      <a:r>
                        <a:rPr sz="1050" b="0">
                          <a:solidFill>
                            <a:srgbClr val="1B2A3A"/>
                          </a:solidFill>
                          <a:latin typeface="Calibri"/>
                        </a:rPr>
                        <a:t>med</a:t>
                      </a:r>
                    </a:p>
                  </a:txBody>
                  <a:tcPr marT="12700" marB="12700" anchor="ctr">
                    <a:solidFill>
                      <a:srgbClr val="FFFFFF"/>
                    </a:solidFill>
                  </a:tcPr>
                </a:tc>
                <a:extLst>
                  <a:ext uri="{0D108BD9-81ED-4DB2-BD59-A6C34878D82A}">
                    <a16:rowId xmlns:a16="http://schemas.microsoft.com/office/drawing/2014/main" val="10011"/>
                  </a:ext>
                </a:extLst>
              </a:tr>
              <a:tr h="301752">
                <a:tc>
                  <a:txBody>
                    <a:bodyPr/>
                    <a:lstStyle/>
                    <a:p>
                      <a:pPr algn="ctr"/>
                      <a:r>
                        <a:rPr sz="1050" b="1">
                          <a:solidFill>
                            <a:srgbClr val="1C7293"/>
                          </a:solidFill>
                          <a:latin typeface="Calibri"/>
                        </a:rPr>
                        <a:t>11</a:t>
                      </a:r>
                    </a:p>
                  </a:txBody>
                  <a:tcPr marT="12700" marB="12700" anchor="ctr">
                    <a:solidFill>
                      <a:srgbClr val="F4F8FB"/>
                    </a:solidFill>
                  </a:tcPr>
                </a:tc>
                <a:tc>
                  <a:txBody>
                    <a:bodyPr/>
                    <a:lstStyle/>
                    <a:p>
                      <a:pPr algn="l"/>
                      <a:r>
                        <a:rPr sz="1050" b="0">
                          <a:solidFill>
                            <a:srgbClr val="1B2A3A"/>
                          </a:solidFill>
                          <a:latin typeface="Courier New"/>
                        </a:rPr>
                        <a:t>implicit-flow-enabled</a:t>
                      </a:r>
                    </a:p>
                  </a:txBody>
                  <a:tcPr marT="12700" marB="12700" anchor="ctr">
                    <a:solidFill>
                      <a:srgbClr val="F4F8FB"/>
                    </a:solidFill>
                  </a:tcPr>
                </a:tc>
                <a:tc>
                  <a:txBody>
                    <a:bodyPr/>
                    <a:lstStyle/>
                    <a:p>
                      <a:pPr algn="l"/>
                      <a:r>
                        <a:rPr sz="1050" b="0">
                          <a:solidFill>
                            <a:srgbClr val="1B2A3A"/>
                          </a:solidFill>
                          <a:latin typeface="Calibri"/>
                        </a:rPr>
                        <a:t>Still offering the removed implicit flow?</a:t>
                      </a:r>
                    </a:p>
                  </a:txBody>
                  <a:tcPr marT="12700" marB="12700" anchor="ctr">
                    <a:solidFill>
                      <a:srgbClr val="F4F8FB"/>
                    </a:solidFill>
                  </a:tcPr>
                </a:tc>
                <a:tc>
                  <a:txBody>
                    <a:bodyPr/>
                    <a:lstStyle/>
                    <a:p>
                      <a:pPr algn="ctr"/>
                      <a:r>
                        <a:rPr sz="1050" b="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2"/>
                  </a:ext>
                </a:extLst>
              </a:tr>
              <a:tr h="301752">
                <a:tc>
                  <a:txBody>
                    <a:bodyPr/>
                    <a:lstStyle/>
                    <a:p>
                      <a:pPr algn="ctr"/>
                      <a:r>
                        <a:rPr sz="1050" b="1">
                          <a:solidFill>
                            <a:srgbClr val="1C7293"/>
                          </a:solidFill>
                          <a:latin typeface="Calibri"/>
                        </a:rPr>
                        <a:t>12</a:t>
                      </a:r>
                    </a:p>
                  </a:txBody>
                  <a:tcPr marT="12700" marB="12700" anchor="ctr">
                    <a:solidFill>
                      <a:srgbClr val="FFFFFF"/>
                    </a:solidFill>
                  </a:tcPr>
                </a:tc>
                <a:tc>
                  <a:txBody>
                    <a:bodyPr/>
                    <a:lstStyle/>
                    <a:p>
                      <a:pPr algn="l"/>
                      <a:r>
                        <a:rPr sz="1050" b="0">
                          <a:solidFill>
                            <a:srgbClr val="1B2A3A"/>
                          </a:solidFill>
                          <a:latin typeface="Courier New"/>
                        </a:rPr>
                        <a:t>open-dcr  (write)</a:t>
                      </a:r>
                    </a:p>
                  </a:txBody>
                  <a:tcPr marT="12700" marB="12700" anchor="ctr">
                    <a:solidFill>
                      <a:srgbClr val="FFFFFF"/>
                    </a:solidFill>
                  </a:tcPr>
                </a:tc>
                <a:tc>
                  <a:txBody>
                    <a:bodyPr/>
                    <a:lstStyle/>
                    <a:p>
                      <a:pPr algn="l"/>
                      <a:r>
                        <a:rPr sz="1050" b="0">
                          <a:solidFill>
                            <a:srgbClr val="1B2A3A"/>
                          </a:solidFill>
                          <a:latin typeface="Calibri"/>
                        </a:rPr>
                        <a:t>Can anyone register a client?</a:t>
                      </a:r>
                    </a:p>
                  </a:txBody>
                  <a:tcPr marT="12700" marB="12700" anchor="ctr">
                    <a:solidFill>
                      <a:srgbClr val="FFFFFF"/>
                    </a:solidFill>
                  </a:tcPr>
                </a:tc>
                <a:tc>
                  <a:txBody>
                    <a:bodyPr/>
                    <a:lstStyle/>
                    <a:p>
                      <a:pPr algn="ctr"/>
                      <a:r>
                        <a:rPr sz="1050" b="0">
                          <a:solidFill>
                            <a:srgbClr val="1B2A3A"/>
                          </a:solidFill>
                          <a:latin typeface="Calibri"/>
                        </a:rPr>
                        <a:t>high</a:t>
                      </a:r>
                    </a:p>
                  </a:txBody>
                  <a:tcPr marT="12700" marB="12700" anchor="ctr">
                    <a:solidFill>
                      <a:srgbClr val="FFFFFF"/>
                    </a:solidFill>
                  </a:tcPr>
                </a:tc>
                <a:extLst>
                  <a:ext uri="{0D108BD9-81ED-4DB2-BD59-A6C34878D82A}">
                    <a16:rowId xmlns:a16="http://schemas.microsoft.com/office/drawing/2014/main" val="10013"/>
                  </a:ext>
                </a:extLst>
              </a:tr>
              <a:tr h="301752">
                <a:tc>
                  <a:txBody>
                    <a:bodyPr/>
                    <a:lstStyle/>
                    <a:p>
                      <a:pPr algn="ctr"/>
                      <a:r>
                        <a:rPr sz="1050" b="1">
                          <a:solidFill>
                            <a:srgbClr val="1C7293"/>
                          </a:solidFill>
                          <a:latin typeface="Calibri"/>
                        </a:rPr>
                        <a:t>14</a:t>
                      </a:r>
                    </a:p>
                  </a:txBody>
                  <a:tcPr marT="12700" marB="12700" anchor="ctr">
                    <a:solidFill>
                      <a:srgbClr val="F4F8FB"/>
                    </a:solidFill>
                  </a:tcPr>
                </a:tc>
                <a:tc>
                  <a:txBody>
                    <a:bodyPr/>
                    <a:lstStyle/>
                    <a:p>
                      <a:pPr algn="l"/>
                      <a:r>
                        <a:rPr sz="1050" b="0">
                          <a:solidFill>
                            <a:srgbClr val="1B2A3A"/>
                          </a:solidFill>
                          <a:latin typeface="Courier New"/>
                        </a:rPr>
                        <a:t>improper-redirect-uri-validation  (write)</a:t>
                      </a:r>
                    </a:p>
                  </a:txBody>
                  <a:tcPr marT="12700" marB="12700" anchor="ctr">
                    <a:solidFill>
                      <a:srgbClr val="F4F8FB"/>
                    </a:solidFill>
                  </a:tcPr>
                </a:tc>
                <a:tc>
                  <a:txBody>
                    <a:bodyPr/>
                    <a:lstStyle/>
                    <a:p>
                      <a:pPr algn="l"/>
                      <a:r>
                        <a:rPr sz="1050" b="0">
                          <a:solidFill>
                            <a:srgbClr val="1B2A3A"/>
                          </a:solidFill>
                          <a:latin typeface="Calibri"/>
                        </a:rPr>
                        <a:t>Accepts an unregistered return address?</a:t>
                      </a:r>
                    </a:p>
                  </a:txBody>
                  <a:tcPr marT="12700" marB="12700" anchor="ctr">
                    <a:solidFill>
                      <a:srgbClr val="F4F8FB"/>
                    </a:solidFill>
                  </a:tcPr>
                </a:tc>
                <a:tc>
                  <a:txBody>
                    <a:bodyPr/>
                    <a:lstStyle/>
                    <a:p>
                      <a:pPr algn="ctr"/>
                      <a:r>
                        <a:rPr sz="1050" b="0" dirty="0">
                          <a:solidFill>
                            <a:srgbClr val="1B2A3A"/>
                          </a:solidFill>
                          <a:latin typeface="Calibri"/>
                        </a:rPr>
                        <a:t>high</a:t>
                      </a:r>
                    </a:p>
                  </a:txBody>
                  <a:tcPr marT="12700" marB="12700" anchor="ctr">
                    <a:solidFill>
                      <a:srgbClr val="F4F8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1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Can a stranger reach the tools? (#1, #13)</a:t>
            </a:r>
          </a:p>
        </p:txBody>
      </p:sp>
      <p:sp>
        <p:nvSpPr>
          <p:cNvPr id="4" name="Rounded Rectangle 3"/>
          <p:cNvSpPr/>
          <p:nvPr/>
        </p:nvSpPr>
        <p:spPr>
          <a:xfrm>
            <a:off x="548640" y="169164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72870"/>
            <a:ext cx="10725912" cy="671979"/>
          </a:xfrm>
          <a:prstGeom prst="rect">
            <a:avLst/>
          </a:prstGeom>
          <a:noFill/>
        </p:spPr>
        <p:txBody>
          <a:bodyPr wrap="square" lIns="0" tIns="0" rIns="0" bIns="0" anchor="ctr">
            <a:spAutoFit/>
          </a:bodyPr>
          <a:lstStyle/>
          <a:p>
            <a:pPr algn="l">
              <a:lnSpc>
                <a:spcPct val="100000"/>
              </a:lnSpc>
              <a:spcAft>
                <a:spcPts val="200"/>
              </a:spcAft>
            </a:pPr>
            <a:r>
              <a:rPr sz="1500" b="1" i="0" dirty="0">
                <a:solidFill>
                  <a:srgbClr val="1C7293"/>
                </a:solidFill>
                <a:latin typeface="Calibri"/>
              </a:rPr>
              <a:t>#1  </a:t>
            </a:r>
            <a:r>
              <a:rPr sz="1500" b="1" i="0" dirty="0">
                <a:solidFill>
                  <a:srgbClr val="12233F"/>
                </a:solidFill>
                <a:latin typeface="Calibri"/>
              </a:rPr>
              <a:t>no-authentication-remote  </a:t>
            </a:r>
            <a:r>
              <a:rPr lang="en-US" sz="1500" b="1" i="0" dirty="0">
                <a:solidFill>
                  <a:srgbClr val="12233F"/>
                </a:solidFill>
                <a:latin typeface="Calibri"/>
              </a:rPr>
              <a:t>-</a:t>
            </a:r>
            <a:r>
              <a:rPr sz="1500" b="1" i="0" dirty="0">
                <a:solidFill>
                  <a:srgbClr val="12233F"/>
                </a:solidFill>
                <a:latin typeface="Calibri"/>
              </a:rPr>
              <a:t>  can a stranger LIST the tools?</a:t>
            </a:r>
          </a:p>
          <a:p>
            <a:pPr algn="l">
              <a:lnSpc>
                <a:spcPct val="100000"/>
              </a:lnSpc>
            </a:pPr>
            <a:r>
              <a:rPr sz="1350" b="0" i="0" dirty="0">
                <a:solidFill>
                  <a:srgbClr val="1B2A3A"/>
                </a:solidFill>
                <a:latin typeface="Calibri"/>
              </a:rPr>
              <a:t>Send tools/list with no token. A JSON-RPC result back = the catalogue is readable without login (capability disclosure). Authenticating is only a SHOULD, so this is posture, not a broken rule.</a:t>
            </a:r>
          </a:p>
        </p:txBody>
      </p:sp>
      <p:sp>
        <p:nvSpPr>
          <p:cNvPr id="6" name="Rounded Rectangle 5"/>
          <p:cNvSpPr/>
          <p:nvPr/>
        </p:nvSpPr>
        <p:spPr>
          <a:xfrm>
            <a:off x="548640" y="320040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81630"/>
            <a:ext cx="10725912" cy="671979"/>
          </a:xfrm>
          <a:prstGeom prst="rect">
            <a:avLst/>
          </a:prstGeom>
          <a:noFill/>
        </p:spPr>
        <p:txBody>
          <a:bodyPr wrap="square" lIns="0" tIns="0" rIns="0" bIns="0" anchor="ctr">
            <a:spAutoFit/>
          </a:bodyPr>
          <a:lstStyle/>
          <a:p>
            <a:pPr algn="l">
              <a:lnSpc>
                <a:spcPct val="100000"/>
              </a:lnSpc>
              <a:spcAft>
                <a:spcPts val="200"/>
              </a:spcAft>
            </a:pPr>
            <a:r>
              <a:rPr sz="1500" b="1" i="0" dirty="0">
                <a:solidFill>
                  <a:srgbClr val="1C7293"/>
                </a:solidFill>
                <a:latin typeface="Calibri"/>
              </a:rPr>
              <a:t>#13  </a:t>
            </a:r>
            <a:r>
              <a:rPr sz="1500" b="1" i="0" dirty="0">
                <a:solidFill>
                  <a:srgbClr val="12233F"/>
                </a:solidFill>
                <a:latin typeface="Calibri"/>
              </a:rPr>
              <a:t>unauthenticated-tool-invocation  </a:t>
            </a:r>
            <a:r>
              <a:rPr lang="en-US" sz="1500" b="1" i="0" dirty="0">
                <a:solidFill>
                  <a:srgbClr val="12233F"/>
                </a:solidFill>
                <a:latin typeface="Calibri"/>
              </a:rPr>
              <a:t>-</a:t>
            </a:r>
            <a:r>
              <a:rPr sz="1500" b="1" i="0" dirty="0">
                <a:solidFill>
                  <a:srgbClr val="12233F"/>
                </a:solidFill>
                <a:latin typeface="Calibri"/>
              </a:rPr>
              <a:t>  can a stranger RUN one?</a:t>
            </a:r>
          </a:p>
          <a:p>
            <a:pPr algn="l">
              <a:lnSpc>
                <a:spcPct val="100000"/>
              </a:lnSpc>
            </a:pPr>
            <a:r>
              <a:rPr sz="1350" b="0" i="0" dirty="0">
                <a:solidFill>
                  <a:srgbClr val="1B2A3A"/>
                </a:solidFill>
                <a:latin typeface="Calibri"/>
              </a:rPr>
              <a:t>Send tools/call for a deliberately non-existent tool, no token </a:t>
            </a:r>
            <a:r>
              <a:rPr lang="en-US" sz="1350" b="0" i="0" dirty="0">
                <a:solidFill>
                  <a:srgbClr val="1B2A3A"/>
                </a:solidFill>
                <a:latin typeface="Calibri"/>
              </a:rPr>
              <a:t>-</a:t>
            </a:r>
            <a:r>
              <a:rPr sz="1350" b="0" i="0" dirty="0">
                <a:solidFill>
                  <a:srgbClr val="1B2A3A"/>
                </a:solidFill>
                <a:latin typeface="Calibri"/>
              </a:rPr>
              <a:t> so nothing executes. A 401 means the call path is gated; any JSON-RPC reply means it reached the dispatch layer, i.e. invocation is open.</a:t>
            </a:r>
          </a:p>
        </p:txBody>
      </p:sp>
      <p:sp>
        <p:nvSpPr>
          <p:cNvPr id="8" name="Rounded Rectangle 7"/>
          <p:cNvSpPr/>
          <p:nvPr/>
        </p:nvSpPr>
        <p:spPr>
          <a:xfrm>
            <a:off x="548640" y="4480560"/>
            <a:ext cx="11091672" cy="13716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928891"/>
            <a:ext cx="10543032" cy="474938"/>
          </a:xfrm>
          <a:prstGeom prst="rect">
            <a:avLst/>
          </a:prstGeom>
          <a:noFill/>
        </p:spPr>
        <p:txBody>
          <a:bodyPr wrap="square" lIns="0" tIns="0" rIns="0" bIns="0" anchor="ctr">
            <a:spAutoFit/>
          </a:bodyPr>
          <a:lstStyle/>
          <a:p>
            <a:pPr algn="l">
              <a:lnSpc>
                <a:spcPct val="105000"/>
              </a:lnSpc>
            </a:pPr>
            <a:r>
              <a:rPr sz="1500" b="1" i="0" dirty="0">
                <a:solidFill>
                  <a:srgbClr val="1C7293"/>
                </a:solidFill>
                <a:latin typeface="Calibri"/>
              </a:rPr>
              <a:t>Why both:  </a:t>
            </a:r>
            <a:r>
              <a:rPr sz="1500" b="0" i="0" dirty="0">
                <a:solidFill>
                  <a:srgbClr val="1B2A3A"/>
                </a:solidFill>
                <a:latin typeface="Calibri"/>
              </a:rPr>
              <a:t>listing tools is not the same as running them. #1 tells you the menu is visible; #13 tells you whether the kitchen is open. A server can publish its catalogue yet still demand a login to act </a:t>
            </a:r>
            <a:r>
              <a:rPr lang="en-US" sz="1500" b="0" i="0" dirty="0">
                <a:solidFill>
                  <a:srgbClr val="1B2A3A"/>
                </a:solidFill>
                <a:latin typeface="Calibri"/>
              </a:rPr>
              <a:t>-</a:t>
            </a:r>
            <a:r>
              <a:rPr sz="1500" b="0" i="0" dirty="0">
                <a:solidFill>
                  <a:srgbClr val="1B2A3A"/>
                </a:solidFill>
                <a:latin typeface="Calibri"/>
              </a:rPr>
              <a:t> only #13 can tell them apart.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2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Is the connection itself safe? (#2, #3, #5)</a:t>
            </a:r>
          </a:p>
        </p:txBody>
      </p:sp>
      <p:sp>
        <p:nvSpPr>
          <p:cNvPr id="4" name="Rounded Rectangle 3"/>
          <p:cNvSpPr/>
          <p:nvPr/>
        </p:nvSpPr>
        <p:spPr>
          <a:xfrm>
            <a:off x="548640" y="169164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003648"/>
            <a:ext cx="10725912"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#2  </a:t>
            </a:r>
            <a:r>
              <a:rPr sz="1400" b="1" i="0" dirty="0">
                <a:solidFill>
                  <a:srgbClr val="12233F"/>
                </a:solidFill>
                <a:latin typeface="Calibri"/>
              </a:rPr>
              <a:t>no-</a:t>
            </a:r>
            <a:r>
              <a:rPr sz="1400" b="1" i="0" dirty="0" err="1">
                <a:solidFill>
                  <a:srgbClr val="12233F"/>
                </a:solidFill>
                <a:latin typeface="Calibri"/>
              </a:rPr>
              <a:t>tls</a:t>
            </a:r>
            <a:r>
              <a:rPr sz="1400" b="1" i="0" dirty="0">
                <a:solidFill>
                  <a:srgbClr val="12233F"/>
                </a:solidFill>
                <a:latin typeface="Calibri"/>
              </a:rPr>
              <a:t>-transport</a:t>
            </a:r>
          </a:p>
          <a:p>
            <a:pPr algn="l">
              <a:lnSpc>
                <a:spcPct val="100000"/>
              </a:lnSpc>
            </a:pPr>
            <a:r>
              <a:rPr sz="1200" b="0" i="0" dirty="0">
                <a:solidFill>
                  <a:srgbClr val="1B2A3A"/>
                </a:solidFill>
                <a:latin typeface="Calibri"/>
              </a:rPr>
              <a:t>Plain http on a public host </a:t>
            </a:r>
            <a:r>
              <a:rPr lang="en-US" sz="1200" b="0" i="0" dirty="0">
                <a:solidFill>
                  <a:srgbClr val="1B2A3A"/>
                </a:solidFill>
                <a:latin typeface="Calibri"/>
              </a:rPr>
              <a:t>-</a:t>
            </a:r>
            <a:r>
              <a:rPr sz="1200" b="0" i="0" dirty="0">
                <a:solidFill>
                  <a:srgbClr val="1B2A3A"/>
                </a:solidFill>
                <a:latin typeface="Calibri"/>
              </a:rPr>
              <a:t> or https whose certificate is expired, self-signed, or for the wrong name. Either way the traffic isn't really protected and a token would travel exposed.</a:t>
            </a:r>
          </a:p>
        </p:txBody>
      </p:sp>
      <p:sp>
        <p:nvSpPr>
          <p:cNvPr id="6" name="Rounded Rectangle 5"/>
          <p:cNvSpPr/>
          <p:nvPr/>
        </p:nvSpPr>
        <p:spPr>
          <a:xfrm>
            <a:off x="548640" y="3127248"/>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531589"/>
            <a:ext cx="10725912" cy="425758"/>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#3  </a:t>
            </a:r>
            <a:r>
              <a:rPr sz="1400" b="1" i="0" dirty="0">
                <a:solidFill>
                  <a:srgbClr val="12233F"/>
                </a:solidFill>
                <a:latin typeface="Calibri"/>
              </a:rPr>
              <a:t>missing-www-authenticate</a:t>
            </a:r>
          </a:p>
          <a:p>
            <a:pPr algn="l">
              <a:lnSpc>
                <a:spcPct val="100000"/>
              </a:lnSpc>
            </a:pPr>
            <a:r>
              <a:rPr sz="1200" b="0" i="0" dirty="0">
                <a:solidFill>
                  <a:srgbClr val="1B2A3A"/>
                </a:solidFill>
                <a:latin typeface="Calibri"/>
              </a:rPr>
              <a:t>When a server correctly says 401 “log in first”, it must also say WHERE </a:t>
            </a:r>
            <a:r>
              <a:rPr lang="en-US" sz="1200" b="0" i="0" dirty="0">
                <a:solidFill>
                  <a:srgbClr val="1B2A3A"/>
                </a:solidFill>
                <a:latin typeface="Calibri"/>
              </a:rPr>
              <a:t>-</a:t>
            </a:r>
            <a:r>
              <a:rPr sz="1200" b="0" i="0" dirty="0">
                <a:solidFill>
                  <a:srgbClr val="1B2A3A"/>
                </a:solidFill>
                <a:latin typeface="Calibri"/>
              </a:rPr>
              <a:t> a header pointing at its login-info page. Many just say “no” and leave the client stuck.</a:t>
            </a:r>
          </a:p>
        </p:txBody>
      </p:sp>
      <p:sp>
        <p:nvSpPr>
          <p:cNvPr id="8" name="Rounded Rectangle 7"/>
          <p:cNvSpPr/>
          <p:nvPr/>
        </p:nvSpPr>
        <p:spPr>
          <a:xfrm>
            <a:off x="548640" y="4562856"/>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967197"/>
            <a:ext cx="10725912" cy="425758"/>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#5  </a:t>
            </a:r>
            <a:r>
              <a:rPr sz="1400" b="1" i="0" dirty="0">
                <a:solidFill>
                  <a:srgbClr val="12233F"/>
                </a:solidFill>
                <a:latin typeface="Calibri"/>
              </a:rPr>
              <a:t>session-id-in-</a:t>
            </a:r>
            <a:r>
              <a:rPr sz="1400" b="1" i="0" dirty="0" err="1">
                <a:solidFill>
                  <a:srgbClr val="12233F"/>
                </a:solidFill>
                <a:latin typeface="Calibri"/>
              </a:rPr>
              <a:t>url</a:t>
            </a:r>
            <a:endParaRPr sz="1400" b="1" i="0" dirty="0">
              <a:solidFill>
                <a:srgbClr val="12233F"/>
              </a:solidFill>
              <a:latin typeface="Calibri"/>
            </a:endParaRPr>
          </a:p>
          <a:p>
            <a:pPr algn="l">
              <a:lnSpc>
                <a:spcPct val="100000"/>
              </a:lnSpc>
            </a:pPr>
            <a:r>
              <a:rPr sz="1200" b="0" i="0" dirty="0">
                <a:solidFill>
                  <a:srgbClr val="1B2A3A"/>
                </a:solidFill>
                <a:latin typeface="Calibri"/>
              </a:rPr>
              <a:t>Is the session tag placed in the web address instead of a header? URLs end up in server logs, browser history and the </a:t>
            </a:r>
            <a:r>
              <a:rPr sz="1200" b="0" i="0" dirty="0" err="1">
                <a:solidFill>
                  <a:srgbClr val="1B2A3A"/>
                </a:solidFill>
                <a:latin typeface="Calibri"/>
              </a:rPr>
              <a:t>Referer</a:t>
            </a:r>
            <a:r>
              <a:rPr sz="1200" b="0" i="0" dirty="0">
                <a:solidFill>
                  <a:srgbClr val="1B2A3A"/>
                </a:solidFill>
                <a:latin typeface="Calibri"/>
              </a:rPr>
              <a:t> header </a:t>
            </a:r>
            <a:r>
              <a:rPr lang="en-US" sz="1200" b="0" i="0" dirty="0">
                <a:solidFill>
                  <a:srgbClr val="1B2A3A"/>
                </a:solidFill>
                <a:latin typeface="Calibri"/>
              </a:rPr>
              <a:t>-</a:t>
            </a:r>
            <a:r>
              <a:rPr sz="1200" b="0" i="0" dirty="0">
                <a:solidFill>
                  <a:srgbClr val="1B2A3A"/>
                </a:solidFill>
                <a:latin typeface="Calibri"/>
              </a:rPr>
              <a:t> so the tag leaks.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3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the login: the two public pages (#4, #10)</a:t>
            </a:r>
          </a:p>
        </p:txBody>
      </p:sp>
      <p:sp>
        <p:nvSpPr>
          <p:cNvPr id="4" name="TextBox 3"/>
          <p:cNvSpPr txBox="1"/>
          <p:nvPr/>
        </p:nvSpPr>
        <p:spPr>
          <a:xfrm>
            <a:off x="548640" y="1645920"/>
            <a:ext cx="11091672" cy="640080"/>
          </a:xfrm>
          <a:prstGeom prst="rect">
            <a:avLst/>
          </a:prstGeom>
          <a:noFill/>
        </p:spPr>
        <p:txBody>
          <a:bodyPr wrap="square" lIns="0" tIns="0" rIns="0" bIns="0" anchor="t">
            <a:spAutoFit/>
          </a:bodyPr>
          <a:lstStyle/>
          <a:p>
            <a:pPr algn="l">
              <a:lnSpc>
                <a:spcPct val="105000"/>
              </a:lnSpc>
            </a:pPr>
            <a:r>
              <a:rPr sz="1500" b="0" i="0">
                <a:solidFill>
                  <a:srgbClr val="1B2A3A"/>
                </a:solidFill>
                <a:latin typeface="Calibri"/>
              </a:rPr>
              <a:t>Getting into a protected server needs two hops: the MCP server's page says </a:t>
            </a:r>
            <a:r>
              <a:rPr sz="1500" b="0" i="1">
                <a:solidFill>
                  <a:srgbClr val="1B2A3A"/>
                </a:solidFill>
                <a:latin typeface="Calibri"/>
              </a:rPr>
              <a:t>where</a:t>
            </a:r>
            <a:r>
              <a:rPr sz="1500" b="0" i="0">
                <a:solidFill>
                  <a:srgbClr val="1B2A3A"/>
                </a:solidFill>
                <a:latin typeface="Calibri"/>
              </a:rPr>
              <a:t> to log in (PRM); that login server's own page describes </a:t>
            </a:r>
            <a:r>
              <a:rPr sz="1500" b="0" i="1">
                <a:solidFill>
                  <a:srgbClr val="1B2A3A"/>
                </a:solidFill>
                <a:latin typeface="Calibri"/>
              </a:rPr>
              <a:t>itself</a:t>
            </a:r>
            <a:r>
              <a:rPr sz="1500" b="0" i="0">
                <a:solidFill>
                  <a:srgbClr val="1B2A3A"/>
                </a:solidFill>
                <a:latin typeface="Calibri"/>
              </a:rPr>
              <a:t> (AS metadata). Two pages, because they're often run by different companies.</a:t>
            </a:r>
          </a:p>
        </p:txBody>
      </p:sp>
      <p:sp>
        <p:nvSpPr>
          <p:cNvPr id="5" name="Rounded Rectangle 4"/>
          <p:cNvSpPr/>
          <p:nvPr/>
        </p:nvSpPr>
        <p:spPr>
          <a:xfrm>
            <a:off x="548640" y="2514600"/>
            <a:ext cx="11091672" cy="118872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896081"/>
            <a:ext cx="10725912" cy="425758"/>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#4  </a:t>
            </a:r>
            <a:r>
              <a:rPr sz="1400" b="1" i="0" dirty="0">
                <a:solidFill>
                  <a:srgbClr val="12233F"/>
                </a:solidFill>
                <a:latin typeface="Calibri"/>
              </a:rPr>
              <a:t>missing-protected-resource-metadata</a:t>
            </a:r>
          </a:p>
          <a:p>
            <a:pPr algn="l">
              <a:lnSpc>
                <a:spcPct val="100000"/>
              </a:lnSpc>
            </a:pPr>
            <a:r>
              <a:rPr sz="1200" b="0" i="0" dirty="0">
                <a:solidFill>
                  <a:srgbClr val="1B2A3A"/>
                </a:solidFill>
                <a:latin typeface="Calibri"/>
              </a:rPr>
              <a:t>Does the login-info page exist and name a login server? The address is built by inserting a well-known path segment before the server's own</a:t>
            </a:r>
            <a:r>
              <a:rPr lang="en-US" sz="1200" b="0" i="0" dirty="0">
                <a:solidFill>
                  <a:srgbClr val="1B2A3A"/>
                </a:solidFill>
                <a:latin typeface="Calibri"/>
              </a:rPr>
              <a:t> path</a:t>
            </a:r>
            <a:endParaRPr sz="1200" b="0" i="0" dirty="0">
              <a:solidFill>
                <a:srgbClr val="1B2A3A"/>
              </a:solidFill>
              <a:latin typeface="Calibri"/>
            </a:endParaRPr>
          </a:p>
        </p:txBody>
      </p:sp>
      <p:sp>
        <p:nvSpPr>
          <p:cNvPr id="7" name="Rounded Rectangle 6"/>
          <p:cNvSpPr/>
          <p:nvPr/>
        </p:nvSpPr>
        <p:spPr>
          <a:xfrm>
            <a:off x="548640" y="3904487"/>
            <a:ext cx="11091672" cy="118872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85968"/>
            <a:ext cx="10725912" cy="425758"/>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#10  </a:t>
            </a:r>
            <a:r>
              <a:rPr sz="1400" b="1" i="0" dirty="0">
                <a:solidFill>
                  <a:srgbClr val="12233F"/>
                </a:solidFill>
                <a:latin typeface="Calibri"/>
              </a:rPr>
              <a:t>missing-as-metadata</a:t>
            </a:r>
          </a:p>
          <a:p>
            <a:pPr algn="l">
              <a:lnSpc>
                <a:spcPct val="100000"/>
              </a:lnSpc>
            </a:pPr>
            <a:r>
              <a:rPr sz="1200" b="0" i="0" dirty="0">
                <a:solidFill>
                  <a:srgbClr val="1B2A3A"/>
                </a:solidFill>
                <a:latin typeface="Calibri"/>
              </a:rPr>
              <a:t>Does the login server publish its own description, and does it correctly name itself? </a:t>
            </a:r>
            <a:r>
              <a:rPr lang="en-US" sz="1200" b="0" i="0" dirty="0">
                <a:solidFill>
                  <a:srgbClr val="1B2A3A"/>
                </a:solidFill>
                <a:latin typeface="Calibri"/>
              </a:rPr>
              <a:t>(</a:t>
            </a:r>
            <a:r>
              <a:rPr sz="1200" b="0" i="0" dirty="0">
                <a:solidFill>
                  <a:srgbClr val="1B2A3A"/>
                </a:solidFill>
                <a:latin typeface="Calibri"/>
              </a:rPr>
              <a:t>A page claiming to belong to someone else must not be trusted</a:t>
            </a:r>
            <a:r>
              <a:rPr lang="en-US" sz="1200" b="0" i="0" dirty="0">
                <a:solidFill>
                  <a:srgbClr val="1B2A3A"/>
                </a:solidFill>
                <a:latin typeface="Calibri"/>
              </a:rPr>
              <a:t>)</a:t>
            </a:r>
            <a:endParaRPr sz="1200" b="0" i="0" dirty="0">
              <a:solidFill>
                <a:srgbClr val="1B2A3A"/>
              </a:solidFill>
              <a:latin typeface="Calibri"/>
            </a:endParaRPr>
          </a:p>
        </p:txBody>
      </p:sp>
      <p:sp>
        <p:nvSpPr>
          <p:cNvPr id="9" name="Rounded Rectangle 8"/>
          <p:cNvSpPr/>
          <p:nvPr/>
        </p:nvSpPr>
        <p:spPr>
          <a:xfrm>
            <a:off x="548640" y="5349240"/>
            <a:ext cx="11091672" cy="5486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5523532"/>
            <a:ext cx="10543032" cy="200055"/>
          </a:xfrm>
          <a:prstGeom prst="rect">
            <a:avLst/>
          </a:prstGeom>
          <a:noFill/>
        </p:spPr>
        <p:txBody>
          <a:bodyPr wrap="square" lIns="0" tIns="0" rIns="0" bIns="0" anchor="ctr">
            <a:spAutoFit/>
          </a:bodyPr>
          <a:lstStyle/>
          <a:p>
            <a:pPr algn="l"/>
            <a:r>
              <a:rPr sz="1300" b="0" i="1" dirty="0">
                <a:solidFill>
                  <a:srgbClr val="5C6B7A"/>
                </a:solidFill>
                <a:latin typeface="Calibri"/>
              </a:rPr>
              <a:t>These share one lookup, fetched once at the start </a:t>
            </a:r>
            <a:r>
              <a:rPr lang="en-US" sz="1300" b="0" i="1" dirty="0">
                <a:solidFill>
                  <a:srgbClr val="5C6B7A"/>
                </a:solidFill>
                <a:latin typeface="Calibri"/>
              </a:rPr>
              <a:t>-</a:t>
            </a:r>
            <a:r>
              <a:rPr sz="1300" b="0" i="1" dirty="0">
                <a:solidFill>
                  <a:srgbClr val="5C6B7A"/>
                </a:solidFill>
                <a:latin typeface="Calibri"/>
              </a:rPr>
              <a:t> so #4, #9, #10, #11 and #14 all reason about the same copy.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4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Session and browser defences (#6, #7, #8)</a:t>
            </a:r>
          </a:p>
        </p:txBody>
      </p:sp>
      <p:sp>
        <p:nvSpPr>
          <p:cNvPr id="4" name="Rounded Rectangle 3"/>
          <p:cNvSpPr/>
          <p:nvPr/>
        </p:nvSpPr>
        <p:spPr>
          <a:xfrm>
            <a:off x="548640" y="1691640"/>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003648"/>
            <a:ext cx="10725912"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#6  </a:t>
            </a:r>
            <a:r>
              <a:rPr sz="1400" b="1" i="0" dirty="0">
                <a:solidFill>
                  <a:srgbClr val="12233F"/>
                </a:solidFill>
                <a:latin typeface="Calibri"/>
              </a:rPr>
              <a:t>predictable-session-id</a:t>
            </a:r>
          </a:p>
          <a:p>
            <a:pPr algn="l">
              <a:lnSpc>
                <a:spcPct val="100000"/>
              </a:lnSpc>
            </a:pPr>
            <a:r>
              <a:rPr sz="1200" b="0" i="0" dirty="0">
                <a:solidFill>
                  <a:srgbClr val="1B2A3A"/>
                </a:solidFill>
                <a:latin typeface="Calibri"/>
              </a:rPr>
              <a:t>Open several sessions and compare the tags. Counting up, identical, or too little randomness = guessable. Key idea: length is not entropy </a:t>
            </a:r>
            <a:r>
              <a:rPr lang="en-US" sz="1200" b="0" i="0" dirty="0">
                <a:solidFill>
                  <a:srgbClr val="1B2A3A"/>
                </a:solidFill>
                <a:latin typeface="Calibri"/>
              </a:rPr>
              <a:t>-</a:t>
            </a:r>
            <a:r>
              <a:rPr sz="1200" b="0" i="0" dirty="0">
                <a:solidFill>
                  <a:srgbClr val="1B2A3A"/>
                </a:solidFill>
                <a:latin typeface="Calibri"/>
              </a:rPr>
              <a:t> a 15-char random token beats a 16-digit counter.</a:t>
            </a:r>
          </a:p>
        </p:txBody>
      </p:sp>
      <p:sp>
        <p:nvSpPr>
          <p:cNvPr id="6" name="Rounded Rectangle 5"/>
          <p:cNvSpPr/>
          <p:nvPr/>
        </p:nvSpPr>
        <p:spPr>
          <a:xfrm>
            <a:off x="548640" y="3127248"/>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39256"/>
            <a:ext cx="10725912"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#7  </a:t>
            </a:r>
            <a:r>
              <a:rPr sz="1400" b="1" i="0" dirty="0">
                <a:solidFill>
                  <a:srgbClr val="12233F"/>
                </a:solidFill>
                <a:latin typeface="Calibri"/>
              </a:rPr>
              <a:t>origin-not-validated</a:t>
            </a:r>
          </a:p>
          <a:p>
            <a:pPr algn="l">
              <a:lnSpc>
                <a:spcPct val="100000"/>
              </a:lnSpc>
            </a:pPr>
            <a:r>
              <a:rPr sz="1200" b="0" i="0" dirty="0">
                <a:solidFill>
                  <a:srgbClr val="1B2A3A"/>
                </a:solidFill>
                <a:latin typeface="Calibri"/>
              </a:rPr>
              <a:t>Send a request with a forged Origin. A refusal only counts if a no-Origin control is accepted </a:t>
            </a:r>
            <a:r>
              <a:rPr lang="en-US" sz="1200" b="0" i="0" dirty="0">
                <a:solidFill>
                  <a:srgbClr val="1B2A3A"/>
                </a:solidFill>
                <a:latin typeface="Calibri"/>
              </a:rPr>
              <a:t>-</a:t>
            </a:r>
            <a:r>
              <a:rPr sz="1200" b="0" i="0" dirty="0">
                <a:solidFill>
                  <a:srgbClr val="1B2A3A"/>
                </a:solidFill>
                <a:latin typeface="Calibri"/>
              </a:rPr>
              <a:t> otherwise the server just refuses everything. Guards against DNS-rebinding, mainly a threat to local servers.</a:t>
            </a:r>
          </a:p>
        </p:txBody>
      </p:sp>
      <p:sp>
        <p:nvSpPr>
          <p:cNvPr id="8" name="Rounded Rectangle 7"/>
          <p:cNvSpPr/>
          <p:nvPr/>
        </p:nvSpPr>
        <p:spPr>
          <a:xfrm>
            <a:off x="548640" y="4562856"/>
            <a:ext cx="11091672" cy="123444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874864"/>
            <a:ext cx="10122747"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#8  </a:t>
            </a:r>
            <a:r>
              <a:rPr sz="1400" b="1" i="0" dirty="0" err="1">
                <a:solidFill>
                  <a:srgbClr val="12233F"/>
                </a:solidFill>
                <a:latin typeface="Calibri"/>
              </a:rPr>
              <a:t>cors</a:t>
            </a:r>
            <a:r>
              <a:rPr sz="1400" b="1" i="0" dirty="0">
                <a:solidFill>
                  <a:srgbClr val="12233F"/>
                </a:solidFill>
                <a:latin typeface="Calibri"/>
              </a:rPr>
              <a:t>-misconfiguration</a:t>
            </a:r>
          </a:p>
          <a:p>
            <a:pPr algn="l">
              <a:lnSpc>
                <a:spcPct val="100000"/>
              </a:lnSpc>
            </a:pPr>
            <a:r>
              <a:rPr sz="1200" b="0" i="0" dirty="0">
                <a:solidFill>
                  <a:srgbClr val="1B2A3A"/>
                </a:solidFill>
                <a:latin typeface="Calibri"/>
              </a:rPr>
              <a:t>Does it tell browsers “any website may call me” and “you may send credentials”? Not an MCP rule </a:t>
            </a:r>
            <a:r>
              <a:rPr lang="en-US" sz="1200" b="0" i="0" dirty="0">
                <a:solidFill>
                  <a:srgbClr val="1B2A3A"/>
                </a:solidFill>
                <a:latin typeface="Calibri"/>
              </a:rPr>
              <a:t>-</a:t>
            </a:r>
            <a:r>
              <a:rPr sz="1200" b="0" i="0" dirty="0">
                <a:solidFill>
                  <a:srgbClr val="1B2A3A"/>
                </a:solidFill>
                <a:latin typeface="Calibri"/>
              </a:rPr>
              <a:t> reported as general web security, and only relevant if a browser is involved.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5 OF 6</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OAuth hygiene in the published metadata (#9, #11)</a:t>
            </a:r>
          </a:p>
        </p:txBody>
      </p:sp>
      <p:sp>
        <p:nvSpPr>
          <p:cNvPr id="4" name="Rounded Rectangle 3"/>
          <p:cNvSpPr/>
          <p:nvPr/>
        </p:nvSpPr>
        <p:spPr>
          <a:xfrm>
            <a:off x="548640" y="173736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17948"/>
            <a:ext cx="10725912"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#9  </a:t>
            </a:r>
            <a:r>
              <a:rPr sz="1400" b="1" i="0" dirty="0">
                <a:solidFill>
                  <a:srgbClr val="12233F"/>
                </a:solidFill>
                <a:latin typeface="Calibri"/>
              </a:rPr>
              <a:t>auth-endpoints-not-https</a:t>
            </a:r>
          </a:p>
          <a:p>
            <a:pPr algn="l">
              <a:lnSpc>
                <a:spcPct val="100000"/>
              </a:lnSpc>
            </a:pPr>
            <a:r>
              <a:rPr sz="1200" b="0" i="0" dirty="0">
                <a:solidFill>
                  <a:srgbClr val="1B2A3A"/>
                </a:solidFill>
                <a:latin typeface="Calibri"/>
              </a:rPr>
              <a:t>Among the login addresses the server publishes, is any on plain http on a public host? Tokens would travel in the clear. Reads the shared lookup </a:t>
            </a:r>
            <a:r>
              <a:rPr lang="en-US" sz="1200" b="0" i="0" dirty="0">
                <a:solidFill>
                  <a:srgbClr val="1B2A3A"/>
                </a:solidFill>
                <a:latin typeface="Calibri"/>
              </a:rPr>
              <a:t>-</a:t>
            </a:r>
            <a:r>
              <a:rPr sz="1200" b="0" i="0" dirty="0">
                <a:solidFill>
                  <a:srgbClr val="1B2A3A"/>
                </a:solidFill>
                <a:latin typeface="Calibri"/>
              </a:rPr>
              <a:t> it makes no request of its own.</a:t>
            </a:r>
          </a:p>
        </p:txBody>
      </p:sp>
      <p:sp>
        <p:nvSpPr>
          <p:cNvPr id="6" name="Rounded Rectangle 5"/>
          <p:cNvSpPr/>
          <p:nvPr/>
        </p:nvSpPr>
        <p:spPr>
          <a:xfrm>
            <a:off x="548640" y="338328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643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#11  </a:t>
            </a:r>
            <a:r>
              <a:rPr sz="1400" b="1" i="0">
                <a:solidFill>
                  <a:srgbClr val="12233F"/>
                </a:solidFill>
                <a:latin typeface="Calibri"/>
              </a:rPr>
              <a:t>implicit-flow-enabled</a:t>
            </a:r>
          </a:p>
          <a:p>
            <a:pPr algn="l">
              <a:lnSpc>
                <a:spcPct val="100000"/>
              </a:lnSpc>
            </a:pPr>
            <a:r>
              <a:rPr sz="1200" b="0" i="0">
                <a:solidFill>
                  <a:srgbClr val="1B2A3A"/>
                </a:solidFill>
                <a:latin typeface="Calibri"/>
              </a:rPr>
              <a:t>Does the login server still advertise the old “implicit” flow, which delivered the token inside the web address (where it leaks)? OAuth 2.1 removed it in favour of the authorization-code flow.</a:t>
            </a:r>
          </a:p>
        </p:txBody>
      </p:sp>
      <p:sp>
        <p:nvSpPr>
          <p:cNvPr id="8" name="Rounded Rectangle 7"/>
          <p:cNvSpPr/>
          <p:nvPr/>
        </p:nvSpPr>
        <p:spPr>
          <a:xfrm>
            <a:off x="548640" y="4937760"/>
            <a:ext cx="11091672" cy="9144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5173328"/>
            <a:ext cx="10543032" cy="443263"/>
          </a:xfrm>
          <a:prstGeom prst="rect">
            <a:avLst/>
          </a:prstGeom>
          <a:noFill/>
        </p:spPr>
        <p:txBody>
          <a:bodyPr wrap="square" lIns="0" tIns="0" rIns="0" bIns="0" anchor="ctr">
            <a:spAutoFit/>
          </a:bodyPr>
          <a:lstStyle/>
          <a:p>
            <a:pPr algn="l">
              <a:lnSpc>
                <a:spcPct val="105000"/>
              </a:lnSpc>
            </a:pPr>
            <a:r>
              <a:rPr sz="1400" b="0" i="0" dirty="0">
                <a:solidFill>
                  <a:srgbClr val="1B2A3A"/>
                </a:solidFill>
                <a:latin typeface="Calibri"/>
              </a:rPr>
              <a:t>Both read only what the login server already published </a:t>
            </a:r>
            <a:r>
              <a:rPr lang="en-US" sz="1400" b="0" i="0" dirty="0">
                <a:solidFill>
                  <a:srgbClr val="1B2A3A"/>
                </a:solidFill>
                <a:latin typeface="Calibri"/>
              </a:rPr>
              <a:t>-</a:t>
            </a:r>
            <a:r>
              <a:rPr sz="1400" b="0" i="0" dirty="0">
                <a:solidFill>
                  <a:srgbClr val="1B2A3A"/>
                </a:solidFill>
                <a:latin typeface="Calibri"/>
              </a:rPr>
              <a:t> no extra traffic. #11 splits space-delimited response types, so a combined value like “</a:t>
            </a:r>
            <a:r>
              <a:rPr sz="1400" b="0" i="0" dirty="0" err="1">
                <a:solidFill>
                  <a:srgbClr val="1B2A3A"/>
                </a:solidFill>
                <a:latin typeface="Calibri"/>
              </a:rPr>
              <a:t>id_token</a:t>
            </a:r>
            <a:r>
              <a:rPr sz="1400" b="0" i="0" dirty="0">
                <a:solidFill>
                  <a:srgbClr val="1B2A3A"/>
                </a:solidFill>
                <a:latin typeface="Calibri"/>
              </a:rPr>
              <a:t> token” is correctly caught as offering the implicit grant.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THE CHECKS · 6 OF 6</a:t>
            </a:r>
          </a:p>
        </p:txBody>
      </p:sp>
      <p:sp>
        <p:nvSpPr>
          <p:cNvPr id="3" name="TextBox 2"/>
          <p:cNvSpPr txBox="1"/>
          <p:nvPr/>
        </p:nvSpPr>
        <p:spPr>
          <a:xfrm>
            <a:off x="548640" y="658368"/>
            <a:ext cx="11091672" cy="430887"/>
          </a:xfrm>
          <a:prstGeom prst="rect">
            <a:avLst/>
          </a:prstGeom>
          <a:noFill/>
        </p:spPr>
        <p:txBody>
          <a:bodyPr wrap="square" lIns="0" tIns="0" rIns="0" bIns="0" anchor="t">
            <a:spAutoFit/>
          </a:bodyPr>
          <a:lstStyle/>
          <a:p>
            <a:pPr algn="l"/>
            <a:r>
              <a:rPr sz="2800" b="1" i="0" dirty="0">
                <a:solidFill>
                  <a:srgbClr val="12233F"/>
                </a:solidFill>
                <a:latin typeface="Calibri"/>
              </a:rPr>
              <a:t>The two checks that write </a:t>
            </a:r>
            <a:r>
              <a:rPr lang="en-US" sz="2800" b="1" i="0" dirty="0">
                <a:solidFill>
                  <a:srgbClr val="12233F"/>
                </a:solidFill>
                <a:latin typeface="Calibri"/>
              </a:rPr>
              <a:t>-</a:t>
            </a:r>
            <a:r>
              <a:rPr sz="2800" b="1" i="0" dirty="0">
                <a:solidFill>
                  <a:srgbClr val="12233F"/>
                </a:solidFill>
                <a:latin typeface="Calibri"/>
              </a:rPr>
              <a:t> off by default (#12, #14)</a:t>
            </a:r>
          </a:p>
        </p:txBody>
      </p:sp>
      <p:sp>
        <p:nvSpPr>
          <p:cNvPr id="4" name="Rounded Rectangle 3"/>
          <p:cNvSpPr/>
          <p:nvPr/>
        </p:nvSpPr>
        <p:spPr>
          <a:xfrm>
            <a:off x="548640" y="173736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17948"/>
            <a:ext cx="10725912" cy="610424"/>
          </a:xfrm>
          <a:prstGeom prst="rect">
            <a:avLst/>
          </a:prstGeom>
          <a:noFill/>
        </p:spPr>
        <p:txBody>
          <a:bodyPr wrap="square" lIns="0" tIns="0" rIns="0" bIns="0" anchor="ctr">
            <a:spAutoFit/>
          </a:bodyPr>
          <a:lstStyle/>
          <a:p>
            <a:pPr algn="l">
              <a:lnSpc>
                <a:spcPct val="100000"/>
              </a:lnSpc>
              <a:spcAft>
                <a:spcPts val="200"/>
              </a:spcAft>
            </a:pPr>
            <a:r>
              <a:rPr sz="1400" b="1" i="0" dirty="0">
                <a:solidFill>
                  <a:srgbClr val="1C7293"/>
                </a:solidFill>
                <a:latin typeface="Calibri"/>
              </a:rPr>
              <a:t>#12  </a:t>
            </a:r>
            <a:r>
              <a:rPr sz="1400" b="1" i="0" dirty="0">
                <a:solidFill>
                  <a:srgbClr val="12233F"/>
                </a:solidFill>
                <a:latin typeface="Calibri"/>
              </a:rPr>
              <a:t>open-</a:t>
            </a:r>
            <a:r>
              <a:rPr sz="1400" b="1" i="0" dirty="0" err="1">
                <a:solidFill>
                  <a:srgbClr val="12233F"/>
                </a:solidFill>
                <a:latin typeface="Calibri"/>
              </a:rPr>
              <a:t>dcr</a:t>
            </a:r>
            <a:endParaRPr sz="1400" b="1" i="0" dirty="0">
              <a:solidFill>
                <a:srgbClr val="12233F"/>
              </a:solidFill>
              <a:latin typeface="Calibri"/>
            </a:endParaRPr>
          </a:p>
          <a:p>
            <a:pPr algn="l">
              <a:lnSpc>
                <a:spcPct val="100000"/>
              </a:lnSpc>
            </a:pPr>
            <a:r>
              <a:rPr sz="1200" b="0" i="0" dirty="0">
                <a:solidFill>
                  <a:srgbClr val="1B2A3A"/>
                </a:solidFill>
                <a:latin typeface="Calibri"/>
              </a:rPr>
              <a:t>Can anyone register an OAuth client with no approval? It sends a real registration, so it writes. Open registration is permitted by the rules </a:t>
            </a:r>
            <a:r>
              <a:rPr lang="en-US" sz="1200" b="0" i="0" dirty="0">
                <a:solidFill>
                  <a:srgbClr val="1B2A3A"/>
                </a:solidFill>
                <a:latin typeface="Calibri"/>
              </a:rPr>
              <a:t>-</a:t>
            </a:r>
            <a:r>
              <a:rPr sz="1200" b="0" i="0" dirty="0">
                <a:solidFill>
                  <a:srgbClr val="1B2A3A"/>
                </a:solidFill>
                <a:latin typeface="Calibri"/>
              </a:rPr>
              <a:t> reported as posture, because it is the foothold a bigger attack needs.</a:t>
            </a:r>
          </a:p>
        </p:txBody>
      </p:sp>
      <p:sp>
        <p:nvSpPr>
          <p:cNvPr id="6" name="Rounded Rectangle 5"/>
          <p:cNvSpPr/>
          <p:nvPr/>
        </p:nvSpPr>
        <p:spPr>
          <a:xfrm>
            <a:off x="548640" y="3383280"/>
            <a:ext cx="11091672" cy="137160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6432"/>
            <a:ext cx="10725912" cy="1225296"/>
          </a:xfrm>
          <a:prstGeom prst="rect">
            <a:avLst/>
          </a:prstGeom>
          <a:noFill/>
        </p:spPr>
        <p:txBody>
          <a:bodyPr wrap="square" lIns="0" tIns="0" rIns="0" bIns="0" anchor="ctr">
            <a:spAutoFit/>
          </a:bodyPr>
          <a:lstStyle/>
          <a:p>
            <a:pPr algn="l">
              <a:lnSpc>
                <a:spcPct val="100000"/>
              </a:lnSpc>
              <a:spcAft>
                <a:spcPts val="200"/>
              </a:spcAft>
            </a:pPr>
            <a:r>
              <a:rPr sz="1400" b="1" i="0">
                <a:solidFill>
                  <a:srgbClr val="1C7293"/>
                </a:solidFill>
                <a:latin typeface="Calibri"/>
              </a:rPr>
              <a:t>#14  </a:t>
            </a:r>
            <a:r>
              <a:rPr sz="1400" b="1" i="0">
                <a:solidFill>
                  <a:srgbClr val="12233F"/>
                </a:solidFill>
                <a:latin typeface="Calibri"/>
              </a:rPr>
              <a:t>improper-redirect-uri-validation</a:t>
            </a:r>
          </a:p>
          <a:p>
            <a:pPr algn="l">
              <a:lnSpc>
                <a:spcPct val="100000"/>
              </a:lnSpc>
            </a:pPr>
            <a:r>
              <a:rPr sz="1200" b="0" i="0">
                <a:solidFill>
                  <a:srgbClr val="1B2A3A"/>
                </a:solidFill>
                <a:latin typeface="Calibri"/>
              </a:rPr>
              <a:t>After login, the server returns the user to a registered address carrying the login code. Does it accept an address the client never registered? If so, an attacker can steal the code. Needs a registered client first — so it also writes.</a:t>
            </a:r>
          </a:p>
        </p:txBody>
      </p:sp>
      <p:sp>
        <p:nvSpPr>
          <p:cNvPr id="8" name="Rounded Rectangle 7"/>
          <p:cNvSpPr/>
          <p:nvPr/>
        </p:nvSpPr>
        <p:spPr>
          <a:xfrm>
            <a:off x="548640" y="4937760"/>
            <a:ext cx="11091672" cy="914400"/>
          </a:xfrm>
          <a:prstGeom prst="roundRect">
            <a:avLst>
              <a:gd name="adj" fmla="val 6000"/>
            </a:avLst>
          </a:prstGeom>
          <a:solidFill>
            <a:srgbClr val="FBEFD8"/>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937760"/>
            <a:ext cx="10543032" cy="914400"/>
          </a:xfrm>
          <a:prstGeom prst="rect">
            <a:avLst/>
          </a:prstGeom>
          <a:noFill/>
        </p:spPr>
        <p:txBody>
          <a:bodyPr wrap="square" lIns="0" tIns="0" rIns="0" bIns="0" anchor="ctr">
            <a:spAutoFit/>
          </a:bodyPr>
          <a:lstStyle/>
          <a:p>
            <a:pPr algn="l">
              <a:lnSpc>
                <a:spcPct val="105000"/>
              </a:lnSpc>
            </a:pPr>
            <a:r>
              <a:rPr sz="1400" b="0" i="0">
                <a:solidFill>
                  <a:srgbClr val="1B2A3A"/>
                </a:solidFill>
                <a:latin typeface="Calibri"/>
              </a:rPr>
              <a:t>Both create real state on the server, so they run only when explicitly enabled (--unsafe-writes). Everything created is written to a journal before any attempt to delete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We ran all 14 checks against 83 public servers</a:t>
            </a:r>
          </a:p>
        </p:txBody>
      </p:sp>
      <p:sp>
        <p:nvSpPr>
          <p:cNvPr id="4" name="TextBox 3"/>
          <p:cNvSpPr txBox="1"/>
          <p:nvPr/>
        </p:nvSpPr>
        <p:spPr>
          <a:xfrm>
            <a:off x="548640" y="1737360"/>
            <a:ext cx="11091672" cy="506549"/>
          </a:xfrm>
          <a:prstGeom prst="rect">
            <a:avLst/>
          </a:prstGeom>
          <a:noFill/>
        </p:spPr>
        <p:txBody>
          <a:bodyPr wrap="square" lIns="0" tIns="0" rIns="0" bIns="0" anchor="t">
            <a:spAutoFit/>
          </a:bodyPr>
          <a:lstStyle/>
          <a:p>
            <a:pPr algn="l">
              <a:lnSpc>
                <a:spcPct val="105000"/>
              </a:lnSpc>
            </a:pPr>
            <a:r>
              <a:rPr sz="1600" b="0" i="0" dirty="0">
                <a:solidFill>
                  <a:srgbClr val="1B2A3A"/>
                </a:solidFill>
                <a:latin typeface="Calibri"/>
              </a:rPr>
              <a:t>One consistent scan per server on 2026-09-27 </a:t>
            </a:r>
            <a:r>
              <a:rPr lang="en-US" sz="1600" b="0" i="0" dirty="0">
                <a:solidFill>
                  <a:srgbClr val="1B2A3A"/>
                </a:solidFill>
                <a:latin typeface="Calibri"/>
              </a:rPr>
              <a:t>-</a:t>
            </a:r>
            <a:r>
              <a:rPr sz="1600" b="0" i="0" dirty="0">
                <a:solidFill>
                  <a:srgbClr val="1B2A3A"/>
                </a:solidFill>
                <a:latin typeface="Calibri"/>
              </a:rPr>
              <a:t> one pass, all 14 checks, zero ERROR verdicts. Servers came from the official MCP Registry; the raw request/response for every server is committed.</a:t>
            </a:r>
          </a:p>
        </p:txBody>
      </p:sp>
      <p:sp>
        <p:nvSpPr>
          <p:cNvPr id="5" name="Rounded Rectangle 4"/>
          <p:cNvSpPr/>
          <p:nvPr/>
        </p:nvSpPr>
        <p:spPr>
          <a:xfrm>
            <a:off x="5486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83</a:t>
            </a:r>
          </a:p>
          <a:p>
            <a:pPr algn="ctr">
              <a:spcAft>
                <a:spcPts val="200"/>
              </a:spcAft>
            </a:pPr>
            <a:r>
              <a:rPr sz="1500" b="1" i="0">
                <a:solidFill>
                  <a:srgbClr val="12233F"/>
                </a:solidFill>
                <a:latin typeface="Calibri"/>
              </a:rPr>
              <a:t>servers scanned</a:t>
            </a:r>
          </a:p>
          <a:p>
            <a:pPr algn="ctr"/>
            <a:r>
              <a:rPr sz="1200" b="0" i="0">
                <a:solidFill>
                  <a:srgbClr val="5C6B7A"/>
                </a:solidFill>
                <a:latin typeface="Calibri"/>
              </a:rPr>
              <a:t>one consistent run</a:t>
            </a:r>
          </a:p>
        </p:txBody>
      </p:sp>
      <p:sp>
        <p:nvSpPr>
          <p:cNvPr id="7" name="Rounded Rectangle 6"/>
          <p:cNvSpPr/>
          <p:nvPr/>
        </p:nvSpPr>
        <p:spPr>
          <a:xfrm>
            <a:off x="44348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14</a:t>
            </a:r>
          </a:p>
          <a:p>
            <a:pPr algn="ctr">
              <a:spcAft>
                <a:spcPts val="200"/>
              </a:spcAft>
            </a:pPr>
            <a:r>
              <a:rPr sz="1500" b="1" i="0">
                <a:solidFill>
                  <a:srgbClr val="12233F"/>
                </a:solidFill>
                <a:latin typeface="Calibri"/>
              </a:rPr>
              <a:t>checks each</a:t>
            </a:r>
          </a:p>
          <a:p>
            <a:pPr algn="ctr"/>
            <a:r>
              <a:rPr sz="1200" b="0" i="0">
                <a:solidFill>
                  <a:srgbClr val="5C6B7A"/>
                </a:solidFill>
                <a:latin typeface="Calibri"/>
              </a:rPr>
              <a:t>12 read-only + 2 write</a:t>
            </a:r>
          </a:p>
        </p:txBody>
      </p:sp>
      <p:sp>
        <p:nvSpPr>
          <p:cNvPr id="9" name="Rounded Rectangle 8"/>
          <p:cNvSpPr/>
          <p:nvPr/>
        </p:nvSpPr>
        <p:spPr>
          <a:xfrm>
            <a:off x="8321040" y="3017520"/>
            <a:ext cx="3566160" cy="18288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19" y="3200400"/>
            <a:ext cx="3200400" cy="1463040"/>
          </a:xfrm>
          <a:prstGeom prst="rect">
            <a:avLst/>
          </a:prstGeom>
          <a:noFill/>
        </p:spPr>
        <p:txBody>
          <a:bodyPr wrap="square" lIns="0" tIns="0" rIns="0" bIns="0" anchor="ctr">
            <a:spAutoFit/>
          </a:bodyPr>
          <a:lstStyle/>
          <a:p>
            <a:pPr algn="ctr">
              <a:spcAft>
                <a:spcPts val="200"/>
              </a:spcAft>
            </a:pPr>
            <a:r>
              <a:rPr sz="5400" b="1" i="0">
                <a:solidFill>
                  <a:srgbClr val="1C7293"/>
                </a:solidFill>
                <a:latin typeface="Calibri"/>
              </a:rPr>
              <a:t>0</a:t>
            </a:r>
          </a:p>
          <a:p>
            <a:pPr algn="ctr">
              <a:spcAft>
                <a:spcPts val="200"/>
              </a:spcAft>
            </a:pPr>
            <a:r>
              <a:rPr sz="1500" b="1" i="0">
                <a:solidFill>
                  <a:srgbClr val="12233F"/>
                </a:solidFill>
                <a:latin typeface="Calibri"/>
              </a:rPr>
              <a:t>ERROR verdicts</a:t>
            </a:r>
          </a:p>
          <a:p>
            <a:pPr algn="ctr"/>
            <a:r>
              <a:rPr sz="1200" b="0" i="0">
                <a:solidFill>
                  <a:srgbClr val="5C6B7A"/>
                </a:solidFill>
                <a:latin typeface="Calibri"/>
              </a:rPr>
              <a:t>dead endpoints removed</a:t>
            </a:r>
          </a:p>
        </p:txBody>
      </p:sp>
      <p:sp>
        <p:nvSpPr>
          <p:cNvPr id="11" name="TextBox 10"/>
          <p:cNvSpPr txBox="1"/>
          <p:nvPr/>
        </p:nvSpPr>
        <p:spPr>
          <a:xfrm>
            <a:off x="548640" y="5120640"/>
            <a:ext cx="11091672" cy="215444"/>
          </a:xfrm>
          <a:prstGeom prst="rect">
            <a:avLst/>
          </a:prstGeom>
          <a:noFill/>
        </p:spPr>
        <p:txBody>
          <a:bodyPr wrap="square" lIns="0" tIns="0" rIns="0" bIns="0" anchor="t">
            <a:spAutoFit/>
          </a:bodyPr>
          <a:lstStyle/>
          <a:p>
            <a:pPr algn="l"/>
            <a:r>
              <a:rPr sz="1400" b="0" i="1" dirty="0">
                <a:solidFill>
                  <a:srgbClr val="5C6B7A"/>
                </a:solidFill>
                <a:latin typeface="Calibri"/>
              </a:rPr>
              <a:t>83 is a slice of the registry, not the whole internet </a:t>
            </a:r>
            <a:r>
              <a:rPr lang="en-US" sz="1400" b="0" i="1" dirty="0">
                <a:solidFill>
                  <a:srgbClr val="5C6B7A"/>
                </a:solidFill>
                <a:latin typeface="Calibri"/>
              </a:rPr>
              <a:t>-</a:t>
            </a:r>
            <a:r>
              <a:rPr sz="1400" b="0" i="1" dirty="0">
                <a:solidFill>
                  <a:srgbClr val="5C6B7A"/>
                </a:solidFill>
                <a:latin typeface="Calibri"/>
              </a:rPr>
              <a:t> these are rates within one sample, not internet-wide rates.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The full results</a:t>
            </a:r>
          </a:p>
        </p:txBody>
      </p:sp>
      <p:graphicFrame>
        <p:nvGraphicFramePr>
          <p:cNvPr id="4" name="Table 3"/>
          <p:cNvGraphicFramePr>
            <a:graphicFrameLocks noGrp="1"/>
          </p:cNvGraphicFramePr>
          <p:nvPr/>
        </p:nvGraphicFramePr>
        <p:xfrm>
          <a:off x="548640" y="1600200"/>
          <a:ext cx="10469880" cy="4251960"/>
        </p:xfrm>
        <a:graphic>
          <a:graphicData uri="http://schemas.openxmlformats.org/drawingml/2006/table">
            <a:tbl>
              <a:tblPr>
                <a:tableStyleId>{5C22544A-7EE6-4342-B048-85BDC9FD1C3A}</a:tableStyleId>
              </a:tblPr>
              <a:tblGrid>
                <a:gridCol w="4846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283464">
                <a:tc>
                  <a:txBody>
                    <a:bodyPr/>
                    <a:lstStyle/>
                    <a:p>
                      <a:pPr algn="l"/>
                      <a:r>
                        <a:rPr sz="1100" b="1">
                          <a:solidFill>
                            <a:srgbClr val="FFFFFF"/>
                          </a:solidFill>
                          <a:latin typeface="Calibri"/>
                        </a:rPr>
                        <a:t>Check</a:t>
                      </a:r>
                    </a:p>
                  </a:txBody>
                  <a:tcPr anchor="ctr">
                    <a:solidFill>
                      <a:srgbClr val="12233F"/>
                    </a:solidFill>
                  </a:tcPr>
                </a:tc>
                <a:tc>
                  <a:txBody>
                    <a:bodyPr/>
                    <a:lstStyle/>
                    <a:p>
                      <a:pPr algn="ctr"/>
                      <a:r>
                        <a:rPr sz="1100" b="1">
                          <a:solidFill>
                            <a:srgbClr val="FFFFFF"/>
                          </a:solidFill>
                          <a:latin typeface="Calibri"/>
                        </a:rPr>
                        <a:t>HAS_GAP</a:t>
                      </a:r>
                    </a:p>
                  </a:txBody>
                  <a:tcPr anchor="ctr">
                    <a:solidFill>
                      <a:srgbClr val="12233F"/>
                    </a:solidFill>
                  </a:tcPr>
                </a:tc>
                <a:tc>
                  <a:txBody>
                    <a:bodyPr/>
                    <a:lstStyle/>
                    <a:p>
                      <a:pPr algn="ctr"/>
                      <a:r>
                        <a:rPr sz="1100" b="1">
                          <a:solidFill>
                            <a:srgbClr val="FFFFFF"/>
                          </a:solidFill>
                          <a:latin typeface="Calibri"/>
                        </a:rPr>
                        <a:t>NO_GAP</a:t>
                      </a:r>
                    </a:p>
                  </a:txBody>
                  <a:tcPr anchor="ctr">
                    <a:solidFill>
                      <a:srgbClr val="12233F"/>
                    </a:solidFill>
                  </a:tcPr>
                </a:tc>
                <a:tc>
                  <a:txBody>
                    <a:bodyPr/>
                    <a:lstStyle/>
                    <a:p>
                      <a:pPr algn="ctr"/>
                      <a:r>
                        <a:rPr sz="1100" b="1">
                          <a:solidFill>
                            <a:srgbClr val="FFFFFF"/>
                          </a:solidFill>
                          <a:latin typeface="Calibri"/>
                        </a:rPr>
                        <a:t>N/A</a:t>
                      </a:r>
                    </a:p>
                  </a:txBody>
                  <a:tcPr anchor="ctr">
                    <a:solidFill>
                      <a:srgbClr val="12233F"/>
                    </a:solidFill>
                  </a:tcPr>
                </a:tc>
                <a:tc>
                  <a:txBody>
                    <a:bodyPr/>
                    <a:lstStyle/>
                    <a:p>
                      <a:pPr algn="ctr"/>
                      <a:r>
                        <a:rPr sz="1100" b="1">
                          <a:solidFill>
                            <a:srgbClr val="FFFFFF"/>
                          </a:solidFill>
                          <a:latin typeface="Calibri"/>
                        </a:rPr>
                        <a:t>INC</a:t>
                      </a:r>
                    </a:p>
                  </a:txBody>
                  <a:tcPr anchor="ctr">
                    <a:solidFill>
                      <a:srgbClr val="12233F"/>
                    </a:solidFill>
                  </a:tcPr>
                </a:tc>
                <a:extLst>
                  <a:ext uri="{0D108BD9-81ED-4DB2-BD59-A6C34878D82A}">
                    <a16:rowId xmlns:a16="http://schemas.microsoft.com/office/drawing/2014/main" val="10000"/>
                  </a:ext>
                </a:extLst>
              </a:tr>
              <a:tr h="283464">
                <a:tc>
                  <a:txBody>
                    <a:bodyPr/>
                    <a:lstStyle/>
                    <a:p>
                      <a:pPr algn="l"/>
                      <a:r>
                        <a:rPr sz="1050" b="1">
                          <a:solidFill>
                            <a:srgbClr val="1B2A3A"/>
                          </a:solidFill>
                          <a:latin typeface="Calibri"/>
                        </a:rPr>
                        <a:t>#1 no-authentication-remote</a:t>
                      </a:r>
                    </a:p>
                  </a:txBody>
                  <a:tcPr marT="12700" marB="12700" anchor="ctr">
                    <a:solidFill>
                      <a:srgbClr val="FFFFFF"/>
                    </a:solidFill>
                  </a:tcPr>
                </a:tc>
                <a:tc>
                  <a:txBody>
                    <a:bodyPr/>
                    <a:lstStyle/>
                    <a:p>
                      <a:pPr algn="ctr"/>
                      <a:r>
                        <a:rPr sz="1050" b="1">
                          <a:solidFill>
                            <a:srgbClr val="B23A3A"/>
                          </a:solidFill>
                          <a:latin typeface="Calibri"/>
                        </a:rPr>
                        <a:t>28</a:t>
                      </a:r>
                    </a:p>
                  </a:txBody>
                  <a:tcPr marT="12700" marB="12700" anchor="ctr">
                    <a:solidFill>
                      <a:srgbClr val="FFFFFF"/>
                    </a:solidFill>
                  </a:tcPr>
                </a:tc>
                <a:tc>
                  <a:txBody>
                    <a:bodyPr/>
                    <a:lstStyle/>
                    <a:p>
                      <a:pPr algn="ctr"/>
                      <a:r>
                        <a:rPr sz="1050" b="0">
                          <a:solidFill>
                            <a:srgbClr val="1B2A3A"/>
                          </a:solidFill>
                          <a:latin typeface="Calibri"/>
                        </a:rPr>
                        <a:t>42</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13</a:t>
                      </a:r>
                    </a:p>
                  </a:txBody>
                  <a:tcPr marT="12700" marB="12700" anchor="ctr">
                    <a:solidFill>
                      <a:srgbClr val="FFFFFF"/>
                    </a:solidFill>
                  </a:tcPr>
                </a:tc>
                <a:extLst>
                  <a:ext uri="{0D108BD9-81ED-4DB2-BD59-A6C34878D82A}">
                    <a16:rowId xmlns:a16="http://schemas.microsoft.com/office/drawing/2014/main" val="10001"/>
                  </a:ext>
                </a:extLst>
              </a:tr>
              <a:tr h="283464">
                <a:tc>
                  <a:txBody>
                    <a:bodyPr/>
                    <a:lstStyle/>
                    <a:p>
                      <a:pPr algn="l"/>
                      <a:r>
                        <a:rPr sz="1050" b="0">
                          <a:solidFill>
                            <a:srgbClr val="1B2A3A"/>
                          </a:solidFill>
                          <a:latin typeface="Calibri"/>
                        </a:rPr>
                        <a:t>#2 no-tls-transport</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82</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a:t>
                      </a:r>
                    </a:p>
                  </a:txBody>
                  <a:tcPr marT="12700" marB="12700" anchor="ctr">
                    <a:solidFill>
                      <a:srgbClr val="F4F8FB"/>
                    </a:solidFill>
                  </a:tcPr>
                </a:tc>
                <a:extLst>
                  <a:ext uri="{0D108BD9-81ED-4DB2-BD59-A6C34878D82A}">
                    <a16:rowId xmlns:a16="http://schemas.microsoft.com/office/drawing/2014/main" val="10002"/>
                  </a:ext>
                </a:extLst>
              </a:tr>
              <a:tr h="283464">
                <a:tc>
                  <a:txBody>
                    <a:bodyPr/>
                    <a:lstStyle/>
                    <a:p>
                      <a:pPr algn="l"/>
                      <a:r>
                        <a:rPr sz="1050" b="0">
                          <a:solidFill>
                            <a:srgbClr val="1B2A3A"/>
                          </a:solidFill>
                          <a:latin typeface="Calibri"/>
                        </a:rPr>
                        <a:t>#3 missing-www-authenticate</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32</a:t>
                      </a:r>
                    </a:p>
                  </a:txBody>
                  <a:tcPr marT="12700" marB="12700" anchor="ctr">
                    <a:solidFill>
                      <a:srgbClr val="FFFFFF"/>
                    </a:solidFill>
                  </a:tcPr>
                </a:tc>
                <a:tc>
                  <a:txBody>
                    <a:bodyPr/>
                    <a:lstStyle/>
                    <a:p>
                      <a:pPr algn="ctr"/>
                      <a:r>
                        <a:rPr sz="1050" b="0">
                          <a:solidFill>
                            <a:srgbClr val="1B2A3A"/>
                          </a:solidFill>
                          <a:latin typeface="Calibri"/>
                        </a:rPr>
                        <a:t>41</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extLst>
                  <a:ext uri="{0D108BD9-81ED-4DB2-BD59-A6C34878D82A}">
                    <a16:rowId xmlns:a16="http://schemas.microsoft.com/office/drawing/2014/main" val="10003"/>
                  </a:ext>
                </a:extLst>
              </a:tr>
              <a:tr h="283464">
                <a:tc>
                  <a:txBody>
                    <a:bodyPr/>
                    <a:lstStyle/>
                    <a:p>
                      <a:pPr algn="l"/>
                      <a:r>
                        <a:rPr sz="1050" b="0">
                          <a:solidFill>
                            <a:srgbClr val="1B2A3A"/>
                          </a:solidFill>
                          <a:latin typeface="Calibri"/>
                        </a:rPr>
                        <a:t>#4 missing-protected-resource-metadata</a:t>
                      </a:r>
                    </a:p>
                  </a:txBody>
                  <a:tcPr marT="12700" marB="12700" anchor="ctr">
                    <a:solidFill>
                      <a:srgbClr val="F4F8FB"/>
                    </a:solidFill>
                  </a:tcPr>
                </a:tc>
                <a:tc>
                  <a:txBody>
                    <a:bodyPr/>
                    <a:lstStyle/>
                    <a:p>
                      <a:pPr algn="ctr"/>
                      <a:r>
                        <a:rPr sz="1050" b="1">
                          <a:solidFill>
                            <a:srgbClr val="B23A3A"/>
                          </a:solidFill>
                          <a:latin typeface="Calibri"/>
                        </a:rPr>
                        <a:t>21</a:t>
                      </a:r>
                    </a:p>
                  </a:txBody>
                  <a:tcPr marT="12700" marB="12700" anchor="ctr">
                    <a:solidFill>
                      <a:srgbClr val="F4F8FB"/>
                    </a:solidFill>
                  </a:tcPr>
                </a:tc>
                <a:tc>
                  <a:txBody>
                    <a:bodyPr/>
                    <a:lstStyle/>
                    <a:p>
                      <a:pPr algn="ctr"/>
                      <a:r>
                        <a:rPr sz="1050" b="0">
                          <a:solidFill>
                            <a:srgbClr val="1B2A3A"/>
                          </a:solidFill>
                          <a:latin typeface="Calibri"/>
                        </a:rPr>
                        <a:t>41</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21</a:t>
                      </a:r>
                    </a:p>
                  </a:txBody>
                  <a:tcPr marT="12700" marB="12700" anchor="ctr">
                    <a:solidFill>
                      <a:srgbClr val="F4F8FB"/>
                    </a:solidFill>
                  </a:tcPr>
                </a:tc>
                <a:extLst>
                  <a:ext uri="{0D108BD9-81ED-4DB2-BD59-A6C34878D82A}">
                    <a16:rowId xmlns:a16="http://schemas.microsoft.com/office/drawing/2014/main" val="10004"/>
                  </a:ext>
                </a:extLst>
              </a:tr>
              <a:tr h="283464">
                <a:tc>
                  <a:txBody>
                    <a:bodyPr/>
                    <a:lstStyle/>
                    <a:p>
                      <a:pPr algn="l"/>
                      <a:r>
                        <a:rPr sz="1050" b="0">
                          <a:solidFill>
                            <a:srgbClr val="1B2A3A"/>
                          </a:solidFill>
                          <a:latin typeface="Calibri"/>
                        </a:rPr>
                        <a:t>#5 session-id-in-url</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73</a:t>
                      </a:r>
                    </a:p>
                  </a:txBody>
                  <a:tcPr marT="12700" marB="12700" anchor="ctr">
                    <a:solidFill>
                      <a:srgbClr val="FFFFFF"/>
                    </a:solidFill>
                  </a:tcPr>
                </a:tc>
                <a:extLst>
                  <a:ext uri="{0D108BD9-81ED-4DB2-BD59-A6C34878D82A}">
                    <a16:rowId xmlns:a16="http://schemas.microsoft.com/office/drawing/2014/main" val="10005"/>
                  </a:ext>
                </a:extLst>
              </a:tr>
              <a:tr h="283464">
                <a:tc>
                  <a:txBody>
                    <a:bodyPr/>
                    <a:lstStyle/>
                    <a:p>
                      <a:pPr algn="l"/>
                      <a:r>
                        <a:rPr sz="1050" b="0">
                          <a:solidFill>
                            <a:srgbClr val="1B2A3A"/>
                          </a:solidFill>
                          <a:latin typeface="Calibri"/>
                        </a:rPr>
                        <a:t>#6 predictable-session-id</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10</a:t>
                      </a:r>
                    </a:p>
                  </a:txBody>
                  <a:tcPr marT="12700" marB="12700" anchor="ctr">
                    <a:solidFill>
                      <a:srgbClr val="F4F8FB"/>
                    </a:solidFill>
                  </a:tcPr>
                </a:tc>
                <a:tc>
                  <a:txBody>
                    <a:bodyPr/>
                    <a:lstStyle/>
                    <a:p>
                      <a:pPr algn="ctr"/>
                      <a:r>
                        <a:rPr sz="1050" b="0">
                          <a:solidFill>
                            <a:srgbClr val="1B2A3A"/>
                          </a:solidFill>
                          <a:latin typeface="Calibri"/>
                        </a:rPr>
                        <a:t>18</a:t>
                      </a:r>
                    </a:p>
                  </a:txBody>
                  <a:tcPr marT="12700" marB="12700" anchor="ctr">
                    <a:solidFill>
                      <a:srgbClr val="F4F8FB"/>
                    </a:solidFill>
                  </a:tcPr>
                </a:tc>
                <a:tc>
                  <a:txBody>
                    <a:bodyPr/>
                    <a:lstStyle/>
                    <a:p>
                      <a:pPr algn="ctr"/>
                      <a:r>
                        <a:rPr sz="1050" b="0">
                          <a:solidFill>
                            <a:srgbClr val="1B2A3A"/>
                          </a:solidFill>
                          <a:latin typeface="Calibri"/>
                        </a:rPr>
                        <a:t>55</a:t>
                      </a:r>
                    </a:p>
                  </a:txBody>
                  <a:tcPr marT="12700" marB="12700" anchor="ctr">
                    <a:solidFill>
                      <a:srgbClr val="F4F8FB"/>
                    </a:solidFill>
                  </a:tcPr>
                </a:tc>
                <a:extLst>
                  <a:ext uri="{0D108BD9-81ED-4DB2-BD59-A6C34878D82A}">
                    <a16:rowId xmlns:a16="http://schemas.microsoft.com/office/drawing/2014/main" val="10006"/>
                  </a:ext>
                </a:extLst>
              </a:tr>
              <a:tr h="283464">
                <a:tc>
                  <a:txBody>
                    <a:bodyPr/>
                    <a:lstStyle/>
                    <a:p>
                      <a:pPr algn="l"/>
                      <a:r>
                        <a:rPr sz="1050" b="0" dirty="0">
                          <a:solidFill>
                            <a:srgbClr val="1B2A3A"/>
                          </a:solidFill>
                          <a:latin typeface="Calibri"/>
                        </a:rPr>
                        <a:t>#7 origin-not-validated</a:t>
                      </a:r>
                    </a:p>
                  </a:txBody>
                  <a:tcPr marT="12700" marB="12700" anchor="ctr">
                    <a:solidFill>
                      <a:srgbClr val="FFFFFF"/>
                    </a:solidFill>
                  </a:tcPr>
                </a:tc>
                <a:tc>
                  <a:txBody>
                    <a:bodyPr/>
                    <a:lstStyle/>
                    <a:p>
                      <a:pPr algn="ctr"/>
                      <a:r>
                        <a:rPr sz="1050" b="1" dirty="0">
                          <a:solidFill>
                            <a:srgbClr val="B23A3A"/>
                          </a:solidFill>
                          <a:latin typeface="Calibri"/>
                        </a:rPr>
                        <a:t>24</a:t>
                      </a:r>
                    </a:p>
                  </a:txBody>
                  <a:tcPr marT="12700" marB="12700" anchor="ctr">
                    <a:solidFill>
                      <a:srgbClr val="FFFFFF"/>
                    </a:solidFill>
                  </a:tcPr>
                </a:tc>
                <a:tc>
                  <a:txBody>
                    <a:bodyPr/>
                    <a:lstStyle/>
                    <a:p>
                      <a:pPr algn="ctr"/>
                      <a:r>
                        <a:rPr sz="1050" b="0">
                          <a:solidFill>
                            <a:srgbClr val="1B2A3A"/>
                          </a:solidFill>
                          <a:latin typeface="Calibri"/>
                        </a:rPr>
                        <a:t>10</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49</a:t>
                      </a:r>
                    </a:p>
                  </a:txBody>
                  <a:tcPr marT="12700" marB="12700" anchor="ctr">
                    <a:solidFill>
                      <a:srgbClr val="FFFFFF"/>
                    </a:solidFill>
                  </a:tcPr>
                </a:tc>
                <a:extLst>
                  <a:ext uri="{0D108BD9-81ED-4DB2-BD59-A6C34878D82A}">
                    <a16:rowId xmlns:a16="http://schemas.microsoft.com/office/drawing/2014/main" val="10007"/>
                  </a:ext>
                </a:extLst>
              </a:tr>
              <a:tr h="283464">
                <a:tc>
                  <a:txBody>
                    <a:bodyPr/>
                    <a:lstStyle/>
                    <a:p>
                      <a:pPr algn="l"/>
                      <a:r>
                        <a:rPr sz="1050" b="0">
                          <a:solidFill>
                            <a:srgbClr val="1B2A3A"/>
                          </a:solidFill>
                          <a:latin typeface="Calibri"/>
                        </a:rPr>
                        <a:t>#8 cors-misconfiguration</a:t>
                      </a:r>
                    </a:p>
                  </a:txBody>
                  <a:tcPr marT="12700" marB="12700" anchor="ctr">
                    <a:solidFill>
                      <a:srgbClr val="F4F8FB"/>
                    </a:solidFill>
                  </a:tcPr>
                </a:tc>
                <a:tc>
                  <a:txBody>
                    <a:bodyPr/>
                    <a:lstStyle/>
                    <a:p>
                      <a:pPr algn="ctr"/>
                      <a:r>
                        <a:rPr sz="1050" b="1">
                          <a:solidFill>
                            <a:srgbClr val="B23A3A"/>
                          </a:solidFill>
                          <a:latin typeface="Calibri"/>
                        </a:rPr>
                        <a:t>2</a:t>
                      </a:r>
                    </a:p>
                  </a:txBody>
                  <a:tcPr marT="12700" marB="12700" anchor="ctr">
                    <a:solidFill>
                      <a:srgbClr val="F4F8FB"/>
                    </a:solidFill>
                  </a:tcPr>
                </a:tc>
                <a:tc>
                  <a:txBody>
                    <a:bodyPr/>
                    <a:lstStyle/>
                    <a:p>
                      <a:pPr algn="ctr"/>
                      <a:r>
                        <a:rPr sz="1050" b="0">
                          <a:solidFill>
                            <a:srgbClr val="1B2A3A"/>
                          </a:solidFill>
                          <a:latin typeface="Calibri"/>
                        </a:rPr>
                        <a:t>67</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14</a:t>
                      </a:r>
                    </a:p>
                  </a:txBody>
                  <a:tcPr marT="12700" marB="12700" anchor="ctr">
                    <a:solidFill>
                      <a:srgbClr val="F4F8FB"/>
                    </a:solidFill>
                  </a:tcPr>
                </a:tc>
                <a:extLst>
                  <a:ext uri="{0D108BD9-81ED-4DB2-BD59-A6C34878D82A}">
                    <a16:rowId xmlns:a16="http://schemas.microsoft.com/office/drawing/2014/main" val="10008"/>
                  </a:ext>
                </a:extLst>
              </a:tr>
              <a:tr h="283464">
                <a:tc>
                  <a:txBody>
                    <a:bodyPr/>
                    <a:lstStyle/>
                    <a:p>
                      <a:pPr algn="l"/>
                      <a:r>
                        <a:rPr sz="1050" b="0">
                          <a:solidFill>
                            <a:srgbClr val="1B2A3A"/>
                          </a:solidFill>
                          <a:latin typeface="Calibri"/>
                        </a:rPr>
                        <a:t>#9 auth-endpoints-not-https</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52</a:t>
                      </a:r>
                    </a:p>
                  </a:txBody>
                  <a:tcPr marT="12700" marB="12700" anchor="ctr">
                    <a:solidFill>
                      <a:srgbClr val="FFFFFF"/>
                    </a:solidFill>
                  </a:tcPr>
                </a:tc>
                <a:tc>
                  <a:txBody>
                    <a:bodyPr/>
                    <a:lstStyle/>
                    <a:p>
                      <a:pPr algn="ctr"/>
                      <a:r>
                        <a:rPr sz="1050" b="0">
                          <a:solidFill>
                            <a:srgbClr val="1B2A3A"/>
                          </a:solidFill>
                          <a:latin typeface="Calibri"/>
                        </a:rPr>
                        <a:t>31</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extLst>
                  <a:ext uri="{0D108BD9-81ED-4DB2-BD59-A6C34878D82A}">
                    <a16:rowId xmlns:a16="http://schemas.microsoft.com/office/drawing/2014/main" val="10009"/>
                  </a:ext>
                </a:extLst>
              </a:tr>
              <a:tr h="283464">
                <a:tc>
                  <a:txBody>
                    <a:bodyPr/>
                    <a:lstStyle/>
                    <a:p>
                      <a:pPr algn="l"/>
                      <a:r>
                        <a:rPr sz="1050" b="0">
                          <a:solidFill>
                            <a:srgbClr val="1B2A3A"/>
                          </a:solidFill>
                          <a:latin typeface="Calibri"/>
                        </a:rPr>
                        <a:t>#10 missing-as-metadata</a:t>
                      </a:r>
                    </a:p>
                  </a:txBody>
                  <a:tcPr marT="12700" marB="12700" anchor="ctr">
                    <a:solidFill>
                      <a:srgbClr val="F4F8FB"/>
                    </a:solidFill>
                  </a:tcPr>
                </a:tc>
                <a:tc>
                  <a:txBody>
                    <a:bodyPr/>
                    <a:lstStyle/>
                    <a:p>
                      <a:pPr algn="ctr"/>
                      <a:r>
                        <a:rPr sz="1050" b="1">
                          <a:solidFill>
                            <a:srgbClr val="B23A3A"/>
                          </a:solidFill>
                          <a:latin typeface="Calibri"/>
                        </a:rPr>
                        <a:t>12</a:t>
                      </a:r>
                    </a:p>
                  </a:txBody>
                  <a:tcPr marT="12700" marB="12700" anchor="ctr">
                    <a:solidFill>
                      <a:srgbClr val="F4F8FB"/>
                    </a:solidFill>
                  </a:tcPr>
                </a:tc>
                <a:tc>
                  <a:txBody>
                    <a:bodyPr/>
                    <a:lstStyle/>
                    <a:p>
                      <a:pPr algn="ctr"/>
                      <a:r>
                        <a:rPr sz="1050" b="0">
                          <a:solidFill>
                            <a:srgbClr val="1B2A3A"/>
                          </a:solidFill>
                          <a:latin typeface="Calibri"/>
                        </a:rPr>
                        <a:t>53</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18</a:t>
                      </a:r>
                    </a:p>
                  </a:txBody>
                  <a:tcPr marT="12700" marB="12700" anchor="ctr">
                    <a:solidFill>
                      <a:srgbClr val="F4F8FB"/>
                    </a:solidFill>
                  </a:tcPr>
                </a:tc>
                <a:extLst>
                  <a:ext uri="{0D108BD9-81ED-4DB2-BD59-A6C34878D82A}">
                    <a16:rowId xmlns:a16="http://schemas.microsoft.com/office/drawing/2014/main" val="10010"/>
                  </a:ext>
                </a:extLst>
              </a:tr>
              <a:tr h="283464">
                <a:tc>
                  <a:txBody>
                    <a:bodyPr/>
                    <a:lstStyle/>
                    <a:p>
                      <a:pPr algn="l"/>
                      <a:r>
                        <a:rPr sz="1050" b="0">
                          <a:solidFill>
                            <a:srgbClr val="1B2A3A"/>
                          </a:solidFill>
                          <a:latin typeface="Calibri"/>
                        </a:rPr>
                        <a:t>#11 implicit-flow-enabled</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52</a:t>
                      </a:r>
                    </a:p>
                  </a:txBody>
                  <a:tcPr marT="12700" marB="12700" anchor="ctr">
                    <a:solidFill>
                      <a:srgbClr val="FFFFFF"/>
                    </a:solidFill>
                  </a:tcPr>
                </a:tc>
                <a:tc>
                  <a:txBody>
                    <a:bodyPr/>
                    <a:lstStyle/>
                    <a:p>
                      <a:pPr algn="ctr"/>
                      <a:r>
                        <a:rPr sz="1050" b="0">
                          <a:solidFill>
                            <a:srgbClr val="1B2A3A"/>
                          </a:solidFill>
                          <a:latin typeface="Calibri"/>
                        </a:rPr>
                        <a:t>30</a:t>
                      </a:r>
                    </a:p>
                  </a:txBody>
                  <a:tcPr marT="12700" marB="12700" anchor="ctr">
                    <a:solidFill>
                      <a:srgbClr val="FFFFFF"/>
                    </a:solidFill>
                  </a:tcPr>
                </a:tc>
                <a:tc>
                  <a:txBody>
                    <a:bodyPr/>
                    <a:lstStyle/>
                    <a:p>
                      <a:pPr algn="ctr"/>
                      <a:r>
                        <a:rPr sz="1050" b="0">
                          <a:solidFill>
                            <a:srgbClr val="1B2A3A"/>
                          </a:solidFill>
                          <a:latin typeface="Calibri"/>
                        </a:rPr>
                        <a:t>1</a:t>
                      </a:r>
                    </a:p>
                  </a:txBody>
                  <a:tcPr marT="12700" marB="12700" anchor="ctr">
                    <a:solidFill>
                      <a:srgbClr val="FFFFFF"/>
                    </a:solidFill>
                  </a:tcPr>
                </a:tc>
                <a:extLst>
                  <a:ext uri="{0D108BD9-81ED-4DB2-BD59-A6C34878D82A}">
                    <a16:rowId xmlns:a16="http://schemas.microsoft.com/office/drawing/2014/main" val="10011"/>
                  </a:ext>
                </a:extLst>
              </a:tr>
              <a:tr h="283464">
                <a:tc>
                  <a:txBody>
                    <a:bodyPr/>
                    <a:lstStyle/>
                    <a:p>
                      <a:pPr algn="l"/>
                      <a:r>
                        <a:rPr sz="1050" b="1">
                          <a:solidFill>
                            <a:srgbClr val="1B2A3A"/>
                          </a:solidFill>
                          <a:latin typeface="Calibri"/>
                        </a:rPr>
                        <a:t>#12 open-dcr  (write)</a:t>
                      </a:r>
                    </a:p>
                  </a:txBody>
                  <a:tcPr marT="12700" marB="12700" anchor="ctr">
                    <a:solidFill>
                      <a:srgbClr val="F4F8FB"/>
                    </a:solidFill>
                  </a:tcPr>
                </a:tc>
                <a:tc>
                  <a:txBody>
                    <a:bodyPr/>
                    <a:lstStyle/>
                    <a:p>
                      <a:pPr algn="ctr"/>
                      <a:r>
                        <a:rPr sz="1050" b="1">
                          <a:solidFill>
                            <a:srgbClr val="B23A3A"/>
                          </a:solidFill>
                          <a:latin typeface="Calibri"/>
                        </a:rPr>
                        <a:t>38</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35</a:t>
                      </a:r>
                    </a:p>
                  </a:txBody>
                  <a:tcPr marT="12700" marB="12700" anchor="ctr">
                    <a:solidFill>
                      <a:srgbClr val="F4F8FB"/>
                    </a:solidFill>
                  </a:tcPr>
                </a:tc>
                <a:tc>
                  <a:txBody>
                    <a:bodyPr/>
                    <a:lstStyle/>
                    <a:p>
                      <a:pPr algn="ctr"/>
                      <a:r>
                        <a:rPr sz="1050" b="0">
                          <a:solidFill>
                            <a:srgbClr val="1B2A3A"/>
                          </a:solidFill>
                          <a:latin typeface="Calibri"/>
                        </a:rPr>
                        <a:t>10</a:t>
                      </a:r>
                    </a:p>
                  </a:txBody>
                  <a:tcPr marT="12700" marB="12700" anchor="ctr">
                    <a:solidFill>
                      <a:srgbClr val="F4F8FB"/>
                    </a:solidFill>
                  </a:tcPr>
                </a:tc>
                <a:extLst>
                  <a:ext uri="{0D108BD9-81ED-4DB2-BD59-A6C34878D82A}">
                    <a16:rowId xmlns:a16="http://schemas.microsoft.com/office/drawing/2014/main" val="10012"/>
                  </a:ext>
                </a:extLst>
              </a:tr>
              <a:tr h="283464">
                <a:tc>
                  <a:txBody>
                    <a:bodyPr/>
                    <a:lstStyle/>
                    <a:p>
                      <a:pPr algn="l"/>
                      <a:r>
                        <a:rPr sz="1050" b="1">
                          <a:solidFill>
                            <a:srgbClr val="1B2A3A"/>
                          </a:solidFill>
                          <a:latin typeface="Calibri"/>
                        </a:rPr>
                        <a:t>#13 unauthenticated-tool-invocation</a:t>
                      </a:r>
                    </a:p>
                  </a:txBody>
                  <a:tcPr marT="12700" marB="12700" anchor="ctr">
                    <a:solidFill>
                      <a:srgbClr val="FFFFFF"/>
                    </a:solidFill>
                  </a:tcPr>
                </a:tc>
                <a:tc>
                  <a:txBody>
                    <a:bodyPr/>
                    <a:lstStyle/>
                    <a:p>
                      <a:pPr algn="ctr"/>
                      <a:r>
                        <a:rPr sz="1050" b="1">
                          <a:solidFill>
                            <a:srgbClr val="B23A3A"/>
                          </a:solidFill>
                          <a:latin typeface="Calibri"/>
                        </a:rPr>
                        <a:t>22</a:t>
                      </a:r>
                    </a:p>
                  </a:txBody>
                  <a:tcPr marT="12700" marB="12700" anchor="ctr">
                    <a:solidFill>
                      <a:srgbClr val="FFFFFF"/>
                    </a:solidFill>
                  </a:tcPr>
                </a:tc>
                <a:tc>
                  <a:txBody>
                    <a:bodyPr/>
                    <a:lstStyle/>
                    <a:p>
                      <a:pPr algn="ctr"/>
                      <a:r>
                        <a:rPr sz="1050" b="0">
                          <a:solidFill>
                            <a:srgbClr val="1B2A3A"/>
                          </a:solidFill>
                          <a:latin typeface="Calibri"/>
                        </a:rPr>
                        <a:t>48</a:t>
                      </a:r>
                    </a:p>
                  </a:txBody>
                  <a:tcPr marT="12700" marB="12700" anchor="ctr">
                    <a:solidFill>
                      <a:srgbClr val="FFFFFF"/>
                    </a:solidFill>
                  </a:tcPr>
                </a:tc>
                <a:tc>
                  <a:txBody>
                    <a:bodyPr/>
                    <a:lstStyle/>
                    <a:p>
                      <a:pPr algn="ctr"/>
                      <a:r>
                        <a:rPr sz="1050" b="0">
                          <a:solidFill>
                            <a:srgbClr val="1B2A3A"/>
                          </a:solidFill>
                          <a:latin typeface="Calibri"/>
                        </a:rPr>
                        <a:t>0</a:t>
                      </a:r>
                    </a:p>
                  </a:txBody>
                  <a:tcPr marT="12700" marB="12700" anchor="ctr">
                    <a:solidFill>
                      <a:srgbClr val="FFFFFF"/>
                    </a:solidFill>
                  </a:tcPr>
                </a:tc>
                <a:tc>
                  <a:txBody>
                    <a:bodyPr/>
                    <a:lstStyle/>
                    <a:p>
                      <a:pPr algn="ctr"/>
                      <a:r>
                        <a:rPr sz="1050" b="0">
                          <a:solidFill>
                            <a:srgbClr val="1B2A3A"/>
                          </a:solidFill>
                          <a:latin typeface="Calibri"/>
                        </a:rPr>
                        <a:t>13</a:t>
                      </a:r>
                    </a:p>
                  </a:txBody>
                  <a:tcPr marT="12700" marB="12700" anchor="ctr">
                    <a:solidFill>
                      <a:srgbClr val="FFFFFF"/>
                    </a:solidFill>
                  </a:tcPr>
                </a:tc>
                <a:extLst>
                  <a:ext uri="{0D108BD9-81ED-4DB2-BD59-A6C34878D82A}">
                    <a16:rowId xmlns:a16="http://schemas.microsoft.com/office/drawing/2014/main" val="10013"/>
                  </a:ext>
                </a:extLst>
              </a:tr>
              <a:tr h="283464">
                <a:tc>
                  <a:txBody>
                    <a:bodyPr/>
                    <a:lstStyle/>
                    <a:p>
                      <a:pPr algn="l"/>
                      <a:r>
                        <a:rPr sz="1050" b="0">
                          <a:solidFill>
                            <a:srgbClr val="1B2A3A"/>
                          </a:solidFill>
                          <a:latin typeface="Calibri"/>
                        </a:rPr>
                        <a:t>#14 improper-redirect-uri-validation  (write)</a:t>
                      </a:r>
                    </a:p>
                  </a:txBody>
                  <a:tcPr marT="12700" marB="12700" anchor="ctr">
                    <a:solidFill>
                      <a:srgbClr val="F4F8FB"/>
                    </a:solidFill>
                  </a:tcPr>
                </a:tc>
                <a:tc>
                  <a:txBody>
                    <a:bodyPr/>
                    <a:lstStyle/>
                    <a:p>
                      <a:pPr algn="ctr"/>
                      <a:r>
                        <a:rPr sz="1050" b="0">
                          <a:solidFill>
                            <a:srgbClr val="1B2A3A"/>
                          </a:solidFill>
                          <a:latin typeface="Calibri"/>
                        </a:rPr>
                        <a:t>0</a:t>
                      </a:r>
                    </a:p>
                  </a:txBody>
                  <a:tcPr marT="12700" marB="12700" anchor="ctr">
                    <a:solidFill>
                      <a:srgbClr val="F4F8FB"/>
                    </a:solidFill>
                  </a:tcPr>
                </a:tc>
                <a:tc>
                  <a:txBody>
                    <a:bodyPr/>
                    <a:lstStyle/>
                    <a:p>
                      <a:pPr algn="ctr"/>
                      <a:r>
                        <a:rPr sz="1050" b="0">
                          <a:solidFill>
                            <a:srgbClr val="1B2A3A"/>
                          </a:solidFill>
                          <a:latin typeface="Calibri"/>
                        </a:rPr>
                        <a:t>23</a:t>
                      </a:r>
                    </a:p>
                  </a:txBody>
                  <a:tcPr marT="12700" marB="12700" anchor="ctr">
                    <a:solidFill>
                      <a:srgbClr val="F4F8FB"/>
                    </a:solidFill>
                  </a:tcPr>
                </a:tc>
                <a:tc>
                  <a:txBody>
                    <a:bodyPr/>
                    <a:lstStyle/>
                    <a:p>
                      <a:pPr algn="ctr"/>
                      <a:r>
                        <a:rPr sz="1050" b="0">
                          <a:solidFill>
                            <a:srgbClr val="1B2A3A"/>
                          </a:solidFill>
                          <a:latin typeface="Calibri"/>
                        </a:rPr>
                        <a:t>36</a:t>
                      </a:r>
                    </a:p>
                  </a:txBody>
                  <a:tcPr marT="12700" marB="12700" anchor="ctr">
                    <a:solidFill>
                      <a:srgbClr val="F4F8FB"/>
                    </a:solidFill>
                  </a:tcPr>
                </a:tc>
                <a:tc>
                  <a:txBody>
                    <a:bodyPr/>
                    <a:lstStyle/>
                    <a:p>
                      <a:pPr algn="ctr"/>
                      <a:r>
                        <a:rPr sz="1050" b="0" dirty="0">
                          <a:solidFill>
                            <a:srgbClr val="1B2A3A"/>
                          </a:solidFill>
                          <a:latin typeface="Calibri"/>
                        </a:rPr>
                        <a:t>24</a:t>
                      </a:r>
                    </a:p>
                  </a:txBody>
                  <a:tcPr marT="12700" marB="12700" anchor="ctr">
                    <a:solidFill>
                      <a:srgbClr val="F4F8FB"/>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8640" y="6172200"/>
            <a:ext cx="11091672" cy="169277"/>
          </a:xfrm>
          <a:prstGeom prst="rect">
            <a:avLst/>
          </a:prstGeom>
          <a:noFill/>
        </p:spPr>
        <p:txBody>
          <a:bodyPr wrap="square" lIns="0" tIns="0" rIns="0" bIns="0" anchor="t">
            <a:spAutoFit/>
          </a:bodyPr>
          <a:lstStyle/>
          <a:p>
            <a:pPr algn="l"/>
            <a:r>
              <a:rPr sz="1100" b="0" i="1" dirty="0">
                <a:solidFill>
                  <a:srgbClr val="B4740A"/>
                </a:solidFill>
                <a:latin typeface="Calibri"/>
              </a:rPr>
              <a:t>#4 and #10 are each at least one too high </a:t>
            </a:r>
            <a:r>
              <a:rPr lang="en-US" sz="1100" b="0" i="1" dirty="0">
                <a:solidFill>
                  <a:srgbClr val="B4740A"/>
                </a:solidFill>
                <a:latin typeface="Calibri"/>
              </a:rPr>
              <a:t>-</a:t>
            </a:r>
            <a:r>
              <a:rPr sz="1100" b="0" i="1" dirty="0">
                <a:solidFill>
                  <a:srgbClr val="B4740A"/>
                </a:solidFill>
                <a:latin typeface="Calibri"/>
              </a:rPr>
              <a:t> </a:t>
            </a:r>
            <a:r>
              <a:rPr sz="1100" b="0" i="1" dirty="0" err="1">
                <a:solidFill>
                  <a:srgbClr val="B4740A"/>
                </a:solidFill>
                <a:latin typeface="Calibri"/>
              </a:rPr>
              <a:t>hf.co</a:t>
            </a:r>
            <a:r>
              <a:rPr sz="1100" b="0" i="1" dirty="0">
                <a:solidFill>
                  <a:srgbClr val="B4740A"/>
                </a:solidFill>
                <a:latin typeface="Calibri"/>
              </a:rPr>
              <a:t> answers a redirect we grade as “absent”, but its target is a valid document.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1: anyone can read the menu</a:t>
            </a:r>
          </a:p>
        </p:txBody>
      </p:sp>
      <p:sp>
        <p:nvSpPr>
          <p:cNvPr id="4" name="Rounded Rectangle 3"/>
          <p:cNvSpPr/>
          <p:nvPr/>
        </p:nvSpPr>
        <p:spPr>
          <a:xfrm>
            <a:off x="548640" y="1783080"/>
            <a:ext cx="3200400" cy="219456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74519"/>
            <a:ext cx="3200400" cy="2011680"/>
          </a:xfrm>
          <a:prstGeom prst="rect">
            <a:avLst/>
          </a:prstGeom>
          <a:noFill/>
        </p:spPr>
        <p:txBody>
          <a:bodyPr wrap="square" lIns="0" tIns="0" rIns="0" bIns="0" anchor="ctr">
            <a:spAutoFit/>
          </a:bodyPr>
          <a:lstStyle/>
          <a:p>
            <a:pPr algn="ctr">
              <a:spcAft>
                <a:spcPts val="200"/>
              </a:spcAft>
            </a:pPr>
            <a:r>
              <a:rPr sz="6800" b="1" i="0">
                <a:solidFill>
                  <a:srgbClr val="02C39A"/>
                </a:solidFill>
                <a:latin typeface="Calibri"/>
              </a:rPr>
              <a:t>28</a:t>
            </a:r>
          </a:p>
          <a:p>
            <a:pPr algn="ctr"/>
            <a:r>
              <a:rPr sz="1500" b="0" i="0">
                <a:solidFill>
                  <a:srgbClr val="CADCFC"/>
                </a:solidFill>
                <a:latin typeface="Calibri"/>
              </a:rPr>
              <a:t>of 83 servers answer</a:t>
            </a:r>
          </a:p>
          <a:p>
            <a:pPr algn="ctr"/>
            <a:r>
              <a:rPr sz="1500" b="1" i="0">
                <a:solidFill>
                  <a:srgbClr val="FFFFFF"/>
                </a:solidFill>
                <a:latin typeface="Calibri"/>
              </a:rPr>
              <a:t>tools/list  with no login</a:t>
            </a:r>
          </a:p>
        </p:txBody>
      </p:sp>
      <p:sp>
        <p:nvSpPr>
          <p:cNvPr id="6" name="TextBox 5"/>
          <p:cNvSpPr txBox="1"/>
          <p:nvPr/>
        </p:nvSpPr>
        <p:spPr>
          <a:xfrm>
            <a:off x="4023360" y="1874519"/>
            <a:ext cx="7589520" cy="457200"/>
          </a:xfrm>
          <a:prstGeom prst="rect">
            <a:avLst/>
          </a:prstGeom>
          <a:noFill/>
        </p:spPr>
        <p:txBody>
          <a:bodyPr wrap="square" lIns="0" tIns="0" rIns="0" bIns="0" anchor="t">
            <a:spAutoFit/>
          </a:bodyPr>
          <a:lstStyle/>
          <a:p>
            <a:pPr algn="l"/>
            <a:r>
              <a:rPr sz="1800" b="1" i="0">
                <a:solidFill>
                  <a:srgbClr val="1C7293"/>
                </a:solidFill>
                <a:latin typeface="Calibri"/>
              </a:rPr>
              <a:t>438 tools</a:t>
            </a:r>
            <a:r>
              <a:rPr sz="1800" b="0" i="0">
                <a:solidFill>
                  <a:srgbClr val="1B2A3A"/>
                </a:solidFill>
                <a:latin typeface="Calibri"/>
              </a:rPr>
              <a:t> reachable by a stranger.</a:t>
            </a:r>
          </a:p>
        </p:txBody>
      </p:sp>
      <p:sp>
        <p:nvSpPr>
          <p:cNvPr id="7" name="Rectangle 6"/>
          <p:cNvSpPr/>
          <p:nvPr/>
        </p:nvSpPr>
        <p:spPr>
          <a:xfrm>
            <a:off x="4023360" y="2514600"/>
            <a:ext cx="5486400" cy="310896"/>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19488" y="2487168"/>
            <a:ext cx="2743200" cy="365760"/>
          </a:xfrm>
          <a:prstGeom prst="rect">
            <a:avLst/>
          </a:prstGeom>
          <a:noFill/>
        </p:spPr>
        <p:txBody>
          <a:bodyPr wrap="square" lIns="0" tIns="0" rIns="0" bIns="0" anchor="ctr">
            <a:spAutoFit/>
          </a:bodyPr>
          <a:lstStyle/>
          <a:p>
            <a:pPr algn="l"/>
            <a:r>
              <a:rPr sz="1200" b="0" i="0">
                <a:solidFill>
                  <a:srgbClr val="1B2A3A"/>
                </a:solidFill>
                <a:latin typeface="Calibri"/>
              </a:rPr>
              <a:t>dock  (71)</a:t>
            </a:r>
          </a:p>
        </p:txBody>
      </p:sp>
      <p:sp>
        <p:nvSpPr>
          <p:cNvPr id="9" name="Rectangle 8"/>
          <p:cNvSpPr/>
          <p:nvPr/>
        </p:nvSpPr>
        <p:spPr>
          <a:xfrm>
            <a:off x="4023360" y="2935224"/>
            <a:ext cx="5331853" cy="310896"/>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64941" y="2907792"/>
            <a:ext cx="2743200" cy="365760"/>
          </a:xfrm>
          <a:prstGeom prst="rect">
            <a:avLst/>
          </a:prstGeom>
          <a:noFill/>
        </p:spPr>
        <p:txBody>
          <a:bodyPr wrap="square" lIns="0" tIns="0" rIns="0" bIns="0" anchor="ctr">
            <a:spAutoFit/>
          </a:bodyPr>
          <a:lstStyle/>
          <a:p>
            <a:pPr algn="l"/>
            <a:r>
              <a:rPr sz="1200" b="0" i="0">
                <a:solidFill>
                  <a:srgbClr val="1B2A3A"/>
                </a:solidFill>
                <a:latin typeface="Calibri"/>
              </a:rPr>
              <a:t>switch  (69)</a:t>
            </a:r>
          </a:p>
        </p:txBody>
      </p:sp>
      <p:sp>
        <p:nvSpPr>
          <p:cNvPr id="11" name="Rectangle 10"/>
          <p:cNvSpPr/>
          <p:nvPr/>
        </p:nvSpPr>
        <p:spPr>
          <a:xfrm>
            <a:off x="4023360" y="3355848"/>
            <a:ext cx="3400022" cy="310896"/>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33110" y="3328416"/>
            <a:ext cx="2743200" cy="365760"/>
          </a:xfrm>
          <a:prstGeom prst="rect">
            <a:avLst/>
          </a:prstGeom>
          <a:noFill/>
        </p:spPr>
        <p:txBody>
          <a:bodyPr wrap="square" lIns="0" tIns="0" rIns="0" bIns="0" anchor="ctr">
            <a:spAutoFit/>
          </a:bodyPr>
          <a:lstStyle/>
          <a:p>
            <a:pPr algn="l"/>
            <a:r>
              <a:rPr sz="1200" b="0" i="0">
                <a:solidFill>
                  <a:srgbClr val="1B2A3A"/>
                </a:solidFill>
                <a:latin typeface="Calibri"/>
              </a:rPr>
              <a:t>gondola  (44)</a:t>
            </a:r>
          </a:p>
        </p:txBody>
      </p:sp>
      <p:sp>
        <p:nvSpPr>
          <p:cNvPr id="13" name="Rectangle 12"/>
          <p:cNvSpPr/>
          <p:nvPr/>
        </p:nvSpPr>
        <p:spPr>
          <a:xfrm>
            <a:off x="4023360" y="3776472"/>
            <a:ext cx="2704563" cy="310896"/>
          </a:xfrm>
          <a:prstGeom prst="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7651" y="3749039"/>
            <a:ext cx="2743200" cy="365760"/>
          </a:xfrm>
          <a:prstGeom prst="rect">
            <a:avLst/>
          </a:prstGeom>
          <a:noFill/>
        </p:spPr>
        <p:txBody>
          <a:bodyPr wrap="square" lIns="0" tIns="0" rIns="0" bIns="0" anchor="ctr">
            <a:spAutoFit/>
          </a:bodyPr>
          <a:lstStyle/>
          <a:p>
            <a:pPr algn="l"/>
            <a:r>
              <a:rPr sz="1200" b="0" i="0">
                <a:solidFill>
                  <a:srgbClr val="1B2A3A"/>
                </a:solidFill>
                <a:latin typeface="Calibri"/>
              </a:rPr>
              <a:t>nullary  (35)</a:t>
            </a:r>
          </a:p>
        </p:txBody>
      </p:sp>
      <p:sp>
        <p:nvSpPr>
          <p:cNvPr id="15" name="TextBox 14"/>
          <p:cNvSpPr txBox="1"/>
          <p:nvPr/>
        </p:nvSpPr>
        <p:spPr>
          <a:xfrm>
            <a:off x="4023360" y="4434840"/>
            <a:ext cx="7589520" cy="430887"/>
          </a:xfrm>
          <a:prstGeom prst="rect">
            <a:avLst/>
          </a:prstGeom>
          <a:noFill/>
        </p:spPr>
        <p:txBody>
          <a:bodyPr wrap="square" lIns="0" tIns="0" rIns="0" bIns="0" anchor="t">
            <a:spAutoFit/>
          </a:bodyPr>
          <a:lstStyle/>
          <a:p>
            <a:pPr algn="l"/>
            <a:r>
              <a:rPr sz="1400" b="1" i="0" dirty="0">
                <a:solidFill>
                  <a:srgbClr val="1B2A3A"/>
                </a:solidFill>
                <a:latin typeface="Calibri"/>
              </a:rPr>
              <a:t>No rule broken</a:t>
            </a:r>
            <a:r>
              <a:rPr sz="1400" b="0" i="0" dirty="0">
                <a:solidFill>
                  <a:srgbClr val="1B2A3A"/>
                </a:solidFill>
                <a:latin typeface="Calibri"/>
              </a:rPr>
              <a:t> </a:t>
            </a:r>
            <a:r>
              <a:rPr lang="en-US" sz="1400" b="0" i="0" dirty="0">
                <a:solidFill>
                  <a:srgbClr val="1B2A3A"/>
                </a:solidFill>
                <a:latin typeface="Calibri"/>
              </a:rPr>
              <a:t>-</a:t>
            </a:r>
            <a:r>
              <a:rPr sz="1400" b="0" i="0" dirty="0">
                <a:solidFill>
                  <a:srgbClr val="1B2A3A"/>
                </a:solidFill>
                <a:latin typeface="Calibri"/>
              </a:rPr>
              <a:t> authenticating is only a SHOULD. What's notable is that nothing stops a stranger asking what a server can do.</a:t>
            </a:r>
          </a:p>
        </p:txBody>
      </p:sp>
      <p:sp>
        <p:nvSpPr>
          <p:cNvPr id="16" name="TextBox 15"/>
          <p:cNvSpPr txBox="1"/>
          <p:nvPr/>
        </p:nvSpPr>
        <p:spPr>
          <a:xfrm>
            <a:off x="548640" y="5257800"/>
            <a:ext cx="11091672" cy="822960"/>
          </a:xfrm>
          <a:prstGeom prst="rect">
            <a:avLst/>
          </a:prstGeom>
          <a:noFill/>
        </p:spPr>
        <p:txBody>
          <a:bodyPr wrap="square" lIns="0" tIns="0" rIns="0" bIns="0" anchor="t">
            <a:spAutoFit/>
          </a:bodyPr>
          <a:lstStyle/>
          <a:p>
            <a:pPr algn="l">
              <a:lnSpc>
                <a:spcPct val="105000"/>
              </a:lnSpc>
            </a:pPr>
            <a:r>
              <a:rPr sz="1300" b="0" i="0">
                <a:solidFill>
                  <a:srgbClr val="5C6B7A"/>
                </a:solidFill>
                <a:latin typeface="Calibri"/>
              </a:rPr>
              <a:t>Every recognisable vendor demanded a login: </a:t>
            </a:r>
            <a:r>
              <a:rPr sz="1300" b="0" i="0">
                <a:solidFill>
                  <a:srgbClr val="12233F"/>
                </a:solidFill>
                <a:latin typeface="Calibri"/>
              </a:rPr>
              <a:t>Stripe, Notion, Sentry, Linear, GitHub, PayPal, Square, Wix, Zapier, Atlassian, Neon, Grafana, Prisma, Vercel, Webflow.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2: listing is not running</a:t>
            </a:r>
          </a:p>
        </p:txBody>
      </p:sp>
      <p:sp>
        <p:nvSpPr>
          <p:cNvPr id="4" name="TextBox 3"/>
          <p:cNvSpPr txBox="1"/>
          <p:nvPr/>
        </p:nvSpPr>
        <p:spPr>
          <a:xfrm>
            <a:off x="548640" y="1645920"/>
            <a:ext cx="11091672" cy="248017"/>
          </a:xfrm>
          <a:prstGeom prst="rect">
            <a:avLst/>
          </a:prstGeom>
          <a:noFill/>
        </p:spPr>
        <p:txBody>
          <a:bodyPr wrap="square" lIns="0" tIns="0" rIns="0" bIns="0" anchor="t">
            <a:spAutoFit/>
          </a:bodyPr>
          <a:lstStyle/>
          <a:p>
            <a:pPr algn="l">
              <a:lnSpc>
                <a:spcPct val="105000"/>
              </a:lnSpc>
            </a:pPr>
            <a:r>
              <a:rPr sz="1600" b="0" i="0" dirty="0">
                <a:solidFill>
                  <a:srgbClr val="1B2A3A"/>
                </a:solidFill>
                <a:latin typeface="Calibri"/>
              </a:rPr>
              <a:t>Check #13 tested the invocation path directly on those 28 servers </a:t>
            </a:r>
            <a:r>
              <a:rPr lang="en-US" sz="1600" b="0" i="0" dirty="0">
                <a:solidFill>
                  <a:srgbClr val="1B2A3A"/>
                </a:solidFill>
                <a:latin typeface="Calibri"/>
              </a:rPr>
              <a:t>-</a:t>
            </a:r>
            <a:r>
              <a:rPr sz="1600" b="0" i="0" dirty="0">
                <a:solidFill>
                  <a:srgbClr val="1B2A3A"/>
                </a:solidFill>
                <a:latin typeface="Calibri"/>
              </a:rPr>
              <a:t> and it changed the picture.</a:t>
            </a:r>
          </a:p>
        </p:txBody>
      </p:sp>
      <p:sp>
        <p:nvSpPr>
          <p:cNvPr id="5" name="Rounded Rectangle 4"/>
          <p:cNvSpPr/>
          <p:nvPr/>
        </p:nvSpPr>
        <p:spPr>
          <a:xfrm>
            <a:off x="548640" y="2468880"/>
            <a:ext cx="2743200" cy="10972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68880"/>
            <a:ext cx="2743200" cy="1097280"/>
          </a:xfrm>
          <a:prstGeom prst="rect">
            <a:avLst/>
          </a:prstGeom>
          <a:noFill/>
        </p:spPr>
        <p:txBody>
          <a:bodyPr wrap="square" lIns="0" tIns="0" rIns="0" bIns="0" anchor="ctr">
            <a:spAutoFit/>
          </a:bodyPr>
          <a:lstStyle/>
          <a:p>
            <a:pPr algn="ctr"/>
            <a:r>
              <a:rPr sz="3000" b="1" i="0">
                <a:solidFill>
                  <a:srgbClr val="12233F"/>
                </a:solidFill>
                <a:latin typeface="Calibri"/>
              </a:rPr>
              <a:t>28</a:t>
            </a:r>
            <a:r>
              <a:rPr sz="1300" b="0" i="0">
                <a:solidFill>
                  <a:srgbClr val="1B2A3A"/>
                </a:solidFill>
                <a:latin typeface="Calibri"/>
              </a:rPr>
              <a:t>  list tools</a:t>
            </a:r>
          </a:p>
        </p:txBody>
      </p:sp>
      <p:sp>
        <p:nvSpPr>
          <p:cNvPr id="7" name="Right Arrow 6"/>
          <p:cNvSpPr/>
          <p:nvPr/>
        </p:nvSpPr>
        <p:spPr>
          <a:xfrm>
            <a:off x="3383280" y="2880360"/>
            <a:ext cx="45720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77639" y="2057400"/>
            <a:ext cx="2788920" cy="914400"/>
          </a:xfrm>
          <a:prstGeom prst="roundRect">
            <a:avLst>
              <a:gd name="adj" fmla="val 6000"/>
            </a:avLst>
          </a:prstGeom>
          <a:solidFill>
            <a:srgbClr val="DDEFE7"/>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77639" y="2057400"/>
            <a:ext cx="2788920" cy="914400"/>
          </a:xfrm>
          <a:prstGeom prst="rect">
            <a:avLst/>
          </a:prstGeom>
          <a:noFill/>
        </p:spPr>
        <p:txBody>
          <a:bodyPr wrap="square" lIns="0" tIns="0" rIns="0" bIns="0" anchor="ctr">
            <a:spAutoFit/>
          </a:bodyPr>
          <a:lstStyle/>
          <a:p>
            <a:pPr algn="ctr"/>
            <a:r>
              <a:rPr sz="2600" b="1" i="0">
                <a:solidFill>
                  <a:srgbClr val="2E7D32"/>
                </a:solidFill>
                <a:latin typeface="Calibri"/>
              </a:rPr>
              <a:t>22</a:t>
            </a:r>
            <a:r>
              <a:rPr sz="1200" b="0" i="0">
                <a:solidFill>
                  <a:srgbClr val="1B2A3A"/>
                </a:solidFill>
                <a:latin typeface="Calibri"/>
              </a:rPr>
              <a:t>  also let a stranger run a tool</a:t>
            </a:r>
          </a:p>
        </p:txBody>
      </p:sp>
      <p:sp>
        <p:nvSpPr>
          <p:cNvPr id="10" name="Rounded Rectangle 9"/>
          <p:cNvSpPr/>
          <p:nvPr/>
        </p:nvSpPr>
        <p:spPr>
          <a:xfrm>
            <a:off x="3977639" y="3108960"/>
            <a:ext cx="2788920" cy="914400"/>
          </a:xfrm>
          <a:prstGeom prst="roundRect">
            <a:avLst>
              <a:gd name="adj" fmla="val 6000"/>
            </a:avLst>
          </a:prstGeom>
          <a:solidFill>
            <a:srgbClr val="F3D9D9"/>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77639" y="3108960"/>
            <a:ext cx="2788920" cy="914400"/>
          </a:xfrm>
          <a:prstGeom prst="rect">
            <a:avLst/>
          </a:prstGeom>
          <a:noFill/>
        </p:spPr>
        <p:txBody>
          <a:bodyPr wrap="square" lIns="0" tIns="0" rIns="0" bIns="0" anchor="ctr">
            <a:spAutoFit/>
          </a:bodyPr>
          <a:lstStyle/>
          <a:p>
            <a:pPr algn="ctr"/>
            <a:r>
              <a:rPr sz="2600" b="1" i="0">
                <a:solidFill>
                  <a:srgbClr val="B23A3A"/>
                </a:solidFill>
                <a:latin typeface="Calibri"/>
              </a:rPr>
              <a:t>6</a:t>
            </a:r>
            <a:r>
              <a:rPr sz="1200" b="0" i="0">
                <a:solidFill>
                  <a:srgbClr val="1B2A3A"/>
                </a:solidFill>
                <a:latin typeface="Calibri"/>
              </a:rPr>
              <a:t>  gate execution (call → 401)</a:t>
            </a:r>
          </a:p>
        </p:txBody>
      </p:sp>
      <p:sp>
        <p:nvSpPr>
          <p:cNvPr id="12" name="TextBox 11"/>
          <p:cNvSpPr txBox="1"/>
          <p:nvPr/>
        </p:nvSpPr>
        <p:spPr>
          <a:xfrm>
            <a:off x="548640" y="4343400"/>
            <a:ext cx="6126480" cy="698589"/>
          </a:xfrm>
          <a:prstGeom prst="rect">
            <a:avLst/>
          </a:prstGeom>
          <a:noFill/>
        </p:spPr>
        <p:txBody>
          <a:bodyPr wrap="square" lIns="0" tIns="0" rIns="0" bIns="0" anchor="t">
            <a:spAutoFit/>
          </a:bodyPr>
          <a:lstStyle/>
          <a:p>
            <a:pPr algn="l">
              <a:lnSpc>
                <a:spcPct val="105000"/>
              </a:lnSpc>
              <a:spcAft>
                <a:spcPts val="600"/>
              </a:spcAft>
            </a:pPr>
            <a:r>
              <a:rPr sz="1300" b="0" i="0" dirty="0">
                <a:solidFill>
                  <a:srgbClr val="1B2A3A"/>
                </a:solidFill>
                <a:latin typeface="Calibri"/>
              </a:rPr>
              <a:t>The 6 that gate: dock, switch, gondola, </a:t>
            </a:r>
            <a:r>
              <a:rPr sz="1300" b="0" i="0" dirty="0" err="1">
                <a:solidFill>
                  <a:srgbClr val="1B2A3A"/>
                </a:solidFill>
                <a:latin typeface="Calibri"/>
              </a:rPr>
              <a:t>api-openmandate</a:t>
            </a:r>
            <a:r>
              <a:rPr sz="1300" b="0" i="0" dirty="0">
                <a:solidFill>
                  <a:srgbClr val="1B2A3A"/>
                </a:solidFill>
                <a:latin typeface="Calibri"/>
              </a:rPr>
              <a:t>, catalog-</a:t>
            </a:r>
            <a:r>
              <a:rPr sz="1300" b="0" i="0" dirty="0" err="1">
                <a:solidFill>
                  <a:srgbClr val="1B2A3A"/>
                </a:solidFill>
                <a:latin typeface="Calibri"/>
              </a:rPr>
              <a:t>api</a:t>
            </a:r>
            <a:r>
              <a:rPr sz="1300" b="0" i="0" dirty="0">
                <a:solidFill>
                  <a:srgbClr val="1B2A3A"/>
                </a:solidFill>
                <a:latin typeface="Calibri"/>
              </a:rPr>
              <a:t>, financial-data.</a:t>
            </a:r>
          </a:p>
          <a:p>
            <a:pPr algn="l">
              <a:lnSpc>
                <a:spcPct val="105000"/>
              </a:lnSpc>
            </a:pPr>
            <a:r>
              <a:rPr sz="1300" b="1" i="0" dirty="0">
                <a:solidFill>
                  <a:srgbClr val="12233F"/>
                </a:solidFill>
                <a:latin typeface="Calibri"/>
              </a:rPr>
              <a:t>So the honest headline is 22, not 28. Reporting “anyone can use” on all 28 would have over-stated about a fifth of them </a:t>
            </a:r>
            <a:r>
              <a:rPr lang="en-US" sz="1300" b="1" i="0" dirty="0">
                <a:solidFill>
                  <a:srgbClr val="12233F"/>
                </a:solidFill>
                <a:latin typeface="Calibri"/>
              </a:rPr>
              <a:t>-</a:t>
            </a:r>
            <a:r>
              <a:rPr sz="1300" b="1" i="0" dirty="0">
                <a:solidFill>
                  <a:srgbClr val="12233F"/>
                </a:solidFill>
                <a:latin typeface="Calibri"/>
              </a:rPr>
              <a:t> #13 replaces that inference with a measurement.</a:t>
            </a:r>
          </a:p>
        </p:txBody>
      </p:sp>
      <p:sp>
        <p:nvSpPr>
          <p:cNvPr id="13" name="Rounded Rectangle 12"/>
          <p:cNvSpPr/>
          <p:nvPr/>
        </p:nvSpPr>
        <p:spPr>
          <a:xfrm>
            <a:off x="7040880" y="2194560"/>
            <a:ext cx="4599432" cy="3474720"/>
          </a:xfrm>
          <a:prstGeom prst="roundRect">
            <a:avLst>
              <a:gd name="adj" fmla="val 6000"/>
            </a:avLst>
          </a:prstGeom>
          <a:solidFill>
            <a:srgbClr val="0E1B2E"/>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69480" y="2395728"/>
            <a:ext cx="4206240" cy="3108960"/>
          </a:xfrm>
          <a:prstGeom prst="rect">
            <a:avLst/>
          </a:prstGeom>
          <a:noFill/>
        </p:spPr>
        <p:txBody>
          <a:bodyPr wrap="square" lIns="0" tIns="0" rIns="0" bIns="0" anchor="t">
            <a:spAutoFit/>
          </a:bodyPr>
          <a:lstStyle/>
          <a:p>
            <a:pPr algn="l">
              <a:lnSpc>
                <a:spcPct val="112000"/>
              </a:lnSpc>
              <a:spcAft>
                <a:spcPts val="800"/>
              </a:spcAft>
            </a:pPr>
            <a:r>
              <a:rPr sz="1300" b="1" i="0">
                <a:solidFill>
                  <a:srgbClr val="02C39A"/>
                </a:solidFill>
                <a:latin typeface="Courier New"/>
              </a:rPr>
              <a:t>dock  —  evidence</a:t>
            </a:r>
          </a:p>
          <a:p>
            <a:pPr algn="l">
              <a:lnSpc>
                <a:spcPct val="112000"/>
              </a:lnSpc>
            </a:pPr>
            <a:r>
              <a:rPr sz="1250" b="0" i="0">
                <a:solidFill>
                  <a:srgbClr val="CADCFC"/>
                </a:solidFill>
                <a:latin typeface="Courier New"/>
              </a:rPr>
              <a:t>tools/list   (no auth)</a:t>
            </a:r>
          </a:p>
          <a:p>
            <a:pPr algn="l">
              <a:lnSpc>
                <a:spcPct val="112000"/>
              </a:lnSpc>
              <a:spcAft>
                <a:spcPts val="800"/>
              </a:spcAft>
            </a:pPr>
            <a:r>
              <a:rPr sz="1250" b="0" i="0">
                <a:solidFill>
                  <a:srgbClr val="8FE3C9"/>
                </a:solidFill>
                <a:latin typeface="Courier New"/>
              </a:rPr>
              <a:t>→ HTTP 200   { 71 tools }</a:t>
            </a:r>
          </a:p>
          <a:p>
            <a:pPr algn="l">
              <a:lnSpc>
                <a:spcPct val="112000"/>
              </a:lnSpc>
            </a:pPr>
            <a:r>
              <a:rPr sz="1250" b="0" i="0">
                <a:solidFill>
                  <a:srgbClr val="CADCFC"/>
                </a:solidFill>
                <a:latin typeface="Courier New"/>
              </a:rPr>
              <a:t>tools/call   (no auth)</a:t>
            </a:r>
          </a:p>
          <a:p>
            <a:pPr algn="l">
              <a:lnSpc>
                <a:spcPct val="112000"/>
              </a:lnSpc>
              <a:spcAft>
                <a:spcPts val="1000"/>
              </a:spcAft>
            </a:pPr>
            <a:r>
              <a:rPr sz="1250" b="0" i="0">
                <a:solidFill>
                  <a:srgbClr val="F3B0B0"/>
                </a:solidFill>
                <a:latin typeface="Courier New"/>
              </a:rPr>
              <a:t>→ HTTP 401   Unauthorized</a:t>
            </a:r>
          </a:p>
          <a:p>
            <a:pPr algn="l">
              <a:lnSpc>
                <a:spcPct val="112000"/>
              </a:lnSpc>
            </a:pPr>
            <a:r>
              <a:rPr sz="1200" b="0" i="1">
                <a:solidFill>
                  <a:srgbClr val="CADCFC"/>
                </a:solidFill>
                <a:latin typeface="Calibri"/>
              </a:rPr>
              <a:t>lists 71 tools, but gates every call.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3: anyone can mint a client</a:t>
            </a:r>
          </a:p>
        </p:txBody>
      </p:sp>
      <p:sp>
        <p:nvSpPr>
          <p:cNvPr id="4" name="Rounded Rectangle 3"/>
          <p:cNvSpPr/>
          <p:nvPr/>
        </p:nvSpPr>
        <p:spPr>
          <a:xfrm>
            <a:off x="548640" y="1737360"/>
            <a:ext cx="3383280" cy="205740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28800"/>
            <a:ext cx="3383280" cy="1874519"/>
          </a:xfrm>
          <a:prstGeom prst="rect">
            <a:avLst/>
          </a:prstGeom>
          <a:noFill/>
        </p:spPr>
        <p:txBody>
          <a:bodyPr wrap="square" lIns="0" tIns="0" rIns="0" bIns="0" anchor="ctr">
            <a:spAutoFit/>
          </a:bodyPr>
          <a:lstStyle/>
          <a:p>
            <a:pPr algn="ctr">
              <a:spcAft>
                <a:spcPts val="200"/>
              </a:spcAft>
            </a:pPr>
            <a:r>
              <a:rPr sz="6200" b="1" i="0">
                <a:solidFill>
                  <a:srgbClr val="02C39A"/>
                </a:solidFill>
                <a:latin typeface="Calibri"/>
              </a:rPr>
              <a:t>38</a:t>
            </a:r>
          </a:p>
          <a:p>
            <a:pPr algn="ctr"/>
            <a:r>
              <a:rPr sz="1400" b="0" i="0">
                <a:solidFill>
                  <a:srgbClr val="CADCFC"/>
                </a:solidFill>
                <a:latin typeface="Calibri"/>
              </a:rPr>
              <a:t>of 83 servers let anyone</a:t>
            </a:r>
          </a:p>
          <a:p>
            <a:pPr algn="ctr"/>
            <a:r>
              <a:rPr sz="1400" b="1" i="0">
                <a:solidFill>
                  <a:srgbClr val="FFFFFF"/>
                </a:solidFill>
                <a:latin typeface="Calibri"/>
              </a:rPr>
              <a:t>register a client — no approval</a:t>
            </a:r>
          </a:p>
        </p:txBody>
      </p:sp>
      <p:sp>
        <p:nvSpPr>
          <p:cNvPr id="6" name="TextBox 5"/>
          <p:cNvSpPr txBox="1"/>
          <p:nvPr/>
        </p:nvSpPr>
        <p:spPr>
          <a:xfrm>
            <a:off x="4206240" y="1737360"/>
            <a:ext cx="7406640" cy="868680"/>
          </a:xfrm>
          <a:prstGeom prst="rect">
            <a:avLst/>
          </a:prstGeom>
          <a:noFill/>
        </p:spPr>
        <p:txBody>
          <a:bodyPr wrap="square" lIns="0" tIns="0" rIns="0" bIns="0" anchor="t">
            <a:spAutoFit/>
          </a:bodyPr>
          <a:lstStyle/>
          <a:p>
            <a:pPr algn="l">
              <a:lnSpc>
                <a:spcPct val="105000"/>
              </a:lnSpc>
            </a:pPr>
            <a:r>
              <a:rPr sz="1500" b="1" i="0">
                <a:solidFill>
                  <a:srgbClr val="1C7293"/>
                </a:solidFill>
                <a:latin typeface="Calibri"/>
              </a:rPr>
              <a:t>Open Dynamic Client Registration (DCR): </a:t>
            </a:r>
            <a:r>
              <a:rPr sz="1500" b="0" i="0">
                <a:solidFill>
                  <a:srgbClr val="1B2A3A"/>
                </a:solidFill>
                <a:latin typeface="Calibri"/>
              </a:rPr>
              <a:t>an app registers itself with the login server automatically, no human in the loop. “Open” means anyone can.</a:t>
            </a:r>
          </a:p>
        </p:txBody>
      </p:sp>
      <p:sp>
        <p:nvSpPr>
          <p:cNvPr id="7" name="Rounded Rectangle 6"/>
          <p:cNvSpPr/>
          <p:nvPr/>
        </p:nvSpPr>
        <p:spPr>
          <a:xfrm>
            <a:off x="4206240"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43400" y="3094516"/>
            <a:ext cx="2057400" cy="623248"/>
          </a:xfrm>
          <a:prstGeom prst="rect">
            <a:avLst/>
          </a:prstGeom>
          <a:noFill/>
        </p:spPr>
        <p:txBody>
          <a:bodyPr wrap="square" lIns="0" tIns="0" rIns="0" bIns="0" anchor="ctr">
            <a:spAutoFit/>
          </a:bodyPr>
          <a:lstStyle/>
          <a:p>
            <a:pPr algn="l">
              <a:lnSpc>
                <a:spcPct val="100000"/>
              </a:lnSpc>
              <a:spcAft>
                <a:spcPts val="300"/>
              </a:spcAft>
            </a:pPr>
            <a:r>
              <a:rPr sz="1400" b="1" i="0" dirty="0">
                <a:solidFill>
                  <a:srgbClr val="12233F"/>
                </a:solidFill>
                <a:latin typeface="Calibri"/>
              </a:rPr>
              <a:t>1  Register</a:t>
            </a:r>
          </a:p>
          <a:p>
            <a:pPr algn="l">
              <a:lnSpc>
                <a:spcPct val="100000"/>
              </a:lnSpc>
            </a:pPr>
            <a:r>
              <a:rPr sz="1200" b="0" i="0" dirty="0">
                <a:solidFill>
                  <a:srgbClr val="1B2A3A"/>
                </a:solidFill>
                <a:latin typeface="Calibri"/>
              </a:rPr>
              <a:t>a legitimate-looking client </a:t>
            </a:r>
            <a:r>
              <a:rPr lang="en-US" sz="1200" b="0" i="0" dirty="0">
                <a:solidFill>
                  <a:srgbClr val="1B2A3A"/>
                </a:solidFill>
                <a:latin typeface="Calibri"/>
              </a:rPr>
              <a:t>-</a:t>
            </a:r>
            <a:r>
              <a:rPr sz="1200" b="0" i="0" dirty="0">
                <a:solidFill>
                  <a:srgbClr val="1B2A3A"/>
                </a:solidFill>
                <a:latin typeface="Calibri"/>
              </a:rPr>
              <a:t> no vetting.</a:t>
            </a:r>
          </a:p>
        </p:txBody>
      </p:sp>
      <p:sp>
        <p:nvSpPr>
          <p:cNvPr id="9" name="Right Arrow 8"/>
          <p:cNvSpPr/>
          <p:nvPr/>
        </p:nvSpPr>
        <p:spPr>
          <a:xfrm>
            <a:off x="6542531" y="3310128"/>
            <a:ext cx="128015" cy="14630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19"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79" y="2834640"/>
            <a:ext cx="2057400" cy="1143000"/>
          </a:xfrm>
          <a:prstGeom prst="rect">
            <a:avLst/>
          </a:prstGeom>
          <a:noFill/>
        </p:spPr>
        <p:txBody>
          <a:bodyPr wrap="square" lIns="0" tIns="0" rIns="0" bIns="0" anchor="ctr">
            <a:spAutoFit/>
          </a:bodyPr>
          <a:lstStyle/>
          <a:p>
            <a:pPr algn="l">
              <a:lnSpc>
                <a:spcPct val="100000"/>
              </a:lnSpc>
              <a:spcAft>
                <a:spcPts val="300"/>
              </a:spcAft>
            </a:pPr>
            <a:r>
              <a:rPr sz="1400" b="1" i="0">
                <a:solidFill>
                  <a:srgbClr val="12233F"/>
                </a:solidFill>
                <a:latin typeface="Calibri"/>
              </a:rPr>
              <a:t>2  Lure</a:t>
            </a:r>
          </a:p>
          <a:p>
            <a:pPr algn="l">
              <a:lnSpc>
                <a:spcPct val="100000"/>
              </a:lnSpc>
            </a:pPr>
            <a:r>
              <a:rPr sz="1200" b="0" i="0">
                <a:solidFill>
                  <a:srgbClr val="1B2A3A"/>
                </a:solidFill>
                <a:latin typeface="Calibri"/>
              </a:rPr>
              <a:t>a user into approving it.</a:t>
            </a:r>
          </a:p>
        </p:txBody>
      </p:sp>
      <p:sp>
        <p:nvSpPr>
          <p:cNvPr id="12" name="Right Arrow 11"/>
          <p:cNvSpPr/>
          <p:nvPr/>
        </p:nvSpPr>
        <p:spPr>
          <a:xfrm>
            <a:off x="9011411" y="3310128"/>
            <a:ext cx="128015" cy="14630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2743200"/>
            <a:ext cx="2331720" cy="1325880"/>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2834640"/>
            <a:ext cx="2057400" cy="1143000"/>
          </a:xfrm>
          <a:prstGeom prst="rect">
            <a:avLst/>
          </a:prstGeom>
          <a:noFill/>
        </p:spPr>
        <p:txBody>
          <a:bodyPr wrap="square" lIns="0" tIns="0" rIns="0" bIns="0" anchor="ctr">
            <a:spAutoFit/>
          </a:bodyPr>
          <a:lstStyle/>
          <a:p>
            <a:pPr algn="l">
              <a:lnSpc>
                <a:spcPct val="100000"/>
              </a:lnSpc>
              <a:spcAft>
                <a:spcPts val="300"/>
              </a:spcAft>
            </a:pPr>
            <a:r>
              <a:rPr sz="1400" b="1" i="0">
                <a:solidFill>
                  <a:srgbClr val="12233F"/>
                </a:solidFill>
                <a:latin typeface="Calibri"/>
              </a:rPr>
              <a:t>3  Receive</a:t>
            </a:r>
          </a:p>
          <a:p>
            <a:pPr algn="l">
              <a:lnSpc>
                <a:spcPct val="100000"/>
              </a:lnSpc>
            </a:pPr>
            <a:r>
              <a:rPr sz="1200" b="0" i="0">
                <a:solidFill>
                  <a:srgbClr val="1B2A3A"/>
                </a:solidFill>
                <a:latin typeface="Calibri"/>
              </a:rPr>
              <a:t>tokens issued for that user.</a:t>
            </a:r>
          </a:p>
        </p:txBody>
      </p:sp>
      <p:sp>
        <p:nvSpPr>
          <p:cNvPr id="15" name="Rounded Rectangle 14"/>
          <p:cNvSpPr/>
          <p:nvPr/>
        </p:nvSpPr>
        <p:spPr>
          <a:xfrm>
            <a:off x="548640" y="4343400"/>
            <a:ext cx="11091672" cy="150876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59" y="4739124"/>
            <a:ext cx="10543032" cy="717312"/>
          </a:xfrm>
          <a:prstGeom prst="rect">
            <a:avLst/>
          </a:prstGeom>
          <a:noFill/>
        </p:spPr>
        <p:txBody>
          <a:bodyPr wrap="square" lIns="0" tIns="0" rIns="0" bIns="0" anchor="ctr">
            <a:spAutoFit/>
          </a:bodyPr>
          <a:lstStyle/>
          <a:p>
            <a:pPr algn="l">
              <a:lnSpc>
                <a:spcPct val="105000"/>
              </a:lnSpc>
            </a:pPr>
            <a:r>
              <a:rPr sz="1500" b="1" i="0" dirty="0">
                <a:solidFill>
                  <a:srgbClr val="1C7293"/>
                </a:solidFill>
                <a:latin typeface="Calibri"/>
              </a:rPr>
              <a:t>Why it matters.  </a:t>
            </a:r>
            <a:r>
              <a:rPr sz="1500" b="0" i="0" dirty="0">
                <a:solidFill>
                  <a:srgbClr val="1B2A3A"/>
                </a:solidFill>
                <a:latin typeface="Calibri"/>
              </a:rPr>
              <a:t>Open registration breaks no rule </a:t>
            </a:r>
            <a:r>
              <a:rPr lang="en-US" sz="1500" dirty="0">
                <a:solidFill>
                  <a:srgbClr val="1B2A3A"/>
                </a:solidFill>
                <a:latin typeface="Calibri"/>
              </a:rPr>
              <a:t>-</a:t>
            </a:r>
            <a:r>
              <a:rPr sz="1500" b="0" i="0" dirty="0">
                <a:solidFill>
                  <a:srgbClr val="1B2A3A"/>
                </a:solidFill>
                <a:latin typeface="Calibri"/>
              </a:rPr>
              <a:t> the spec permits it. But the spec itself flags it as the prerequisite for consent-phishing and client-impersonation attacks, and it is the one piece of the identity-confusion risk visible without any token. That is why we report it as posture, not a pass. (Of the rest: 35 advertise no registration at all; 10 were inconclusive.)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RESULTS</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Finding 4: a write check that found nothing — and its cost</a:t>
            </a:r>
          </a:p>
        </p:txBody>
      </p:sp>
      <p:sp>
        <p:nvSpPr>
          <p:cNvPr id="4" name="Rounded Rectangle 3"/>
          <p:cNvSpPr/>
          <p:nvPr/>
        </p:nvSpPr>
        <p:spPr>
          <a:xfrm>
            <a:off x="548640" y="1783080"/>
            <a:ext cx="5257800" cy="1874519"/>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709160" cy="1600200"/>
          </a:xfrm>
          <a:prstGeom prst="rect">
            <a:avLst/>
          </a:prstGeom>
          <a:noFill/>
        </p:spPr>
        <p:txBody>
          <a:bodyPr wrap="square" lIns="0" tIns="0" rIns="0" bIns="0" anchor="t">
            <a:spAutoFit/>
          </a:bodyPr>
          <a:lstStyle/>
          <a:p>
            <a:pPr algn="l">
              <a:lnSpc>
                <a:spcPct val="105000"/>
              </a:lnSpc>
              <a:spcAft>
                <a:spcPts val="200"/>
              </a:spcAft>
            </a:pPr>
            <a:r>
              <a:rPr sz="4400" b="1" i="0">
                <a:solidFill>
                  <a:srgbClr val="1C7293"/>
                </a:solidFill>
                <a:latin typeface="Calibri"/>
              </a:rPr>
              <a:t>0</a:t>
            </a:r>
          </a:p>
          <a:p>
            <a:pPr algn="l">
              <a:lnSpc>
                <a:spcPct val="105000"/>
              </a:lnSpc>
            </a:pPr>
            <a:r>
              <a:rPr sz="1400" b="0" i="0">
                <a:solidFill>
                  <a:srgbClr val="1B2A3A"/>
                </a:solidFill>
                <a:latin typeface="Calibri"/>
              </a:rPr>
              <a:t>redirect-uri findings (#14). Of 47 testable: 23 correctly rejected the bad address, 24 inconclusive.</a:t>
            </a:r>
          </a:p>
        </p:txBody>
      </p:sp>
      <p:sp>
        <p:nvSpPr>
          <p:cNvPr id="6" name="Rounded Rectangle 5"/>
          <p:cNvSpPr/>
          <p:nvPr/>
        </p:nvSpPr>
        <p:spPr>
          <a:xfrm>
            <a:off x="6382512" y="1783080"/>
            <a:ext cx="5257800" cy="1874519"/>
          </a:xfrm>
          <a:prstGeom prst="roundRect">
            <a:avLst>
              <a:gd name="adj" fmla="val 6000"/>
            </a:avLst>
          </a:prstGeom>
          <a:solidFill>
            <a:srgbClr val="EEF3F8"/>
          </a:solidFill>
          <a:ln w="1270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56832" y="2385600"/>
            <a:ext cx="4709160" cy="669479"/>
          </a:xfrm>
          <a:prstGeom prst="rect">
            <a:avLst/>
          </a:prstGeom>
          <a:noFill/>
        </p:spPr>
        <p:txBody>
          <a:bodyPr wrap="square" lIns="0" tIns="0" rIns="0" bIns="0" anchor="ctr">
            <a:spAutoFit/>
          </a:bodyPr>
          <a:lstStyle/>
          <a:p>
            <a:pPr algn="l">
              <a:lnSpc>
                <a:spcPct val="105000"/>
              </a:lnSpc>
            </a:pPr>
            <a:r>
              <a:rPr sz="1400" b="0" i="0" dirty="0">
                <a:solidFill>
                  <a:srgbClr val="1B2A3A"/>
                </a:solidFill>
                <a:latin typeface="Calibri"/>
              </a:rPr>
              <a:t>Half were inconclusive because a real login server shows its login page before it validates the address </a:t>
            </a:r>
            <a:r>
              <a:rPr lang="en-US" sz="1400" b="0" i="0" dirty="0">
                <a:solidFill>
                  <a:srgbClr val="1B2A3A"/>
                </a:solidFill>
                <a:latin typeface="Calibri"/>
              </a:rPr>
              <a:t>-</a:t>
            </a:r>
            <a:r>
              <a:rPr sz="1400" b="0" i="0" dirty="0">
                <a:solidFill>
                  <a:srgbClr val="1B2A3A"/>
                </a:solidFill>
                <a:latin typeface="Calibri"/>
              </a:rPr>
              <a:t> the same wall that puts deeper checks out of reach.</a:t>
            </a:r>
          </a:p>
        </p:txBody>
      </p:sp>
      <p:sp>
        <p:nvSpPr>
          <p:cNvPr id="8" name="Rounded Rectangle 7"/>
          <p:cNvSpPr/>
          <p:nvPr/>
        </p:nvSpPr>
        <p:spPr>
          <a:xfrm>
            <a:off x="548640" y="3977639"/>
            <a:ext cx="11091672" cy="1920240"/>
          </a:xfrm>
          <a:prstGeom prst="roundRect">
            <a:avLst>
              <a:gd name="adj" fmla="val 6000"/>
            </a:avLst>
          </a:prstGeom>
          <a:solidFill>
            <a:srgbClr val="FBEFD8"/>
          </a:solidFill>
          <a:ln w="1905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160520"/>
            <a:ext cx="10451592" cy="1554480"/>
          </a:xfrm>
          <a:prstGeom prst="rect">
            <a:avLst/>
          </a:prstGeom>
          <a:noFill/>
        </p:spPr>
        <p:txBody>
          <a:bodyPr wrap="square" lIns="0" tIns="0" rIns="0" bIns="0" anchor="ctr">
            <a:spAutoFit/>
          </a:bodyPr>
          <a:lstStyle/>
          <a:p>
            <a:pPr algn="l">
              <a:lnSpc>
                <a:spcPct val="105000"/>
              </a:lnSpc>
              <a:spcAft>
                <a:spcPts val="800"/>
              </a:spcAft>
            </a:pPr>
            <a:r>
              <a:rPr sz="1700" b="1" i="0">
                <a:solidFill>
                  <a:srgbClr val="B4740A"/>
                </a:solidFill>
                <a:latin typeface="Calibri"/>
              </a:rPr>
              <a:t>The cost, stated plainly.</a:t>
            </a:r>
          </a:p>
          <a:p>
            <a:pPr algn="l">
              <a:lnSpc>
                <a:spcPct val="105000"/>
              </a:lnSpc>
              <a:spcAft>
                <a:spcPts val="800"/>
              </a:spcAft>
            </a:pPr>
            <a:r>
              <a:rPr sz="1500" b="0" i="0">
                <a:solidFill>
                  <a:srgbClr val="1B2A3A"/>
                </a:solidFill>
                <a:latin typeface="Calibri"/>
              </a:rPr>
              <a:t>Running the two write checks created 76 client registrations on other people's servers that we could not delete (38 from #12, 38 from #14). Zero findings, real litter left behind.</a:t>
            </a:r>
          </a:p>
          <a:p>
            <a:pPr algn="l">
              <a:lnSpc>
                <a:spcPct val="105000"/>
              </a:lnSpc>
            </a:pPr>
            <a:r>
              <a:rPr sz="1400" b="0" i="0">
                <a:solidFill>
                  <a:srgbClr val="1B2A3A"/>
                </a:solidFill>
                <a:latin typeface="Calibri"/>
              </a:rPr>
              <a:t>They are inert, expire on their own, and every identifier we created is journalled before any attempt to delete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VALIDATION</a:t>
            </a:r>
          </a:p>
        </p:txBody>
      </p:sp>
      <p:sp>
        <p:nvSpPr>
          <p:cNvPr id="3" name="TextBox 2"/>
          <p:cNvSpPr txBox="1"/>
          <p:nvPr/>
        </p:nvSpPr>
        <p:spPr>
          <a:xfrm>
            <a:off x="548640" y="658368"/>
            <a:ext cx="11091672" cy="731520"/>
          </a:xfrm>
          <a:prstGeom prst="rect">
            <a:avLst/>
          </a:prstGeom>
          <a:noFill/>
        </p:spPr>
        <p:txBody>
          <a:bodyPr wrap="square" lIns="0" tIns="0" rIns="0" bIns="0" anchor="t">
            <a:spAutoFit/>
          </a:bodyPr>
          <a:lstStyle/>
          <a:p>
            <a:pPr algn="l"/>
            <a:r>
              <a:rPr sz="2800" b="1" i="0">
                <a:solidFill>
                  <a:srgbClr val="12233F"/>
                </a:solidFill>
                <a:latin typeface="Calibri"/>
              </a:rPr>
              <a:t>How we know the checks are right</a:t>
            </a:r>
          </a:p>
        </p:txBody>
      </p:sp>
      <p:sp>
        <p:nvSpPr>
          <p:cNvPr id="4" name="TextBox 3"/>
          <p:cNvSpPr txBox="1"/>
          <p:nvPr/>
        </p:nvSpPr>
        <p:spPr>
          <a:xfrm>
            <a:off x="548640" y="1828800"/>
            <a:ext cx="6126480" cy="2377440"/>
          </a:xfrm>
          <a:prstGeom prst="rect">
            <a:avLst/>
          </a:prstGeom>
          <a:noFill/>
        </p:spPr>
        <p:txBody>
          <a:bodyPr wrap="square" lIns="0" tIns="0" rIns="0" bIns="0" anchor="t">
            <a:spAutoFit/>
          </a:bodyPr>
          <a:lstStyle/>
          <a:p>
            <a:pPr algn="l">
              <a:lnSpc>
                <a:spcPct val="103000"/>
              </a:lnSpc>
              <a:spcAft>
                <a:spcPts val="1200"/>
              </a:spcAft>
            </a:pPr>
            <a:r>
              <a:rPr sz="1600" b="0" i="0">
                <a:solidFill>
                  <a:srgbClr val="1B2A3A"/>
                </a:solidFill>
                <a:latin typeface="Calibri"/>
              </a:rPr>
              <a:t>•  Seven purpose-built practice servers, one per posture (wide-open, hardened, broken-auth, open-OAuth, and more).</a:t>
            </a:r>
          </a:p>
          <a:p>
            <a:pPr algn="l">
              <a:lnSpc>
                <a:spcPct val="103000"/>
              </a:lnSpc>
              <a:spcAft>
                <a:spcPts val="1200"/>
              </a:spcAft>
            </a:pPr>
            <a:r>
              <a:rPr sz="1600" b="0" i="0">
                <a:solidFill>
                  <a:srgbClr val="1B2A3A"/>
                </a:solidFill>
                <a:latin typeface="Calibri"/>
              </a:rPr>
              <a:t>•  A check counts as working only when it says HAS_GAP against the broken server AND NO_GAP against the correct one.</a:t>
            </a:r>
          </a:p>
          <a:p>
            <a:pPr algn="l">
              <a:lnSpc>
                <a:spcPct val="103000"/>
              </a:lnSpc>
              <a:spcAft>
                <a:spcPts val="0"/>
              </a:spcAft>
            </a:pPr>
            <a:r>
              <a:rPr sz="1600" b="0" i="0">
                <a:solidFill>
                  <a:srgbClr val="1B2A3A"/>
                </a:solidFill>
                <a:latin typeface="Calibri"/>
              </a:rPr>
              <a:t>•  Testing each check against both a broken and a correct server catches two failure modes: a check that misses a real gap, and one that reports a gap that is not there.</a:t>
            </a:r>
          </a:p>
        </p:txBody>
      </p:sp>
      <p:sp>
        <p:nvSpPr>
          <p:cNvPr id="5" name="Rounded Rectangle 4"/>
          <p:cNvSpPr/>
          <p:nvPr/>
        </p:nvSpPr>
        <p:spPr>
          <a:xfrm>
            <a:off x="7040880" y="1828800"/>
            <a:ext cx="4617720" cy="3657600"/>
          </a:xfrm>
          <a:prstGeom prst="roundRect">
            <a:avLst>
              <a:gd name="adj" fmla="val 6000"/>
            </a:avLst>
          </a:prstGeom>
          <a:solidFill>
            <a:srgbClr val="12233F"/>
          </a:solidFill>
          <a:ln w="12700">
            <a:solidFill>
              <a:srgbClr val="122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69480" y="2639663"/>
            <a:ext cx="4160520" cy="2127314"/>
          </a:xfrm>
          <a:prstGeom prst="rect">
            <a:avLst/>
          </a:prstGeom>
          <a:noFill/>
        </p:spPr>
        <p:txBody>
          <a:bodyPr wrap="square" lIns="0" tIns="0" rIns="0" bIns="0" anchor="ctr">
            <a:spAutoFit/>
          </a:bodyPr>
          <a:lstStyle/>
          <a:p>
            <a:pPr algn="ctr">
              <a:lnSpc>
                <a:spcPct val="105000"/>
              </a:lnSpc>
              <a:spcAft>
                <a:spcPts val="200"/>
              </a:spcAft>
            </a:pPr>
            <a:r>
              <a:rPr sz="5400" b="1" i="0" dirty="0">
                <a:solidFill>
                  <a:srgbClr val="02C39A"/>
                </a:solidFill>
                <a:latin typeface="Calibri"/>
              </a:rPr>
              <a:t>213</a:t>
            </a:r>
          </a:p>
          <a:p>
            <a:pPr algn="ctr">
              <a:lnSpc>
                <a:spcPct val="105000"/>
              </a:lnSpc>
              <a:spcAft>
                <a:spcPts val="1400"/>
              </a:spcAft>
            </a:pPr>
            <a:r>
              <a:rPr sz="1400" b="0" i="0" dirty="0">
                <a:solidFill>
                  <a:srgbClr val="CADCFC"/>
                </a:solidFill>
                <a:latin typeface="Calibri"/>
              </a:rPr>
              <a:t>automated tests, all passing</a:t>
            </a:r>
          </a:p>
          <a:p>
            <a:pPr algn="l">
              <a:lnSpc>
                <a:spcPct val="105000"/>
              </a:lnSpc>
              <a:spcAft>
                <a:spcPts val="600"/>
              </a:spcAft>
            </a:pPr>
            <a:r>
              <a:rPr sz="1400" b="0" i="0" dirty="0">
                <a:solidFill>
                  <a:srgbClr val="FFFFFF"/>
                </a:solidFill>
                <a:latin typeface="Calibri"/>
              </a:rPr>
              <a:t>38  live </a:t>
            </a:r>
            <a:r>
              <a:rPr lang="en-US" sz="1400" b="0" i="0" dirty="0">
                <a:solidFill>
                  <a:srgbClr val="FFFFFF"/>
                </a:solidFill>
                <a:latin typeface="Calibri"/>
              </a:rPr>
              <a:t>-</a:t>
            </a:r>
            <a:r>
              <a:rPr sz="1400" b="0" i="0" dirty="0">
                <a:solidFill>
                  <a:srgbClr val="FFFFFF"/>
                </a:solidFill>
                <a:latin typeface="Calibri"/>
              </a:rPr>
              <a:t> boot a server and scan it</a:t>
            </a:r>
          </a:p>
          <a:p>
            <a:pPr algn="l">
              <a:lnSpc>
                <a:spcPct val="105000"/>
              </a:lnSpc>
              <a:spcAft>
                <a:spcPts val="600"/>
              </a:spcAft>
            </a:pPr>
            <a:r>
              <a:rPr sz="1400" b="0" i="0" dirty="0">
                <a:solidFill>
                  <a:srgbClr val="FFFFFF"/>
                </a:solidFill>
                <a:latin typeface="Calibri"/>
              </a:rPr>
              <a:t>111  unit </a:t>
            </a:r>
            <a:r>
              <a:rPr lang="en-US" sz="1400" b="0" i="0" dirty="0">
                <a:solidFill>
                  <a:srgbClr val="FFFFFF"/>
                </a:solidFill>
                <a:latin typeface="Calibri"/>
              </a:rPr>
              <a:t>-</a:t>
            </a:r>
            <a:r>
              <a:rPr sz="1400" b="0" i="0" dirty="0">
                <a:solidFill>
                  <a:srgbClr val="FFFFFF"/>
                </a:solidFill>
                <a:latin typeface="Calibri"/>
              </a:rPr>
              <a:t> individual judgements</a:t>
            </a:r>
          </a:p>
          <a:p>
            <a:pPr algn="l">
              <a:lnSpc>
                <a:spcPct val="105000"/>
              </a:lnSpc>
            </a:pPr>
            <a:r>
              <a:rPr sz="1400" b="0" i="0" dirty="0">
                <a:solidFill>
                  <a:srgbClr val="FFFFFF"/>
                </a:solidFill>
                <a:latin typeface="Calibri"/>
              </a:rPr>
              <a:t>64  regression </a:t>
            </a:r>
            <a:r>
              <a:rPr lang="en-US" sz="1400" b="0" i="0" dirty="0">
                <a:solidFill>
                  <a:srgbClr val="FFFFFF"/>
                </a:solidFill>
                <a:latin typeface="Calibri"/>
              </a:rPr>
              <a:t>-</a:t>
            </a:r>
            <a:r>
              <a:rPr sz="1400" b="0" i="0" dirty="0">
                <a:solidFill>
                  <a:srgbClr val="FFFFFF"/>
                </a:solidFill>
                <a:latin typeface="Calibri"/>
              </a:rPr>
              <a:t> pin bugs we fixed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640080"/>
            <a:ext cx="11091672" cy="200055"/>
          </a:xfrm>
          <a:prstGeom prst="rect">
            <a:avLst/>
          </a:prstGeom>
          <a:noFill/>
        </p:spPr>
        <p:txBody>
          <a:bodyPr wrap="square" lIns="0" tIns="0" rIns="0" bIns="0" anchor="t">
            <a:spAutoFit/>
          </a:bodyPr>
          <a:lstStyle/>
          <a:p>
            <a:pPr algn="l"/>
            <a:r>
              <a:rPr sz="1300" b="1" i="0" dirty="0">
                <a:solidFill>
                  <a:srgbClr val="02C39A"/>
                </a:solidFill>
                <a:latin typeface="Calibri"/>
              </a:rPr>
              <a:t>SCOPE </a:t>
            </a:r>
            <a:r>
              <a:rPr lang="en-US" sz="1300" b="1" i="0" dirty="0">
                <a:solidFill>
                  <a:srgbClr val="02C39A"/>
                </a:solidFill>
                <a:latin typeface="Calibri"/>
              </a:rPr>
              <a:t>-</a:t>
            </a:r>
            <a:r>
              <a:rPr sz="1300" b="1" i="0" dirty="0">
                <a:solidFill>
                  <a:srgbClr val="02C39A"/>
                </a:solidFill>
                <a:latin typeface="Calibri"/>
              </a:rPr>
              <a:t> THE CAVEAT THAT MATTERS</a:t>
            </a:r>
          </a:p>
        </p:txBody>
      </p:sp>
      <p:sp>
        <p:nvSpPr>
          <p:cNvPr id="3" name="TextBox 2"/>
          <p:cNvSpPr txBox="1"/>
          <p:nvPr/>
        </p:nvSpPr>
        <p:spPr>
          <a:xfrm>
            <a:off x="548640" y="1051560"/>
            <a:ext cx="11091672" cy="1188720"/>
          </a:xfrm>
          <a:prstGeom prst="rect">
            <a:avLst/>
          </a:prstGeom>
          <a:noFill/>
        </p:spPr>
        <p:txBody>
          <a:bodyPr wrap="square" lIns="0" tIns="0" rIns="0" bIns="0" anchor="t">
            <a:spAutoFit/>
          </a:bodyPr>
          <a:lstStyle/>
          <a:p>
            <a:pPr algn="l">
              <a:lnSpc>
                <a:spcPct val="105000"/>
              </a:lnSpc>
            </a:pPr>
            <a:r>
              <a:rPr sz="2500" b="1" i="0">
                <a:solidFill>
                  <a:srgbClr val="FFFFFF"/>
                </a:solidFill>
                <a:latin typeface="Calibri"/>
              </a:rPr>
              <a:t>We measure whether a server advertises and enforces login. We do not measure whether that login is sound.</a:t>
            </a:r>
          </a:p>
        </p:txBody>
      </p:sp>
      <p:sp>
        <p:nvSpPr>
          <p:cNvPr id="4" name="TextBox 3"/>
          <p:cNvSpPr txBox="1"/>
          <p:nvPr/>
        </p:nvSpPr>
        <p:spPr>
          <a:xfrm>
            <a:off x="548640" y="2331720"/>
            <a:ext cx="11091672" cy="640080"/>
          </a:xfrm>
          <a:prstGeom prst="rect">
            <a:avLst/>
          </a:prstGeom>
          <a:noFill/>
        </p:spPr>
        <p:txBody>
          <a:bodyPr wrap="square" lIns="0" tIns="0" rIns="0" bIns="0" anchor="t">
            <a:spAutoFit/>
          </a:bodyPr>
          <a:lstStyle/>
          <a:p>
            <a:pPr algn="l"/>
            <a:r>
              <a:rPr sz="1600" b="0" i="0">
                <a:solidFill>
                  <a:srgbClr val="CADCFC"/>
                </a:solidFill>
                <a:latin typeface="Calibri"/>
              </a:rPr>
              <a:t>A server can pass all 14 checks and still accept a token meant for someone else, or leak one user's data to another.</a:t>
            </a:r>
          </a:p>
        </p:txBody>
      </p:sp>
      <p:sp>
        <p:nvSpPr>
          <p:cNvPr id="5" name="Rounded Rectangle 4"/>
          <p:cNvSpPr/>
          <p:nvPr/>
        </p:nvSpPr>
        <p:spPr>
          <a:xfrm>
            <a:off x="548640" y="3291840"/>
            <a:ext cx="3017520" cy="86868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291840"/>
            <a:ext cx="3017520" cy="868680"/>
          </a:xfrm>
          <a:prstGeom prst="rect">
            <a:avLst/>
          </a:prstGeom>
          <a:noFill/>
        </p:spPr>
        <p:txBody>
          <a:bodyPr wrap="square" lIns="0" tIns="0" rIns="0" bIns="0" anchor="ctr">
            <a:spAutoFit/>
          </a:bodyPr>
          <a:lstStyle/>
          <a:p>
            <a:pPr algn="ctr"/>
            <a:r>
              <a:rPr sz="1500" b="1" i="0">
                <a:solidFill>
                  <a:srgbClr val="FFFFFF"/>
                </a:solidFill>
                <a:latin typeface="Calibri"/>
              </a:rPr>
              <a:t>Client</a:t>
            </a:r>
          </a:p>
        </p:txBody>
      </p:sp>
      <p:sp>
        <p:nvSpPr>
          <p:cNvPr id="7" name="Rounded Rectangle 6"/>
          <p:cNvSpPr/>
          <p:nvPr/>
        </p:nvSpPr>
        <p:spPr>
          <a:xfrm>
            <a:off x="4114800" y="3291840"/>
            <a:ext cx="3017520" cy="86868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0" y="3291840"/>
            <a:ext cx="3017520" cy="868680"/>
          </a:xfrm>
          <a:prstGeom prst="rect">
            <a:avLst/>
          </a:prstGeom>
          <a:noFill/>
        </p:spPr>
        <p:txBody>
          <a:bodyPr wrap="square" lIns="0" tIns="0" rIns="0" bIns="0" anchor="ctr">
            <a:spAutoFit/>
          </a:bodyPr>
          <a:lstStyle/>
          <a:p>
            <a:pPr algn="ctr"/>
            <a:r>
              <a:rPr sz="1500" b="1" i="0">
                <a:solidFill>
                  <a:srgbClr val="FFFFFF"/>
                </a:solidFill>
                <a:latin typeface="Calibri"/>
              </a:rPr>
              <a:t>MCP server</a:t>
            </a:r>
          </a:p>
        </p:txBody>
      </p:sp>
      <p:sp>
        <p:nvSpPr>
          <p:cNvPr id="9" name="Rounded Rectangle 8"/>
          <p:cNvSpPr/>
          <p:nvPr/>
        </p:nvSpPr>
        <p:spPr>
          <a:xfrm>
            <a:off x="7680960" y="3291840"/>
            <a:ext cx="3017520" cy="868680"/>
          </a:xfrm>
          <a:prstGeom prst="roundRect">
            <a:avLst>
              <a:gd name="adj" fmla="val 6000"/>
            </a:avLst>
          </a:prstGeom>
          <a:solidFill>
            <a:srgbClr val="2A2036"/>
          </a:solidFill>
          <a:ln w="12700">
            <a:solidFill>
              <a:srgbClr val="B47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0" y="3291840"/>
            <a:ext cx="3017520" cy="868680"/>
          </a:xfrm>
          <a:prstGeom prst="rect">
            <a:avLst/>
          </a:prstGeom>
          <a:noFill/>
        </p:spPr>
        <p:txBody>
          <a:bodyPr wrap="square" lIns="0" tIns="0" rIns="0" bIns="0" anchor="ctr">
            <a:spAutoFit/>
          </a:bodyPr>
          <a:lstStyle/>
          <a:p>
            <a:pPr algn="ctr"/>
            <a:r>
              <a:rPr sz="1500" b="1" i="0">
                <a:solidFill>
                  <a:srgbClr val="F0C97A"/>
                </a:solidFill>
                <a:latin typeface="Calibri"/>
              </a:rPr>
              <a:t>true back-end</a:t>
            </a:r>
          </a:p>
        </p:txBody>
      </p:sp>
      <p:sp>
        <p:nvSpPr>
          <p:cNvPr id="11" name="Right Arrow 10"/>
          <p:cNvSpPr/>
          <p:nvPr/>
        </p:nvSpPr>
        <p:spPr>
          <a:xfrm>
            <a:off x="3566160" y="3584448"/>
            <a:ext cx="502920" cy="27432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7132320" y="3584448"/>
            <a:ext cx="502920" cy="274320"/>
          </a:xfrm>
          <a:prstGeom prst="rightArrow">
            <a:avLst/>
          </a:prstGeom>
          <a:solidFill>
            <a:srgbClr val="B474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0" y="4251960"/>
            <a:ext cx="6583680" cy="184666"/>
          </a:xfrm>
          <a:prstGeom prst="rect">
            <a:avLst/>
          </a:prstGeom>
          <a:noFill/>
        </p:spPr>
        <p:txBody>
          <a:bodyPr wrap="square" lIns="0" tIns="0" rIns="0" bIns="0" anchor="t">
            <a:spAutoFit/>
          </a:bodyPr>
          <a:lstStyle/>
          <a:p>
            <a:pPr algn="l"/>
            <a:r>
              <a:rPr sz="1200" b="0" i="1" dirty="0">
                <a:solidFill>
                  <a:srgbClr val="8FA6C4"/>
                </a:solidFill>
                <a:latin typeface="Calibri"/>
              </a:rPr>
              <a:t>we can see this hop                       invisible from outside </a:t>
            </a:r>
            <a:r>
              <a:rPr lang="en-US" sz="1200" b="0" i="1" dirty="0">
                <a:solidFill>
                  <a:srgbClr val="8FA6C4"/>
                </a:solidFill>
                <a:latin typeface="Calibri"/>
              </a:rPr>
              <a:t>-</a:t>
            </a:r>
            <a:r>
              <a:rPr sz="1200" b="0" i="1" dirty="0">
                <a:solidFill>
                  <a:srgbClr val="8FA6C4"/>
                </a:solidFill>
                <a:latin typeface="Calibri"/>
              </a:rPr>
              <a:t> even with a token</a:t>
            </a:r>
          </a:p>
        </p:txBody>
      </p:sp>
      <p:sp>
        <p:nvSpPr>
          <p:cNvPr id="14" name="TextBox 13"/>
          <p:cNvSpPr txBox="1"/>
          <p:nvPr/>
        </p:nvSpPr>
        <p:spPr>
          <a:xfrm>
            <a:off x="548640" y="5029200"/>
            <a:ext cx="11091672" cy="474938"/>
          </a:xfrm>
          <a:prstGeom prst="rect">
            <a:avLst/>
          </a:prstGeom>
          <a:noFill/>
        </p:spPr>
        <p:txBody>
          <a:bodyPr wrap="square" lIns="0" tIns="0" rIns="0" bIns="0" anchor="t">
            <a:spAutoFit/>
          </a:bodyPr>
          <a:lstStyle/>
          <a:p>
            <a:pPr algn="l">
              <a:lnSpc>
                <a:spcPct val="105000"/>
              </a:lnSpc>
            </a:pPr>
            <a:r>
              <a:rPr sz="1500" b="0" i="0" dirty="0">
                <a:solidFill>
                  <a:srgbClr val="CADCFC"/>
                </a:solidFill>
                <a:latin typeface="Calibri"/>
              </a:rPr>
              <a:t>We deliberately scoped the project to what a no-credential caller can observe. The dangerous mistakes live on that second hop </a:t>
            </a:r>
            <a:r>
              <a:rPr lang="en-US" sz="1500" b="0" i="0" dirty="0">
                <a:solidFill>
                  <a:srgbClr val="CADCFC"/>
                </a:solidFill>
                <a:latin typeface="Calibri"/>
              </a:rPr>
              <a:t>-</a:t>
            </a:r>
            <a:r>
              <a:rPr sz="1500" b="0" i="0" dirty="0">
                <a:solidFill>
                  <a:srgbClr val="CADCFC"/>
                </a:solidFill>
                <a:latin typeface="Calibri"/>
              </a:rPr>
              <a:t> a server passing your token to a back-end that shouldn't get it, or mixing up two users </a:t>
            </a:r>
            <a:r>
              <a:rPr lang="en-US" sz="1500" b="0" i="0" dirty="0">
                <a:solidFill>
                  <a:srgbClr val="CADCFC"/>
                </a:solidFill>
                <a:latin typeface="Calibri"/>
              </a:rPr>
              <a:t>-</a:t>
            </a:r>
            <a:r>
              <a:rPr sz="1500" b="0" i="0" dirty="0">
                <a:solidFill>
                  <a:srgbClr val="CADCFC"/>
                </a:solidFill>
                <a:latin typeface="Calibri"/>
              </a:rPr>
              <a:t> which is not observable from outside in any case.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91672" cy="274320"/>
          </a:xfrm>
          <a:prstGeom prst="rect">
            <a:avLst/>
          </a:prstGeom>
          <a:noFill/>
        </p:spPr>
        <p:txBody>
          <a:bodyPr wrap="square" lIns="0" tIns="0" rIns="0" bIns="0" anchor="t">
            <a:spAutoFit/>
          </a:bodyPr>
          <a:lstStyle/>
          <a:p>
            <a:pPr algn="l"/>
            <a:r>
              <a:rPr sz="1200" b="1" i="0">
                <a:solidFill>
                  <a:srgbClr val="1C7293"/>
                </a:solidFill>
                <a:latin typeface="Calibri"/>
              </a:rPr>
              <a:t>SCOPE</a:t>
            </a:r>
          </a:p>
        </p:txBody>
      </p:sp>
      <p:sp>
        <p:nvSpPr>
          <p:cNvPr id="3" name="TextBox 2"/>
          <p:cNvSpPr txBox="1"/>
          <p:nvPr/>
        </p:nvSpPr>
        <p:spPr>
          <a:xfrm>
            <a:off x="548640" y="658368"/>
            <a:ext cx="11091672" cy="430887"/>
          </a:xfrm>
          <a:prstGeom prst="rect">
            <a:avLst/>
          </a:prstGeom>
          <a:noFill/>
        </p:spPr>
        <p:txBody>
          <a:bodyPr wrap="square" lIns="0" tIns="0" rIns="0" bIns="0" anchor="t">
            <a:spAutoFit/>
          </a:bodyPr>
          <a:lstStyle/>
          <a:p>
            <a:pPr algn="l"/>
            <a:r>
              <a:rPr sz="2800" b="1" i="0" dirty="0">
                <a:solidFill>
                  <a:srgbClr val="12233F"/>
                </a:solidFill>
                <a:latin typeface="Calibri"/>
              </a:rPr>
              <a:t>The rules moved ahead </a:t>
            </a:r>
            <a:r>
              <a:rPr lang="en-US" sz="2800" b="1" i="0" dirty="0">
                <a:solidFill>
                  <a:srgbClr val="12233F"/>
                </a:solidFill>
                <a:latin typeface="Calibri"/>
              </a:rPr>
              <a:t>-</a:t>
            </a:r>
            <a:r>
              <a:rPr sz="2800" b="1" i="0" dirty="0">
                <a:solidFill>
                  <a:srgbClr val="12233F"/>
                </a:solidFill>
                <a:latin typeface="Calibri"/>
              </a:rPr>
              <a:t> the installed base lags</a:t>
            </a:r>
          </a:p>
        </p:txBody>
      </p:sp>
      <p:sp>
        <p:nvSpPr>
          <p:cNvPr id="4" name="TextBox 3"/>
          <p:cNvSpPr txBox="1"/>
          <p:nvPr/>
        </p:nvSpPr>
        <p:spPr>
          <a:xfrm>
            <a:off x="548640" y="1600200"/>
            <a:ext cx="11091672" cy="457200"/>
          </a:xfrm>
          <a:prstGeom prst="rect">
            <a:avLst/>
          </a:prstGeom>
          <a:noFill/>
        </p:spPr>
        <p:txBody>
          <a:bodyPr wrap="square" lIns="0" tIns="0" rIns="0" bIns="0" anchor="t">
            <a:spAutoFit/>
          </a:bodyPr>
          <a:lstStyle/>
          <a:p>
            <a:pPr algn="l"/>
            <a:r>
              <a:rPr sz="1500" b="0" i="0">
                <a:solidFill>
                  <a:srgbClr val="1B2A3A"/>
                </a:solidFill>
                <a:latin typeface="Calibri"/>
              </a:rPr>
              <a:t>A newer revision, </a:t>
            </a:r>
            <a:r>
              <a:rPr sz="1500" b="1" i="0">
                <a:solidFill>
                  <a:srgbClr val="1C7293"/>
                </a:solidFill>
                <a:latin typeface="Calibri"/>
              </a:rPr>
              <a:t>2026-07-28</a:t>
            </a:r>
            <a:r>
              <a:rPr sz="1500" b="0" i="0">
                <a:solidFill>
                  <a:srgbClr val="1B2A3A"/>
                </a:solidFill>
                <a:latin typeface="Calibri"/>
              </a:rPr>
              <a:t>, was published during our work. Our tool targets 2025-06-18.</a:t>
            </a:r>
          </a:p>
        </p:txBody>
      </p:sp>
      <p:sp>
        <p:nvSpPr>
          <p:cNvPr id="5" name="Rounded Rectangle 4"/>
          <p:cNvSpPr/>
          <p:nvPr/>
        </p:nvSpPr>
        <p:spPr>
          <a:xfrm>
            <a:off x="548640" y="2103120"/>
            <a:ext cx="11091672" cy="914400"/>
          </a:xfrm>
          <a:prstGeom prst="roundRect">
            <a:avLst>
              <a:gd name="adj" fmla="val 6000"/>
            </a:avLst>
          </a:prstGeom>
          <a:solidFill>
            <a:srgbClr val="EEF3F8"/>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360728"/>
            <a:ext cx="10543032" cy="435760"/>
          </a:xfrm>
          <a:prstGeom prst="rect">
            <a:avLst/>
          </a:prstGeom>
          <a:noFill/>
        </p:spPr>
        <p:txBody>
          <a:bodyPr wrap="square" lIns="0" tIns="0" rIns="0" bIns="0" anchor="ctr">
            <a:spAutoFit/>
          </a:bodyPr>
          <a:lstStyle/>
          <a:p>
            <a:pPr algn="l">
              <a:lnSpc>
                <a:spcPct val="103000"/>
              </a:lnSpc>
            </a:pPr>
            <a:r>
              <a:rPr sz="1400" b="0" i="0" dirty="0">
                <a:solidFill>
                  <a:srgbClr val="1B2A3A"/>
                </a:solidFill>
                <a:latin typeface="Calibri"/>
              </a:rPr>
              <a:t>Servers declare which revision they follow in the handshake </a:t>
            </a:r>
            <a:r>
              <a:rPr lang="en-US" sz="1400" b="0" i="0" dirty="0">
                <a:solidFill>
                  <a:srgbClr val="1B2A3A"/>
                </a:solidFill>
                <a:latin typeface="Calibri"/>
              </a:rPr>
              <a:t>-</a:t>
            </a:r>
            <a:r>
              <a:rPr sz="1400" b="0" i="0" dirty="0">
                <a:solidFill>
                  <a:srgbClr val="1B2A3A"/>
                </a:solidFill>
                <a:latin typeface="Calibri"/>
              </a:rPr>
              <a:t> and many still run older ones. So the earlier rules (sessions included) still describe real servers in our sample; a newer spec does not retroactively fix them.</a:t>
            </a:r>
          </a:p>
        </p:txBody>
      </p:sp>
      <p:sp>
        <p:nvSpPr>
          <p:cNvPr id="7" name="TextBox 6"/>
          <p:cNvSpPr txBox="1"/>
          <p:nvPr/>
        </p:nvSpPr>
        <p:spPr>
          <a:xfrm>
            <a:off x="548640" y="3256753"/>
            <a:ext cx="11091672" cy="1327095"/>
          </a:xfrm>
          <a:prstGeom prst="rect">
            <a:avLst/>
          </a:prstGeom>
          <a:noFill/>
        </p:spPr>
        <p:txBody>
          <a:bodyPr wrap="square" lIns="0" tIns="0" rIns="0" bIns="0" anchor="t">
            <a:spAutoFit/>
          </a:bodyPr>
          <a:lstStyle/>
          <a:p>
            <a:pPr algn="l">
              <a:lnSpc>
                <a:spcPct val="103000"/>
              </a:lnSpc>
              <a:spcAft>
                <a:spcPts val="1000"/>
              </a:spcAft>
            </a:pPr>
            <a:r>
              <a:rPr sz="1500" b="0" i="0" dirty="0">
                <a:solidFill>
                  <a:srgbClr val="1B2A3A"/>
                </a:solidFill>
                <a:latin typeface="Calibri"/>
              </a:rPr>
              <a:t>•  Sessions were removed entirely in 2026-07-28 </a:t>
            </a:r>
            <a:r>
              <a:rPr lang="en-US" sz="1500" b="0" i="0" dirty="0">
                <a:solidFill>
                  <a:srgbClr val="1B2A3A"/>
                </a:solidFill>
                <a:latin typeface="Calibri"/>
              </a:rPr>
              <a:t>-</a:t>
            </a:r>
            <a:r>
              <a:rPr sz="1500" b="0" i="0" dirty="0">
                <a:solidFill>
                  <a:srgbClr val="1B2A3A"/>
                </a:solidFill>
                <a:latin typeface="Calibri"/>
              </a:rPr>
              <a:t> so #5 and #6 still apply to the older revisions many servers keep running.</a:t>
            </a:r>
          </a:p>
          <a:p>
            <a:pPr algn="l">
              <a:lnSpc>
                <a:spcPct val="103000"/>
              </a:lnSpc>
              <a:spcAft>
                <a:spcPts val="1000"/>
              </a:spcAft>
            </a:pPr>
            <a:r>
              <a:rPr sz="1500" b="0" i="0" dirty="0">
                <a:solidFill>
                  <a:srgbClr val="1B2A3A"/>
                </a:solidFill>
                <a:latin typeface="Calibri"/>
              </a:rPr>
              <a:t>•  New per-request headers are now required; a strict up-to-date server could reject requests our tool sends.</a:t>
            </a:r>
          </a:p>
          <a:p>
            <a:pPr algn="l">
              <a:lnSpc>
                <a:spcPct val="103000"/>
              </a:lnSpc>
              <a:spcAft>
                <a:spcPts val="1000"/>
              </a:spcAft>
            </a:pPr>
            <a:r>
              <a:rPr sz="1500" b="0" i="0" dirty="0">
                <a:solidFill>
                  <a:srgbClr val="1B2A3A"/>
                </a:solidFill>
                <a:latin typeface="Calibri"/>
              </a:rPr>
              <a:t>•  Publishing the login-info page is now unconditional </a:t>
            </a:r>
            <a:r>
              <a:rPr lang="en-US" sz="1500" b="0" i="0" dirty="0">
                <a:solidFill>
                  <a:srgbClr val="1B2A3A"/>
                </a:solidFill>
                <a:latin typeface="Calibri"/>
              </a:rPr>
              <a:t>-</a:t>
            </a:r>
            <a:r>
              <a:rPr sz="1500" b="0" i="0" dirty="0">
                <a:solidFill>
                  <a:srgbClr val="1B2A3A"/>
                </a:solidFill>
                <a:latin typeface="Calibri"/>
              </a:rPr>
              <a:t> which makes check #4 stronger, the only one the new rules tightened.</a:t>
            </a:r>
          </a:p>
          <a:p>
            <a:pPr algn="l">
              <a:lnSpc>
                <a:spcPct val="103000"/>
              </a:lnSpc>
              <a:spcAft>
                <a:spcPts val="0"/>
              </a:spcAft>
            </a:pPr>
            <a:r>
              <a:rPr sz="1500" b="0" i="0" dirty="0">
                <a:solidFill>
                  <a:srgbClr val="1B2A3A"/>
                </a:solidFill>
                <a:latin typeface="Calibri"/>
              </a:rPr>
              <a:t>•  Self-service registration is now deprecated </a:t>
            </a:r>
            <a:r>
              <a:rPr lang="en-US" sz="1500" b="0" i="0" dirty="0">
                <a:solidFill>
                  <a:srgbClr val="1B2A3A"/>
                </a:solidFill>
                <a:latin typeface="Calibri"/>
              </a:rPr>
              <a:t>-</a:t>
            </a:r>
            <a:r>
              <a:rPr sz="1500" b="0" i="0" dirty="0">
                <a:solidFill>
                  <a:srgbClr val="1B2A3A"/>
                </a:solidFill>
                <a:latin typeface="Calibri"/>
              </a:rPr>
              <a:t> so #12's framing is already dated.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TextBox 1"/>
          <p:cNvSpPr txBox="1"/>
          <p:nvPr/>
        </p:nvSpPr>
        <p:spPr>
          <a:xfrm>
            <a:off x="548640" y="640080"/>
            <a:ext cx="11091672" cy="365760"/>
          </a:xfrm>
          <a:prstGeom prst="rect">
            <a:avLst/>
          </a:prstGeom>
          <a:noFill/>
        </p:spPr>
        <p:txBody>
          <a:bodyPr wrap="square" lIns="0" tIns="0" rIns="0" bIns="0" anchor="t">
            <a:spAutoFit/>
          </a:bodyPr>
          <a:lstStyle/>
          <a:p>
            <a:pPr algn="l"/>
            <a:r>
              <a:rPr sz="1300" b="1" i="0">
                <a:solidFill>
                  <a:srgbClr val="02C39A"/>
                </a:solidFill>
                <a:latin typeface="Calibri"/>
              </a:rPr>
              <a:t>CONCLUSION</a:t>
            </a:r>
          </a:p>
        </p:txBody>
      </p:sp>
      <p:sp>
        <p:nvSpPr>
          <p:cNvPr id="3" name="TextBox 2"/>
          <p:cNvSpPr txBox="1"/>
          <p:nvPr/>
        </p:nvSpPr>
        <p:spPr>
          <a:xfrm>
            <a:off x="548640" y="1051560"/>
            <a:ext cx="11091672" cy="822960"/>
          </a:xfrm>
          <a:prstGeom prst="rect">
            <a:avLst/>
          </a:prstGeom>
          <a:noFill/>
        </p:spPr>
        <p:txBody>
          <a:bodyPr wrap="square" lIns="0" tIns="0" rIns="0" bIns="0" anchor="t">
            <a:spAutoFit/>
          </a:bodyPr>
          <a:lstStyle/>
          <a:p>
            <a:pPr algn="l"/>
            <a:r>
              <a:rPr sz="2700" b="1" i="0">
                <a:solidFill>
                  <a:srgbClr val="FFFFFF"/>
                </a:solidFill>
                <a:latin typeface="Calibri"/>
              </a:rPr>
              <a:t>Three things worth taking away</a:t>
            </a:r>
          </a:p>
        </p:txBody>
      </p:sp>
      <p:sp>
        <p:nvSpPr>
          <p:cNvPr id="4" name="Rounded Rectangle 3"/>
          <p:cNvSpPr/>
          <p:nvPr/>
        </p:nvSpPr>
        <p:spPr>
          <a:xfrm>
            <a:off x="548640" y="2057400"/>
            <a:ext cx="11091672" cy="128016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311284"/>
            <a:ext cx="10451592" cy="772391"/>
          </a:xfrm>
          <a:prstGeom prst="rect">
            <a:avLst/>
          </a:prstGeom>
          <a:noFill/>
        </p:spPr>
        <p:txBody>
          <a:bodyPr wrap="square" lIns="0" tIns="0" rIns="0" bIns="0" anchor="ctr">
            <a:spAutoFit/>
          </a:bodyPr>
          <a:lstStyle/>
          <a:p>
            <a:pPr algn="l">
              <a:lnSpc>
                <a:spcPct val="103000"/>
              </a:lnSpc>
              <a:spcAft>
                <a:spcPts val="400"/>
              </a:spcAft>
            </a:pPr>
            <a:r>
              <a:rPr sz="1800" b="1" i="0" dirty="0">
                <a:solidFill>
                  <a:srgbClr val="02C39A"/>
                </a:solidFill>
                <a:latin typeface="Calibri"/>
              </a:rPr>
              <a:t>Security tracks maturity</a:t>
            </a:r>
          </a:p>
          <a:p>
            <a:pPr algn="l">
              <a:lnSpc>
                <a:spcPct val="103000"/>
              </a:lnSpc>
            </a:pPr>
            <a:r>
              <a:rPr sz="1400" b="0" i="0" dirty="0">
                <a:solidFill>
                  <a:srgbClr val="E6EEF5"/>
                </a:solidFill>
                <a:latin typeface="Calibri"/>
              </a:rPr>
              <a:t>Every </a:t>
            </a:r>
            <a:r>
              <a:rPr sz="1400" b="0" i="0" dirty="0" err="1">
                <a:solidFill>
                  <a:srgbClr val="E6EEF5"/>
                </a:solidFill>
                <a:latin typeface="Calibri"/>
              </a:rPr>
              <a:t>recognisable</a:t>
            </a:r>
            <a:r>
              <a:rPr sz="1400" b="0" i="0" dirty="0">
                <a:solidFill>
                  <a:srgbClr val="E6EEF5"/>
                </a:solidFill>
                <a:latin typeface="Calibri"/>
              </a:rPr>
              <a:t> vendor gated its tools; the servers open to a stranger were the newer, lesser-known ones. When a protocol makes security optional, that uneven outcome is the predictable result </a:t>
            </a:r>
            <a:r>
              <a:rPr lang="en-US" sz="1400" b="0" i="0" dirty="0">
                <a:solidFill>
                  <a:srgbClr val="E6EEF5"/>
                </a:solidFill>
                <a:latin typeface="Calibri"/>
              </a:rPr>
              <a:t>-</a:t>
            </a:r>
            <a:r>
              <a:rPr sz="1400" b="0" i="0" dirty="0">
                <a:solidFill>
                  <a:srgbClr val="E6EEF5"/>
                </a:solidFill>
                <a:latin typeface="Calibri"/>
              </a:rPr>
              <a:t> not an accident.</a:t>
            </a:r>
          </a:p>
        </p:txBody>
      </p:sp>
      <p:sp>
        <p:nvSpPr>
          <p:cNvPr id="6" name="Rounded Rectangle 5"/>
          <p:cNvSpPr/>
          <p:nvPr/>
        </p:nvSpPr>
        <p:spPr>
          <a:xfrm>
            <a:off x="548640" y="3474720"/>
            <a:ext cx="11091672" cy="128016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3728604"/>
            <a:ext cx="10451592" cy="772391"/>
          </a:xfrm>
          <a:prstGeom prst="rect">
            <a:avLst/>
          </a:prstGeom>
          <a:noFill/>
        </p:spPr>
        <p:txBody>
          <a:bodyPr wrap="square" lIns="0" tIns="0" rIns="0" bIns="0" anchor="ctr">
            <a:spAutoFit/>
          </a:bodyPr>
          <a:lstStyle/>
          <a:p>
            <a:pPr algn="l">
              <a:lnSpc>
                <a:spcPct val="103000"/>
              </a:lnSpc>
              <a:spcAft>
                <a:spcPts val="400"/>
              </a:spcAft>
            </a:pPr>
            <a:r>
              <a:rPr sz="1800" b="1" i="0" dirty="0">
                <a:solidFill>
                  <a:srgbClr val="02C39A"/>
                </a:solidFill>
                <a:latin typeface="Calibri"/>
              </a:rPr>
              <a:t>Measuring beats inferring</a:t>
            </a:r>
          </a:p>
          <a:p>
            <a:pPr algn="l">
              <a:lnSpc>
                <a:spcPct val="103000"/>
              </a:lnSpc>
            </a:pPr>
            <a:r>
              <a:rPr sz="1400" b="0" i="0" dirty="0">
                <a:solidFill>
                  <a:srgbClr val="E6EEF5"/>
                </a:solidFill>
                <a:latin typeface="Calibri"/>
              </a:rPr>
              <a:t>#13 corrected #1 on six servers </a:t>
            </a:r>
            <a:r>
              <a:rPr lang="en-US" sz="1400" b="0" i="0" dirty="0">
                <a:solidFill>
                  <a:srgbClr val="E6EEF5"/>
                </a:solidFill>
                <a:latin typeface="Calibri"/>
              </a:rPr>
              <a:t>-</a:t>
            </a:r>
            <a:r>
              <a:rPr sz="1400" b="0" i="0" dirty="0">
                <a:solidFill>
                  <a:srgbClr val="E6EEF5"/>
                </a:solidFill>
                <a:latin typeface="Calibri"/>
              </a:rPr>
              <a:t> listing a tool is not the same as being able to run it. And an honest “I don't know”, or a check that finds nothing, is itself a result. </a:t>
            </a:r>
            <a:r>
              <a:rPr sz="1400" b="0" i="0" dirty="0" err="1">
                <a:solidFill>
                  <a:srgbClr val="E6EEF5"/>
                </a:solidFill>
                <a:latin typeface="Calibri"/>
              </a:rPr>
              <a:t>Rigour</a:t>
            </a:r>
            <a:r>
              <a:rPr sz="1400" b="0" i="0" dirty="0">
                <a:solidFill>
                  <a:srgbClr val="E6EEF5"/>
                </a:solidFill>
                <a:latin typeface="Calibri"/>
              </a:rPr>
              <a:t> is knowing exactly what you have and haven't shown.</a:t>
            </a:r>
          </a:p>
        </p:txBody>
      </p:sp>
      <p:sp>
        <p:nvSpPr>
          <p:cNvPr id="8" name="Rounded Rectangle 7"/>
          <p:cNvSpPr/>
          <p:nvPr/>
        </p:nvSpPr>
        <p:spPr>
          <a:xfrm>
            <a:off x="548640" y="4892040"/>
            <a:ext cx="11091672" cy="1280160"/>
          </a:xfrm>
          <a:prstGeom prst="roundRect">
            <a:avLst>
              <a:gd name="adj" fmla="val 6000"/>
            </a:avLst>
          </a:prstGeom>
          <a:solidFill>
            <a:srgbClr val="1B305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5145924"/>
            <a:ext cx="10451592" cy="772391"/>
          </a:xfrm>
          <a:prstGeom prst="rect">
            <a:avLst/>
          </a:prstGeom>
          <a:noFill/>
        </p:spPr>
        <p:txBody>
          <a:bodyPr wrap="square" lIns="0" tIns="0" rIns="0" bIns="0" anchor="ctr">
            <a:spAutoFit/>
          </a:bodyPr>
          <a:lstStyle/>
          <a:p>
            <a:pPr algn="l">
              <a:lnSpc>
                <a:spcPct val="103000"/>
              </a:lnSpc>
              <a:spcAft>
                <a:spcPts val="400"/>
              </a:spcAft>
            </a:pPr>
            <a:r>
              <a:rPr sz="1800" b="1" i="0" dirty="0">
                <a:solidFill>
                  <a:srgbClr val="02C39A"/>
                </a:solidFill>
                <a:latin typeface="Calibri"/>
              </a:rPr>
              <a:t>The boundary is the contribution</a:t>
            </a:r>
          </a:p>
          <a:p>
            <a:pPr algn="l">
              <a:lnSpc>
                <a:spcPct val="103000"/>
              </a:lnSpc>
            </a:pPr>
            <a:r>
              <a:rPr sz="1400" b="0" i="0" dirty="0">
                <a:solidFill>
                  <a:srgbClr val="E6EEF5"/>
                </a:solidFill>
                <a:latin typeface="Calibri"/>
              </a:rPr>
              <a:t>Without ever logging in, you can establish </a:t>
            </a:r>
            <a:r>
              <a:rPr lang="en-US" sz="1400" b="0" i="0" dirty="0">
                <a:solidFill>
                  <a:srgbClr val="E6EEF5"/>
                </a:solidFill>
                <a:latin typeface="Calibri"/>
              </a:rPr>
              <a:t>-</a:t>
            </a:r>
            <a:r>
              <a:rPr sz="1400" b="0" i="0" dirty="0">
                <a:solidFill>
                  <a:srgbClr val="E6EEF5"/>
                </a:solidFill>
                <a:latin typeface="Calibri"/>
              </a:rPr>
              <a:t> with evidence </a:t>
            </a:r>
            <a:r>
              <a:rPr lang="en-US" sz="1400" b="0" i="0" dirty="0">
                <a:solidFill>
                  <a:srgbClr val="E6EEF5"/>
                </a:solidFill>
                <a:latin typeface="Calibri"/>
              </a:rPr>
              <a:t>-</a:t>
            </a:r>
            <a:r>
              <a:rPr sz="1400" b="0" i="0" dirty="0">
                <a:solidFill>
                  <a:srgbClr val="E6EEF5"/>
                </a:solidFill>
                <a:latin typeface="Calibri"/>
              </a:rPr>
              <a:t> what a server advertises and enforces, and no further. We drew that line deliberately and stayed inside it; knowing precisely where it sits is the 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1039</TotalTime>
  <Words>3275</Words>
  <Application>Microsoft Macintosh PowerPoint</Application>
  <PresentationFormat>Custom</PresentationFormat>
  <Paragraphs>367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Kfir, Yamit</cp:lastModifiedBy>
  <cp:revision>37</cp:revision>
  <dcterms:created xsi:type="dcterms:W3CDTF">2013-01-27T09:14:16Z</dcterms:created>
  <dcterms:modified xsi:type="dcterms:W3CDTF">2026-09-30T00:47:15Z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2026-09-28T13:44:50Z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34a182ea-e4a6-47a5-b263-27a1fb79a038</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