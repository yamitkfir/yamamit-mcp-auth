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one sentence of the arc: what MCP is, the security question we chose, the tool, what it found across 83 real servers, and the limits of what it can 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professor knows HTTP but not MCP. Frame it: an MCP server is a small web API exposing a menu of actions to an AI; the protocol standardises the menu and the messages but leaves security - requiring a login (authentication) and enforcing what a caller may do (authorization) - to the implementer. JSON-RPC = calling a named method with parameters and getting a result or error; MCP uses initialize, tools/list, tools/call.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adopted OAuth 2.1 and wrote rules for how servers must use it. Stress the split: MCP server and login server are often different companies - that's why finding the login later takes two pages. A token is bearer. Why OAuth not passwords: the app never sees your password; the auth server does the login and returns a scoped, revocable token.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angles were considered; this one is meaningful AND runnable without accounts on 83 services. The question spans the whole authorization surface an outsider can see - transport, discovery (is login advertised), enforcement, and OAuth configuration - the 14 checks introduced next. Stress that 'what a server advertises and enforces at its front door, not whether it is sound behind it' is the single most important caveat, and that you return to it at the end (slide 24). The other two angles - token passthrough and identity confusion - need a real logged-in session and evidence on a back-end we can't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core. We never send anyone to log in, never obtain a token, never reach step 3. Against a wide-open server, step 1 just succeeds - which is exactly what the first check reports. Because we hold nothing, every result is about advertisement and enforcement, not soundness.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boxes left to right. 'Validate the target' is the pre-flight safety + sanity step (the containment guard on slide 9). 'Handshake' is the MCP initialize call. Define the session id and the two login pages in plain terms (already on the slide). Emphasise the concurrency/independence property: it's why the report can never contradict itself and why order doesn't matter.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INCONCLUSIVE is honest, not a failure. The #14 example is the clearest: we register a client, then start a login with a redirect URI that was never registered. A strict server rejects it; a broken one would redirect to it. But a server that answers 200 with a login page is genuinely undecidable from outside - resolving it would require completing the login, which we never do. So INCONCLUSIVE is the correct verdict, not a guess or a cop-out. #14 is introduced in full later (slide 22); here it just illustrates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trail is the project's whole ethos and it pre-empts 'how do you know?'. Every finding is a compliance judgement with the request and response attached, and the full raw output is committed. Redaction keeps the field name but not the value.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strongest safety point: it was a fix, not a precaution. Tell the api.llow.io story - the scanner obeyed a target's metadata and wrote to a different company - then that containment now exists and has fired for real (semgrep). Framing: an SSRF-style risk that our own tool could be turned against third parties it was never meant to touch; we hit it for real and then contained it. (Avoid the term 'confused deputy' on the slide - it collides with the abandoned Tier-3 gap of the same name.)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checks so later references resolve, and the Rule column is the point: every check is anchored to a MUST or SHOULD in the spec (only #8 CORS is non-MCP). Don't read all 14 - say the grouping: whether a stranger can reach the tools (1, 13), transport safety (2, 5), discovering the login (3, 4, 10), OAuth hygiene in the metadata (9, 11), session and browser defences (6, 7, 8), and the two write checks (12, 14). The next slides explain each group and cite its clause.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the headline pair. #1 is safe (a read); #13 is safe because the tool name doesn't exist, so a conformant server rejects it before running anything. What #13 reads is not the tool output but where the rejection came from: 401 = gated, any JSON-RPC reply = past the transport auth gate. The fleet numbers come in the results section.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transport hygiene now that #3 has moved to discovery. #2 actually connects and checks the certificate - 'the URL says https' is not 'TLS works'. #5 is tied to the session era (2025-03-26 to 2025-11-25) and is inconclusive on most servers because we don't implement the deprecated two-connection transport it needs - be ready to say that.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is the pointer that starts discovery: a correct 401 carries a WWW-Authenticate header naming where to log in. The path-inserted lookup (#4) is the slide-worthy engineering detail: RFC 9728 inserts the well-known segment before the resource's path; probing only the bare domain missed it on essentially every server, and we also prefer the exact pointer the 401 gave us. #4 and #10 are two checks because the two pages often belong to two different companies. All three are version-gated (firm rules from spec 2025-06-18).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explain 'length isn't entropy' - keyspace = length times alphabet size. #7: the control request is the clever bit - a 403 alone proves nothing; only a server that accepts the control and rejects the forged Origin is really validating. Be upfront that Origin validation is largely ceremonial for a remote https server. #8: our weakest check, kept because it costs one request and is clearly labelled non-MCP.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pure reads of the discovered metadata - a good illustration of the 'fetch once, read many' design. #11's subtlety: OAuth response types are space-delimited sets, so 'id_token token' includes 'token' (the hybrid flow); a naive membership test missed it. If the login server's metadata was declared untrustworthy (#10), #9 and #11 do not read it either.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only two write checks. #12 registers a client; #14 must register one to have something whose redirect rules it can test. Both are off by default and journalled before cleanup. The cost of running them, and what #14 found, come in the results and ethics sections - don't pre-empt the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one consistent run - every number that follows comes from the same scan on the same day, directly comparable. No ERROR verdicts because we removed five endpoints that had gone dead since earlier runs. Name the two populations clearly: the 83 real public servers we MEASURE (from the MCP Registry) versus the 7 local practice servers we BUILT to test the tool (detailed at slide 23). Be first to say 83 is a thin slice of the registry, not internet-wide 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only the highlights (#1=28, open-dcr=38, #13=22). If asked about #4/#10 precision: hf.co answers a redirect we grade as 'absent' though its target is a valid document, so those two counts are each at least one high - worth conceding if an examiner clicks a link. The three following slides zoom into the findings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this proves the catalogue is readable without login - capability disclosure. It does NOT by itself prove you can run the tools; the next slide settles that. The open ones cluster among lesser-known entries; recognisable vendors all gate. Disclosure is the reconnaissance step.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to be proud of. Six of the 28 disclose their catalogue but return 401 on tools/call. Show the dock evidence. If asked why a reply proves 'past the gate' for tools/call but a 200 does not for #14: different endpoints - tools/call is a JSON-RPC method (any reply = past the transport gate), while #14's /authorize is a browser page where a 200 is just a login 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Strengthen the importance. DCR normally means a developer registers an app once by hand; open DCR automates it for anyone. Walk the 3-step attack chain aloud: register a plausible client, lure a user into approving it, receive tokens issued for that user. It is the foothold the MCP spec's own security section warns about, and the only piece of the identity-confusion risk observable without a token - which is why it earns a finding even though it breaks no rule. The write cost of running this and #14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insight, not the litter: only servers running a real OAuth flow were testable, and none of them mishandled the redirect address (23 confirmed reject, 24 behind a login wall). Security features travel together - the servers mature enough to support DCR + auth-code also validated redirect URIs, foreshadowing 'security tracks maturity' on the closing slide. Cost backup if asked: running the two write checks left 76 client registrations we couldn't delete (38 + 38); all inert, self-expiring, and journalled before any delete attempt. If asked why 200 isn't a finding for #14: the /authorize 200 is just a login form; the dangerous event is a redirect to the attacker's address, which we never saw.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regression tests are the engineering-quality story: each of ~33 bugs we found and fixed is pinned by a test checked to fail against the old code, so it can't come back. If asked which checks lack a live test: #2 (every practice server is on loopback, which is TLS-exempt, so its logic is unit-tested) and #14 (verified against a local demo plus unit tests). Be upfront about both.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sentence slowly - it is the single most important sentence in the talk. The two-hop picture explains WHY the deeper gaps are out of reach: the MCP server is a middleman in front of a true back-end, and the dangerous auth mistakes happen on that hop, invisible from outside even with a token. PKCE = a proof that the app finishing a login started it; we can't observe it without completing a login.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nuance the professor will want: servers self-report their revision in the initialize handshake, and the installed base lags - plenty still run 2025-03-26 or 2024-11-05, so checks tied to older rules (sessions: #5, #6) still describe real servers we scanned. A newer spec does not retroactively fix an older server. Present the changes as context, not as failure.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Direction A. Lead with the thesis sentence, slowly. Then the WHY, straight from our proposal: the MCP spec marks authorization OPTIONAL, Anthropic's own quick-start and most YouTube/Google guides stand up a fastMCP server in 2–5 minutes with auth off, and only mention it later as an optional feature - so servers shipping without auth is the predictable default, not a surprise. Then WHAT we found (the maturity gradient) and WHAT we built (a reproducible, evidence-backed instrument). Close on the kicker line, then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1463040"/>
            <a:ext cx="11091672" cy="365760"/>
          </a:xfrm>
          <a:prstGeom prst="rect">
            <a:avLst/>
          </a:prstGeom>
          <a:noFill/>
        </p:spPr>
        <p:txBody>
          <a:bodyPr wrap="square" anchor="t" lIns="0" rIns="0" tIns="0" bIns="0">
            <a:spAutoFit/>
          </a:bodyPr>
          <a:lstStyle/>
          <a:p>
            <a:pPr algn="l"/>
            <a:r>
              <a:rPr sz="1400" b="1" i="0">
                <a:solidFill>
                  <a:srgbClr val="02C39A"/>
                </a:solidFill>
                <a:latin typeface="Calibri"/>
              </a:rPr>
              <a:t>MCP AUTHORIZATION IN THE WILD</a:t>
            </a:r>
          </a:p>
        </p:txBody>
      </p:sp>
      <p:sp>
        <p:nvSpPr>
          <p:cNvPr id="3" name="TextBox 2"/>
          <p:cNvSpPr txBox="1"/>
          <p:nvPr/>
        </p:nvSpPr>
        <p:spPr>
          <a:xfrm>
            <a:off x="548640" y="1874519"/>
            <a:ext cx="11091672" cy="1188720"/>
          </a:xfrm>
          <a:prstGeom prst="rect">
            <a:avLst/>
          </a:prstGeom>
          <a:noFill/>
        </p:spPr>
        <p:txBody>
          <a:bodyPr wrap="square" anchor="t" lIns="0" rIns="0" tIns="0" bIns="0">
            <a:spAutoFit/>
          </a:bodyPr>
          <a:lstStyle/>
          <a:p>
            <a:pPr algn="l">
              <a:lnSpc>
                <a:spcPct val="102000"/>
              </a:lnSpc>
            </a:pPr>
            <a:r>
              <a:rPr sz="3600" b="1" i="0">
                <a:solidFill>
                  <a:srgbClr val="FFFFFF"/>
                </a:solidFill>
                <a:latin typeface="Calibri"/>
              </a:rPr>
              <a:t>Do MCP servers protect their tools the way the rules require?</a:t>
            </a:r>
          </a:p>
        </p:txBody>
      </p:sp>
      <p:sp>
        <p:nvSpPr>
          <p:cNvPr id="4" name="TextBox 3"/>
          <p:cNvSpPr txBox="1"/>
          <p:nvPr/>
        </p:nvSpPr>
        <p:spPr>
          <a:xfrm>
            <a:off x="548640" y="3154680"/>
            <a:ext cx="11091672" cy="548640"/>
          </a:xfrm>
          <a:prstGeom prst="rect">
            <a:avLst/>
          </a:prstGeom>
          <a:noFill/>
        </p:spPr>
        <p:txBody>
          <a:bodyPr wrap="square" anchor="t" lIns="0" rIns="0" tIns="0" bIns="0">
            <a:spAutoFit/>
          </a:bodyPr>
          <a:lstStyle/>
          <a:p>
            <a:pPr algn="l"/>
            <a:r>
              <a:rPr sz="1800" b="0" i="0">
                <a:solidFill>
                  <a:srgbClr val="CADCFC"/>
                </a:solidFill>
                <a:latin typeface="Calibri"/>
              </a:rPr>
              <a:t>A scanner that measures a server's login setup from the outside - without ever logging in.</a:t>
            </a:r>
          </a:p>
        </p:txBody>
      </p:sp>
      <p:sp>
        <p:nvSpPr>
          <p:cNvPr id="5" name="Rounded Rectangle 4"/>
          <p:cNvSpPr/>
          <p:nvPr/>
        </p:nvSpPr>
        <p:spPr>
          <a:xfrm>
            <a:off x="548640" y="4114800"/>
            <a:ext cx="6035040" cy="137160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224528"/>
            <a:ext cx="5486400" cy="1143000"/>
          </a:xfrm>
          <a:prstGeom prst="rect">
            <a:avLst/>
          </a:prstGeom>
          <a:noFill/>
        </p:spPr>
        <p:txBody>
          <a:bodyPr wrap="square" anchor="ctr" lIns="0" rIns="0" tIns="0" bIns="0">
            <a:spAutoFit/>
          </a:bodyPr>
          <a:lstStyle/>
          <a:p>
            <a:pPr algn="l">
              <a:spcAft>
                <a:spcPts val="400"/>
              </a:spcAft>
            </a:pPr>
            <a:r>
              <a:rPr sz="3200" b="1" i="0">
                <a:solidFill>
                  <a:srgbClr val="02C39A"/>
                </a:solidFill>
                <a:latin typeface="Calibri"/>
              </a:rPr>
              <a:t>28 of 83</a:t>
            </a:r>
          </a:p>
          <a:p>
            <a:pPr algn="l"/>
            <a:r>
              <a:rPr sz="1400" b="0" i="0">
                <a:solidFill>
                  <a:srgbClr val="CADCFC"/>
                </a:solidFill>
                <a:latin typeface="Calibri"/>
              </a:rPr>
              <a:t>public MCP servers hand their tool list to a stranger - no login.</a:t>
            </a:r>
          </a:p>
        </p:txBody>
      </p:sp>
      <p:sp>
        <p:nvSpPr>
          <p:cNvPr id="7" name="TextBox 6"/>
          <p:cNvSpPr txBox="1"/>
          <p:nvPr/>
        </p:nvSpPr>
        <p:spPr>
          <a:xfrm>
            <a:off x="548640" y="6126480"/>
            <a:ext cx="11091672" cy="274320"/>
          </a:xfrm>
          <a:prstGeom prst="rect">
            <a:avLst/>
          </a:prstGeom>
          <a:noFill/>
        </p:spPr>
        <p:txBody>
          <a:bodyPr wrap="square" anchor="t" lIns="0" rIns="0" tIns="0" bIns="0">
            <a:spAutoFit/>
          </a:bodyPr>
          <a:lstStyle/>
          <a:p>
            <a:pPr algn="l"/>
            <a:r>
              <a:rPr sz="1200" b="0" i="0">
                <a:solidFill>
                  <a:srgbClr val="8FA6C4"/>
                </a:solidFill>
                <a:latin typeface="Calibri"/>
              </a:rPr>
              <a:t>Workshop project · Presenting: Amit Cohen &amp; Yamit Kfir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MCP servers give an AI tools - and ship with no security</a:t>
            </a:r>
          </a:p>
        </p:txBody>
      </p:sp>
      <p:sp>
        <p:nvSpPr>
          <p:cNvPr id="4" name="TextBox 3"/>
          <p:cNvSpPr txBox="1"/>
          <p:nvPr/>
        </p:nvSpPr>
        <p:spPr>
          <a:xfrm>
            <a:off x="548640" y="1691640"/>
            <a:ext cx="6035040" cy="868680"/>
          </a:xfrm>
          <a:prstGeom prst="rect">
            <a:avLst/>
          </a:prstGeom>
          <a:noFill/>
        </p:spPr>
        <p:txBody>
          <a:bodyPr wrap="square" anchor="t" lIns="0" rIns="0" tIns="0" bIns="0">
            <a:spAutoFit/>
          </a:bodyPr>
          <a:lstStyle/>
          <a:p>
            <a:pPr algn="l">
              <a:lnSpc>
                <a:spcPct val="105000"/>
              </a:lnSpc>
            </a:pPr>
            <a:r>
              <a:rPr sz="1600" b="1" i="0">
                <a:solidFill>
                  <a:srgbClr val="1B2A3A"/>
                </a:solidFill>
                <a:latin typeface="Calibri"/>
              </a:rPr>
              <a:t>MCP (Model Context Protocol)</a:t>
            </a:r>
            <a:r>
              <a:rPr sz="1600" b="0" i="0">
                <a:solidFill>
                  <a:srgbClr val="1B2A3A"/>
                </a:solidFill>
                <a:latin typeface="Calibri"/>
              </a:rPr>
              <a:t> lets an AI assistant use outside tools (“search the docs”, “run this query”) over the internet. Published by Anthropic.</a:t>
            </a:r>
          </a:p>
        </p:txBody>
      </p:sp>
      <p:sp>
        <p:nvSpPr>
          <p:cNvPr id="5" name="TextBox 4"/>
          <p:cNvSpPr txBox="1"/>
          <p:nvPr/>
        </p:nvSpPr>
        <p:spPr>
          <a:xfrm>
            <a:off x="548640" y="2697480"/>
            <a:ext cx="6035040" cy="1737360"/>
          </a:xfrm>
          <a:prstGeom prst="rect">
            <a:avLst/>
          </a:prstGeom>
          <a:noFill/>
        </p:spPr>
        <p:txBody>
          <a:bodyPr wrap="square" anchor="t" lIns="0" rIns="0" tIns="0" bIns="0">
            <a:spAutoFit/>
          </a:bodyPr>
          <a:lstStyle/>
          <a:p>
            <a:pPr algn="l">
              <a:lnSpc>
                <a:spcPct val="103000"/>
              </a:lnSpc>
              <a:spcAft>
                <a:spcPts val="800"/>
              </a:spcAft>
            </a:pPr>
            <a:r>
              <a:rPr sz="1500" b="0" i="0">
                <a:solidFill>
                  <a:srgbClr val="1B2A3A"/>
                </a:solidFill>
                <a:latin typeface="Calibri"/>
              </a:rPr>
              <a:t>•  A tool call is just an HTTP request carrying a JSON-RPC message.</a:t>
            </a:r>
          </a:p>
          <a:p>
            <a:pPr algn="l">
              <a:lnSpc>
                <a:spcPct val="103000"/>
              </a:lnSpc>
              <a:spcAft>
                <a:spcPts val="800"/>
              </a:spcAft>
            </a:pPr>
            <a:r>
              <a:rPr sz="1500" b="0" i="0">
                <a:solidFill>
                  <a:srgbClr val="1B2A3A"/>
                </a:solidFill>
                <a:latin typeface="Calibri"/>
              </a:rPr>
              <a:t>•  The protocol standardises the menu of actions and the messages.</a:t>
            </a:r>
          </a:p>
          <a:p>
            <a:pPr algn="l">
              <a:lnSpc>
                <a:spcPct val="103000"/>
              </a:lnSpc>
              <a:spcAft>
                <a:spcPts val="0"/>
              </a:spcAft>
            </a:pPr>
            <a:r>
              <a:rPr sz="1500" b="0" i="0">
                <a:solidFill>
                  <a:srgbClr val="1B2A3A"/>
                </a:solidFill>
                <a:latin typeface="Calibri"/>
              </a:rPr>
              <a:t>•  Nothing forces a server to require a login, or to check what a caller may do - both are left to the implementer to enforce.</a:t>
            </a:r>
          </a:p>
        </p:txBody>
      </p:sp>
      <p:sp>
        <p:nvSpPr>
          <p:cNvPr id="6" name="Rounded Rectangle 5"/>
          <p:cNvSpPr/>
          <p:nvPr/>
        </p:nvSpPr>
        <p:spPr>
          <a:xfrm>
            <a:off x="7223760" y="2011680"/>
            <a:ext cx="1920240" cy="8229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2011680"/>
            <a:ext cx="1920240" cy="822960"/>
          </a:xfrm>
          <a:prstGeom prst="rect">
            <a:avLst/>
          </a:prstGeom>
          <a:noFill/>
        </p:spPr>
        <p:txBody>
          <a:bodyPr wrap="square" anchor="ctr" lIns="0" rIns="0" tIns="0" bIns="0">
            <a:spAutoFit/>
          </a:bodyPr>
          <a:lstStyle/>
          <a:p>
            <a:pPr algn="ctr"/>
            <a:r>
              <a:rPr sz="1400" b="1" i="0">
                <a:solidFill>
                  <a:srgbClr val="12233F"/>
                </a:solidFill>
                <a:latin typeface="Calibri"/>
              </a:rPr>
              <a:t>AI assistant</a:t>
            </a:r>
          </a:p>
        </p:txBody>
      </p:sp>
      <p:sp>
        <p:nvSpPr>
          <p:cNvPr id="8" name="Rounded Rectangle 7"/>
          <p:cNvSpPr/>
          <p:nvPr/>
        </p:nvSpPr>
        <p:spPr>
          <a:xfrm>
            <a:off x="7223760" y="3429000"/>
            <a:ext cx="1920240" cy="8229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3429000"/>
            <a:ext cx="1920240" cy="822960"/>
          </a:xfrm>
          <a:prstGeom prst="rect">
            <a:avLst/>
          </a:prstGeom>
          <a:noFill/>
        </p:spPr>
        <p:txBody>
          <a:bodyPr wrap="square" anchor="ctr" lIns="0" rIns="0" tIns="0" bIns="0">
            <a:spAutoFit/>
          </a:bodyPr>
          <a:lstStyle/>
          <a:p>
            <a:pPr algn="ctr"/>
            <a:r>
              <a:rPr sz="1400" b="1" i="0">
                <a:solidFill>
                  <a:srgbClr val="FFFFFF"/>
                </a:solidFill>
                <a:latin typeface="Calibri"/>
              </a:rPr>
              <a:t>MCP server</a:t>
            </a:r>
          </a:p>
        </p:txBody>
      </p:sp>
      <p:sp>
        <p:nvSpPr>
          <p:cNvPr id="10" name="Rounded Rectangle 9"/>
          <p:cNvSpPr/>
          <p:nvPr/>
        </p:nvSpPr>
        <p:spPr>
          <a:xfrm>
            <a:off x="9738360" y="3291840"/>
            <a:ext cx="1600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38360" y="3291840"/>
            <a:ext cx="1600200" cy="1097280"/>
          </a:xfrm>
          <a:prstGeom prst="rect">
            <a:avLst/>
          </a:prstGeom>
          <a:noFill/>
        </p:spPr>
        <p:txBody>
          <a:bodyPr wrap="square" anchor="ctr" lIns="0" rIns="0" tIns="0" bIns="0">
            <a:spAutoFit/>
          </a:bodyPr>
          <a:lstStyle/>
          <a:p>
            <a:pPr algn="ctr"/>
            <a:r>
              <a:rPr sz="1200" b="0" i="0">
                <a:solidFill>
                  <a:srgbClr val="1B2A3A"/>
                </a:solidFill>
                <a:latin typeface="Calibri"/>
              </a:rPr>
              <a:t>tools
(actions + data)</a:t>
            </a:r>
          </a:p>
        </p:txBody>
      </p:sp>
      <p:sp>
        <p:nvSpPr>
          <p:cNvPr id="12" name="Down Arrow 11"/>
          <p:cNvSpPr/>
          <p:nvPr/>
        </p:nvSpPr>
        <p:spPr>
          <a:xfrm>
            <a:off x="7973568" y="2852928"/>
            <a:ext cx="411480" cy="457200"/>
          </a:xfrm>
          <a:prstGeom prst="down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2926080"/>
            <a:ext cx="1691640" cy="274320"/>
          </a:xfrm>
          <a:prstGeom prst="rect">
            <a:avLst/>
          </a:prstGeom>
          <a:noFill/>
        </p:spPr>
        <p:txBody>
          <a:bodyPr wrap="square" anchor="t" lIns="0" rIns="0" tIns="0" bIns="0">
            <a:spAutoFit/>
          </a:bodyPr>
          <a:lstStyle/>
          <a:p>
            <a:pPr algn="r"/>
            <a:r>
              <a:rPr sz="1000" b="0" i="0">
                <a:solidFill>
                  <a:srgbClr val="5C6B7A"/>
                </a:solidFill>
                <a:latin typeface="Courier New"/>
              </a:rPr>
              <a:t>HTTP + JSON-RPC</a:t>
            </a:r>
          </a:p>
        </p:txBody>
      </p:sp>
      <p:sp>
        <p:nvSpPr>
          <p:cNvPr id="14" name="Right Arrow 13"/>
          <p:cNvSpPr/>
          <p:nvPr/>
        </p:nvSpPr>
        <p:spPr>
          <a:xfrm>
            <a:off x="9162288" y="3657600"/>
            <a:ext cx="45720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vocabulary: authentication, authorization, OAuth</a:t>
            </a:r>
          </a:p>
        </p:txBody>
      </p:sp>
      <p:sp>
        <p:nvSpPr>
          <p:cNvPr id="4" name="TextBox 3"/>
          <p:cNvSpPr txBox="1"/>
          <p:nvPr/>
        </p:nvSpPr>
        <p:spPr>
          <a:xfrm>
            <a:off x="548640" y="1737360"/>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Authentication  </a:t>
            </a:r>
            <a:r>
              <a:rPr sz="1500" b="0" i="0">
                <a:solidFill>
                  <a:srgbClr val="1B2A3A"/>
                </a:solidFill>
                <a:latin typeface="Calibri"/>
              </a:rPr>
              <a:t>proving who you are (showing your ticket).</a:t>
            </a:r>
          </a:p>
        </p:txBody>
      </p:sp>
      <p:sp>
        <p:nvSpPr>
          <p:cNvPr id="5" name="TextBox 4"/>
          <p:cNvSpPr txBox="1"/>
          <p:nvPr/>
        </p:nvSpPr>
        <p:spPr>
          <a:xfrm>
            <a:off x="548640" y="2395728"/>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Authorization  </a:t>
            </a:r>
            <a:r>
              <a:rPr sz="1500" b="0" i="0">
                <a:solidFill>
                  <a:srgbClr val="1B2A3A"/>
                </a:solidFill>
                <a:latin typeface="Calibri"/>
              </a:rPr>
              <a:t>deciding what you may do once you're known.</a:t>
            </a:r>
          </a:p>
        </p:txBody>
      </p:sp>
      <p:sp>
        <p:nvSpPr>
          <p:cNvPr id="6" name="TextBox 5"/>
          <p:cNvSpPr txBox="1"/>
          <p:nvPr/>
        </p:nvSpPr>
        <p:spPr>
          <a:xfrm>
            <a:off x="548640" y="3054096"/>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OAuth 2.1  </a:t>
            </a:r>
            <a:r>
              <a:rPr sz="1500" b="0" i="0">
                <a:solidFill>
                  <a:srgbClr val="1B2A3A"/>
                </a:solidFill>
                <a:latin typeface="Calibri"/>
              </a:rPr>
              <a:t>the login system MCP adopted. You log in at a separate authorization server, which hands the app a token.</a:t>
            </a:r>
          </a:p>
        </p:txBody>
      </p:sp>
      <p:sp>
        <p:nvSpPr>
          <p:cNvPr id="7" name="TextBox 6"/>
          <p:cNvSpPr txBox="1"/>
          <p:nvPr/>
        </p:nvSpPr>
        <p:spPr>
          <a:xfrm>
            <a:off x="548640" y="3922776"/>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Token  </a:t>
            </a:r>
            <a:r>
              <a:rPr sz="1500" b="0" i="0">
                <a:solidFill>
                  <a:srgbClr val="1B2A3A"/>
                </a:solidFill>
                <a:latin typeface="Calibri"/>
              </a:rPr>
              <a:t>a digital ticket - whoever holds it gets in, so a stolen one is as good as the original.</a:t>
            </a:r>
          </a:p>
        </p:txBody>
      </p:sp>
      <p:sp>
        <p:nvSpPr>
          <p:cNvPr id="8" name="Rounded Rectangle 7"/>
          <p:cNvSpPr/>
          <p:nvPr/>
        </p:nvSpPr>
        <p:spPr>
          <a:xfrm>
            <a:off x="7040880" y="1783080"/>
            <a:ext cx="4480560" cy="658368"/>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783080"/>
            <a:ext cx="4114800" cy="658368"/>
          </a:xfrm>
          <a:prstGeom prst="rect">
            <a:avLst/>
          </a:prstGeom>
          <a:noFill/>
        </p:spPr>
        <p:txBody>
          <a:bodyPr wrap="square" anchor="ctr" lIns="0" rIns="0" tIns="0" bIns="0">
            <a:spAutoFit/>
          </a:bodyPr>
          <a:lstStyle/>
          <a:p>
            <a:pPr algn="l"/>
            <a:r>
              <a:rPr sz="1400" b="1" i="0">
                <a:solidFill>
                  <a:srgbClr val="FFFFFF"/>
                </a:solidFill>
                <a:latin typeface="Calibri"/>
              </a:rPr>
              <a:t>User</a:t>
            </a:r>
          </a:p>
        </p:txBody>
      </p:sp>
      <p:sp>
        <p:nvSpPr>
          <p:cNvPr id="10" name="Rounded Rectangle 9"/>
          <p:cNvSpPr/>
          <p:nvPr/>
        </p:nvSpPr>
        <p:spPr>
          <a:xfrm>
            <a:off x="7040880" y="2624328"/>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2624328"/>
            <a:ext cx="4114800" cy="658368"/>
          </a:xfrm>
          <a:prstGeom prst="rect">
            <a:avLst/>
          </a:prstGeom>
          <a:noFill/>
        </p:spPr>
        <p:txBody>
          <a:bodyPr wrap="square" anchor="ctr" lIns="0" rIns="0" tIns="0" bIns="0">
            <a:spAutoFit/>
          </a:bodyPr>
          <a:lstStyle/>
          <a:p>
            <a:pPr algn="l"/>
            <a:r>
              <a:rPr sz="1400" b="1" i="0">
                <a:solidFill>
                  <a:srgbClr val="FFFFFF"/>
                </a:solidFill>
                <a:latin typeface="Calibri"/>
              </a:rPr>
              <a:t>Client (the app)</a:t>
            </a:r>
          </a:p>
        </p:txBody>
      </p:sp>
      <p:sp>
        <p:nvSpPr>
          <p:cNvPr id="12" name="Rounded Rectangle 11"/>
          <p:cNvSpPr/>
          <p:nvPr/>
        </p:nvSpPr>
        <p:spPr>
          <a:xfrm>
            <a:off x="7040880" y="3465576"/>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3465576"/>
            <a:ext cx="4114800" cy="658368"/>
          </a:xfrm>
          <a:prstGeom prst="rect">
            <a:avLst/>
          </a:prstGeom>
          <a:noFill/>
        </p:spPr>
        <p:txBody>
          <a:bodyPr wrap="square" anchor="ctr" lIns="0" rIns="0" tIns="0" bIns="0">
            <a:spAutoFit/>
          </a:bodyPr>
          <a:lstStyle/>
          <a:p>
            <a:pPr algn="l"/>
            <a:r>
              <a:rPr sz="1400" b="1" i="0">
                <a:solidFill>
                  <a:srgbClr val="FFFFFF"/>
                </a:solidFill>
                <a:latin typeface="Calibri"/>
              </a:rPr>
              <a:t>MCP server (tools)</a:t>
            </a:r>
          </a:p>
        </p:txBody>
      </p:sp>
      <p:sp>
        <p:nvSpPr>
          <p:cNvPr id="14" name="Rounded Rectangle 13"/>
          <p:cNvSpPr/>
          <p:nvPr/>
        </p:nvSpPr>
        <p:spPr>
          <a:xfrm>
            <a:off x="7040880" y="4306824"/>
            <a:ext cx="4480560" cy="658368"/>
          </a:xfrm>
          <a:prstGeom prst="roundRect">
            <a:avLst>
              <a:gd name="adj" fmla="val 6000"/>
            </a:avLst>
          </a:prstGeom>
          <a:solidFill>
            <a:srgbClr val="0E4E4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4306824"/>
            <a:ext cx="4114800" cy="658368"/>
          </a:xfrm>
          <a:prstGeom prst="rect">
            <a:avLst/>
          </a:prstGeom>
          <a:noFill/>
        </p:spPr>
        <p:txBody>
          <a:bodyPr wrap="square" anchor="ctr" lIns="0" rIns="0" tIns="0" bIns="0">
            <a:spAutoFit/>
          </a:bodyPr>
          <a:lstStyle/>
          <a:p>
            <a:pPr algn="l"/>
            <a:r>
              <a:rPr sz="1400" b="1" i="0">
                <a:solidFill>
                  <a:srgbClr val="FFFFFF"/>
                </a:solidFill>
                <a:latin typeface="Calibri"/>
              </a:rPr>
              <a:t>Auth server (login)</a:t>
            </a:r>
          </a:p>
        </p:txBody>
      </p:sp>
      <p:sp>
        <p:nvSpPr>
          <p:cNvPr id="16" name="TextBox 15"/>
          <p:cNvSpPr txBox="1"/>
          <p:nvPr/>
        </p:nvSpPr>
        <p:spPr>
          <a:xfrm>
            <a:off x="7040880" y="5166359"/>
            <a:ext cx="4480560" cy="548640"/>
          </a:xfrm>
          <a:prstGeom prst="rect">
            <a:avLst/>
          </a:prstGeom>
          <a:noFill/>
        </p:spPr>
        <p:txBody>
          <a:bodyPr wrap="square" anchor="t" lIns="0" rIns="0" tIns="0" bIns="0">
            <a:spAutoFit/>
          </a:bodyPr>
          <a:lstStyle/>
          <a:p>
            <a:pPr algn="l"/>
            <a:r>
              <a:rPr sz="1200" b="0" i="1">
                <a:solidFill>
                  <a:srgbClr val="5C6B7A"/>
                </a:solidFill>
                <a:latin typeface="Calibri"/>
              </a:rPr>
              <a:t>The MCP server and the login server are often different companies.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RESEARCH QUESTION</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one question we answer</a:t>
            </a:r>
          </a:p>
        </p:txBody>
      </p:sp>
      <p:sp>
        <p:nvSpPr>
          <p:cNvPr id="4" name="TextBox 3"/>
          <p:cNvSpPr txBox="1"/>
          <p:nvPr/>
        </p:nvSpPr>
        <p:spPr>
          <a:xfrm>
            <a:off x="548640" y="1691640"/>
            <a:ext cx="11091672" cy="457200"/>
          </a:xfrm>
          <a:prstGeom prst="rect">
            <a:avLst/>
          </a:prstGeom>
          <a:noFill/>
        </p:spPr>
        <p:txBody>
          <a:bodyPr wrap="square" anchor="t" lIns="0" rIns="0" tIns="0" bIns="0">
            <a:spAutoFit/>
          </a:bodyPr>
          <a:lstStyle/>
          <a:p>
            <a:pPr algn="l"/>
            <a:r>
              <a:rPr sz="1600" b="0" i="0">
                <a:solidFill>
                  <a:srgbClr val="1B2A3A"/>
                </a:solidFill>
                <a:latin typeface="Calibri"/>
              </a:rPr>
              <a:t>Project goal: map the gap between what the MCP spec </a:t>
            </a:r>
            <a:r>
              <a:rPr sz="1600" b="1" i="0">
                <a:solidFill>
                  <a:srgbClr val="1B2A3A"/>
                </a:solidFill>
                <a:latin typeface="Calibri"/>
              </a:rPr>
              <a:t>requires and recommends</a:t>
            </a:r>
            <a:r>
              <a:rPr sz="1600" b="0" i="0">
                <a:solidFill>
                  <a:srgbClr val="1B2A3A"/>
                </a:solidFill>
                <a:latin typeface="Calibri"/>
              </a:rPr>
              <a:t> and what real servers </a:t>
            </a:r>
            <a:r>
              <a:rPr sz="1600" b="1" i="0">
                <a:solidFill>
                  <a:srgbClr val="1B2A3A"/>
                </a:solidFill>
                <a:latin typeface="Calibri"/>
              </a:rPr>
              <a:t>do</a:t>
            </a:r>
            <a:r>
              <a:rPr sz="1600" b="0" i="0">
                <a:solidFill>
                  <a:srgbClr val="1B2A3A"/>
                </a:solidFill>
                <a:latin typeface="Calibri"/>
              </a:rPr>
              <a:t>.</a:t>
            </a:r>
          </a:p>
        </p:txBody>
      </p:sp>
      <p:sp>
        <p:nvSpPr>
          <p:cNvPr id="5" name="Rounded Rectangle 4"/>
          <p:cNvSpPr/>
          <p:nvPr/>
        </p:nvSpPr>
        <p:spPr>
          <a:xfrm>
            <a:off x="548640" y="2240280"/>
            <a:ext cx="11091672" cy="12801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86000"/>
            <a:ext cx="10543032" cy="1188720"/>
          </a:xfrm>
          <a:prstGeom prst="rect">
            <a:avLst/>
          </a:prstGeom>
          <a:noFill/>
        </p:spPr>
        <p:txBody>
          <a:bodyPr wrap="square" anchor="ctr" lIns="0" rIns="0" tIns="0" bIns="0">
            <a:spAutoFit/>
          </a:bodyPr>
          <a:lstStyle/>
          <a:p>
            <a:pPr algn="l">
              <a:lnSpc>
                <a:spcPct val="104000"/>
              </a:lnSpc>
            </a:pPr>
            <a:r>
              <a:rPr sz="1900" b="1" i="0">
                <a:solidFill>
                  <a:srgbClr val="1C7293"/>
                </a:solidFill>
                <a:latin typeface="Calibri"/>
              </a:rPr>
              <a:t>Our question:  </a:t>
            </a:r>
            <a:r>
              <a:rPr sz="1900" b="0" i="0">
                <a:solidFill>
                  <a:srgbClr val="1B2A3A"/>
                </a:solidFill>
                <a:latin typeface="Calibri"/>
              </a:rPr>
              <a:t>Do real MCP servers implement MCP's authorization rules correctly - and can an outside caller with no account verify it, with evidence?</a:t>
            </a:r>
          </a:p>
        </p:txBody>
      </p:sp>
      <p:sp>
        <p:nvSpPr>
          <p:cNvPr id="7" name="TextBox 6"/>
          <p:cNvSpPr txBox="1"/>
          <p:nvPr/>
        </p:nvSpPr>
        <p:spPr>
          <a:xfrm>
            <a:off x="548640" y="3794760"/>
            <a:ext cx="11091672" cy="1371600"/>
          </a:xfrm>
          <a:prstGeom prst="rect">
            <a:avLst/>
          </a:prstGeom>
          <a:noFill/>
        </p:spPr>
        <p:txBody>
          <a:bodyPr wrap="square" anchor="t" lIns="0" rIns="0" tIns="0" bIns="0">
            <a:spAutoFit/>
          </a:bodyPr>
          <a:lstStyle/>
          <a:p>
            <a:pPr algn="l">
              <a:lnSpc>
                <a:spcPct val="104000"/>
              </a:lnSpc>
              <a:spcAft>
                <a:spcPts val="1000"/>
              </a:spcAft>
            </a:pPr>
            <a:r>
              <a:rPr sz="1600" b="1" i="0">
                <a:solidFill>
                  <a:srgbClr val="1C7293"/>
                </a:solidFill>
                <a:latin typeface="Calibri"/>
              </a:rPr>
              <a:t>Concretely - </a:t>
            </a:r>
            <a:r>
              <a:rPr sz="1600" b="0" i="0">
                <a:solidFill>
                  <a:srgbClr val="1B2A3A"/>
                </a:solidFill>
                <a:latin typeface="Calibri"/>
              </a:rPr>
              <a:t>each check maps to a specific rule: is the traffic encrypted, is the login advertised, is it enforced, is OAuth configured safely.</a:t>
            </a:r>
          </a:p>
          <a:p>
            <a:pPr algn="l">
              <a:lnSpc>
                <a:spcPct val="104000"/>
              </a:lnSpc>
            </a:pPr>
            <a:r>
              <a:rPr sz="1600" b="1" i="0">
                <a:solidFill>
                  <a:srgbClr val="1C7293"/>
                </a:solidFill>
                <a:latin typeface="Calibri"/>
              </a:rPr>
              <a:t>From the outside - </a:t>
            </a:r>
            <a:r>
              <a:rPr sz="1600" b="0" i="0">
                <a:solidFill>
                  <a:srgbClr val="1B2A3A"/>
                </a:solidFill>
                <a:latin typeface="Calibri"/>
              </a:rPr>
              <a:t>every check works with no credentials, so it runs today against real public servers.</a:t>
            </a:r>
          </a:p>
        </p:txBody>
      </p:sp>
      <p:sp>
        <p:nvSpPr>
          <p:cNvPr id="8" name="TextBox 7"/>
          <p:cNvSpPr txBox="1"/>
          <p:nvPr/>
        </p:nvSpPr>
        <p:spPr>
          <a:xfrm>
            <a:off x="548640" y="5349240"/>
            <a:ext cx="11091672" cy="640080"/>
          </a:xfrm>
          <a:prstGeom prst="rect">
            <a:avLst/>
          </a:prstGeom>
          <a:noFill/>
        </p:spPr>
        <p:txBody>
          <a:bodyPr wrap="square" anchor="t" lIns="0" rIns="0" tIns="0" bIns="0">
            <a:spAutoFit/>
          </a:bodyPr>
          <a:lstStyle/>
          <a:p>
            <a:pPr algn="l">
              <a:lnSpc>
                <a:spcPct val="104000"/>
              </a:lnSpc>
            </a:pPr>
            <a:r>
              <a:rPr sz="1400" b="0" i="1">
                <a:solidFill>
                  <a:srgbClr val="5C6B7A"/>
                </a:solidFill>
                <a:latin typeface="Calibri"/>
              </a:rPr>
              <a:t>The boundary: we measure what a server </a:t>
            </a:r>
            <a:r>
              <a:rPr sz="1400" b="1" i="1">
                <a:solidFill>
                  <a:srgbClr val="12233F"/>
                </a:solidFill>
                <a:latin typeface="Calibri"/>
              </a:rPr>
              <a:t>advertises and enforces at its front door</a:t>
            </a:r>
            <a:r>
              <a:rPr sz="1400" b="0" i="1">
                <a:solidFill>
                  <a:srgbClr val="5C6B7A"/>
                </a:solidFill>
                <a:latin typeface="Calibri"/>
              </a:rPr>
              <a:t> - not whether the login is sound once you are through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How login works - and where the scanner stops</a:t>
            </a:r>
          </a:p>
        </p:txBody>
      </p:sp>
      <p:sp>
        <p:nvSpPr>
          <p:cNvPr id="4" name="Rounded Rectangle 3"/>
          <p:cNvSpPr/>
          <p:nvPr/>
        </p:nvSpPr>
        <p:spPr>
          <a:xfrm>
            <a:off x="548640" y="1783080"/>
            <a:ext cx="658368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731520" cy="1051560"/>
          </a:xfrm>
          <a:prstGeom prst="rect">
            <a:avLst/>
          </a:prstGeom>
          <a:noFill/>
        </p:spPr>
        <p:txBody>
          <a:bodyPr wrap="square" anchor="ctr" lIns="0" rIns="0" tIns="0" bIns="0">
            <a:spAutoFit/>
          </a:bodyPr>
          <a:lstStyle/>
          <a:p>
            <a:pPr algn="ctr"/>
            <a:r>
              <a:rPr sz="3400" b="1" i="0">
                <a:solidFill>
                  <a:srgbClr val="FFFFFF"/>
                </a:solidFill>
                <a:latin typeface="Calibri"/>
              </a:rPr>
              <a:t>1</a:t>
            </a:r>
          </a:p>
        </p:txBody>
      </p:sp>
      <p:sp>
        <p:nvSpPr>
          <p:cNvPr id="6" name="TextBox 5"/>
          <p:cNvSpPr txBox="1"/>
          <p:nvPr/>
        </p:nvSpPr>
        <p:spPr>
          <a:xfrm>
            <a:off x="1554480" y="1874519"/>
            <a:ext cx="5486400" cy="868680"/>
          </a:xfrm>
          <a:prstGeom prst="rect">
            <a:avLst/>
          </a:prstGeom>
          <a:noFill/>
        </p:spPr>
        <p:txBody>
          <a:bodyPr wrap="square" anchor="ctr" lIns="0" rIns="0" tIns="0" bIns="0">
            <a:spAutoFit/>
          </a:bodyPr>
          <a:lstStyle/>
          <a:p>
            <a:pPr algn="l">
              <a:spcAft>
                <a:spcPts val="300"/>
              </a:spcAft>
            </a:pPr>
            <a:r>
              <a:rPr sz="1500" b="1" i="0">
                <a:solidFill>
                  <a:srgbClr val="FFFFFF"/>
                </a:solidFill>
                <a:latin typeface="Calibri"/>
              </a:rPr>
              <a:t>Ask with no token</a:t>
            </a:r>
          </a:p>
          <a:p>
            <a:pPr algn="l"/>
            <a:r>
              <a:rPr sz="1250" b="0" i="0">
                <a:solidFill>
                  <a:srgbClr val="E6EEF5"/>
                </a:solidFill>
                <a:latin typeface="Calibri"/>
              </a:rPr>
              <a:t>A protected server answers 401 “log in first” and points at its login-info page.</a:t>
            </a:r>
          </a:p>
        </p:txBody>
      </p:sp>
      <p:sp>
        <p:nvSpPr>
          <p:cNvPr id="7" name="Rounded Rectangle 6"/>
          <p:cNvSpPr/>
          <p:nvPr/>
        </p:nvSpPr>
        <p:spPr>
          <a:xfrm>
            <a:off x="548640" y="3017520"/>
            <a:ext cx="6583680" cy="1051560"/>
          </a:xfrm>
          <a:prstGeom prst="roundRect">
            <a:avLst>
              <a:gd name="adj" fmla="val 6000"/>
            </a:avLst>
          </a:prstGeom>
          <a:solidFill>
            <a:srgbClr val="13405A"/>
          </a:solidFill>
          <a:ln w="12700">
            <a:solidFill>
              <a:srgbClr val="13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017520"/>
            <a:ext cx="731520" cy="1051560"/>
          </a:xfrm>
          <a:prstGeom prst="rect">
            <a:avLst/>
          </a:prstGeom>
          <a:noFill/>
        </p:spPr>
        <p:txBody>
          <a:bodyPr wrap="square" anchor="ctr" lIns="0" rIns="0" tIns="0" bIns="0">
            <a:spAutoFit/>
          </a:bodyPr>
          <a:lstStyle/>
          <a:p>
            <a:pPr algn="ctr"/>
            <a:r>
              <a:rPr sz="3400" b="1" i="0">
                <a:solidFill>
                  <a:srgbClr val="FFFFFF"/>
                </a:solidFill>
                <a:latin typeface="Calibri"/>
              </a:rPr>
              <a:t>2</a:t>
            </a:r>
          </a:p>
        </p:txBody>
      </p:sp>
      <p:sp>
        <p:nvSpPr>
          <p:cNvPr id="9" name="TextBox 8"/>
          <p:cNvSpPr txBox="1"/>
          <p:nvPr/>
        </p:nvSpPr>
        <p:spPr>
          <a:xfrm>
            <a:off x="1554480" y="3108960"/>
            <a:ext cx="5486400" cy="868680"/>
          </a:xfrm>
          <a:prstGeom prst="rect">
            <a:avLst/>
          </a:prstGeom>
          <a:noFill/>
        </p:spPr>
        <p:txBody>
          <a:bodyPr wrap="square" anchor="ctr" lIns="0" rIns="0" tIns="0" bIns="0">
            <a:spAutoFit/>
          </a:bodyPr>
          <a:lstStyle/>
          <a:p>
            <a:pPr algn="l">
              <a:spcAft>
                <a:spcPts val="300"/>
              </a:spcAft>
            </a:pPr>
            <a:r>
              <a:rPr sz="1500" b="1" i="0">
                <a:solidFill>
                  <a:srgbClr val="FFFFFF"/>
                </a:solidFill>
                <a:latin typeface="Calibri"/>
              </a:rPr>
              <a:t>Get a token</a:t>
            </a:r>
          </a:p>
          <a:p>
            <a:pPr algn="l"/>
            <a:r>
              <a:rPr sz="1250" b="0" i="0">
                <a:solidFill>
                  <a:srgbClr val="E6EEF5"/>
                </a:solidFill>
                <a:latin typeface="Calibri"/>
              </a:rPr>
              <a:t>Read the public login pages, send the user to log in, receive a token.</a:t>
            </a:r>
          </a:p>
        </p:txBody>
      </p:sp>
      <p:sp>
        <p:nvSpPr>
          <p:cNvPr id="10" name="Rounded Rectangle 9"/>
          <p:cNvSpPr/>
          <p:nvPr/>
        </p:nvSpPr>
        <p:spPr>
          <a:xfrm>
            <a:off x="548640" y="4251960"/>
            <a:ext cx="658368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251960"/>
            <a:ext cx="731520" cy="1051560"/>
          </a:xfrm>
          <a:prstGeom prst="rect">
            <a:avLst/>
          </a:prstGeom>
          <a:noFill/>
        </p:spPr>
        <p:txBody>
          <a:bodyPr wrap="square" anchor="ctr" lIns="0" rIns="0" tIns="0" bIns="0">
            <a:spAutoFit/>
          </a:bodyPr>
          <a:lstStyle/>
          <a:p>
            <a:pPr algn="ctr"/>
            <a:r>
              <a:rPr sz="3400" b="1" i="0">
                <a:solidFill>
                  <a:srgbClr val="5C6B7A"/>
                </a:solidFill>
                <a:latin typeface="Calibri"/>
              </a:rPr>
              <a:t>3</a:t>
            </a:r>
          </a:p>
        </p:txBody>
      </p:sp>
      <p:sp>
        <p:nvSpPr>
          <p:cNvPr id="12" name="TextBox 11"/>
          <p:cNvSpPr txBox="1"/>
          <p:nvPr/>
        </p:nvSpPr>
        <p:spPr>
          <a:xfrm>
            <a:off x="1554480" y="4343400"/>
            <a:ext cx="5486400" cy="868680"/>
          </a:xfrm>
          <a:prstGeom prst="rect">
            <a:avLst/>
          </a:prstGeom>
          <a:noFill/>
        </p:spPr>
        <p:txBody>
          <a:bodyPr wrap="square" anchor="ctr" lIns="0" rIns="0" tIns="0" bIns="0">
            <a:spAutoFit/>
          </a:bodyPr>
          <a:lstStyle/>
          <a:p>
            <a:pPr algn="l">
              <a:spcAft>
                <a:spcPts val="300"/>
              </a:spcAft>
            </a:pPr>
            <a:r>
              <a:rPr sz="1500" b="1" i="0">
                <a:solidFill>
                  <a:srgbClr val="5C6B7A"/>
                </a:solidFill>
                <a:latin typeface="Calibri"/>
              </a:rPr>
              <a:t>Ask again, now with the token</a:t>
            </a:r>
          </a:p>
          <a:p>
            <a:pPr algn="l"/>
            <a:r>
              <a:rPr sz="1250" b="0" i="0">
                <a:solidFill>
                  <a:srgbClr val="5C6B7A"/>
                </a:solidFill>
                <a:latin typeface="Calibri"/>
              </a:rPr>
              <a:t>Only now does the conversation actually open.</a:t>
            </a:r>
          </a:p>
        </p:txBody>
      </p:sp>
      <p:sp>
        <p:nvSpPr>
          <p:cNvPr id="13" name="Rounded Rectangle 12"/>
          <p:cNvSpPr/>
          <p:nvPr/>
        </p:nvSpPr>
        <p:spPr>
          <a:xfrm>
            <a:off x="7498079" y="1783080"/>
            <a:ext cx="4160520" cy="416052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2011680"/>
            <a:ext cx="3657600" cy="3749039"/>
          </a:xfrm>
          <a:prstGeom prst="rect">
            <a:avLst/>
          </a:prstGeom>
          <a:noFill/>
        </p:spPr>
        <p:txBody>
          <a:bodyPr wrap="square" anchor="ctr" lIns="0" rIns="0" tIns="0" bIns="0">
            <a:spAutoFit/>
          </a:bodyPr>
          <a:lstStyle/>
          <a:p>
            <a:pPr algn="l">
              <a:lnSpc>
                <a:spcPct val="106000"/>
              </a:lnSpc>
              <a:spcAft>
                <a:spcPts val="200"/>
              </a:spcAft>
            </a:pPr>
            <a:r>
              <a:rPr sz="2000" b="1" i="0">
                <a:solidFill>
                  <a:srgbClr val="FFFFFF"/>
                </a:solidFill>
                <a:latin typeface="Calibri"/>
              </a:rPr>
              <a:t>We do step 1,</a:t>
            </a:r>
          </a:p>
          <a:p>
            <a:pPr algn="l">
              <a:lnSpc>
                <a:spcPct val="106000"/>
              </a:lnSpc>
              <a:spcAft>
                <a:spcPts val="1200"/>
              </a:spcAft>
            </a:pPr>
            <a:r>
              <a:rPr sz="2000" b="1" i="0">
                <a:solidFill>
                  <a:srgbClr val="02C39A"/>
                </a:solidFill>
                <a:latin typeface="Calibri"/>
              </a:rPr>
              <a:t>and the read-only half of step 2.</a:t>
            </a:r>
          </a:p>
          <a:p>
            <a:pPr algn="l">
              <a:lnSpc>
                <a:spcPct val="106000"/>
              </a:lnSpc>
              <a:spcAft>
                <a:spcPts val="1000"/>
              </a:spcAft>
            </a:pPr>
            <a:r>
              <a:rPr sz="1400" b="0" i="0">
                <a:solidFill>
                  <a:srgbClr val="CADCFC"/>
                </a:solidFill>
                <a:latin typeface="Calibri"/>
              </a:rPr>
              <a:t>The login pages are public and need no token - that is what makes half the checks possible.</a:t>
            </a:r>
          </a:p>
          <a:p>
            <a:pPr algn="l">
              <a:lnSpc>
                <a:spcPct val="106000"/>
              </a:lnSpc>
            </a:pPr>
            <a:r>
              <a:rPr sz="1400" b="0" i="0">
                <a:solidFill>
                  <a:srgbClr val="CADCFC"/>
                </a:solidFill>
                <a:latin typeface="Calibri"/>
              </a:rPr>
              <a:t>We never obtain a token and never reach step 3. So every verdict describes what a server does for a caller holding nothing.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One scan, start to finish</a:t>
            </a:r>
          </a:p>
        </p:txBody>
      </p:sp>
      <p:sp>
        <p:nvSpPr>
          <p:cNvPr id="4" name="Rounded Rectangle 3"/>
          <p:cNvSpPr/>
          <p:nvPr/>
        </p:nvSpPr>
        <p:spPr>
          <a:xfrm>
            <a:off x="548640"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Validate
the target</a:t>
            </a:r>
          </a:p>
        </p:txBody>
      </p:sp>
      <p:sp>
        <p:nvSpPr>
          <p:cNvPr id="6" name="Right Arrow 5"/>
          <p:cNvSpPr/>
          <p:nvPr/>
        </p:nvSpPr>
        <p:spPr>
          <a:xfrm>
            <a:off x="2532888"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07208"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7208"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Handshake
(once)</a:t>
            </a:r>
          </a:p>
        </p:txBody>
      </p:sp>
      <p:sp>
        <p:nvSpPr>
          <p:cNvPr id="9" name="Right Arrow 8"/>
          <p:cNvSpPr/>
          <p:nvPr/>
        </p:nvSpPr>
        <p:spPr>
          <a:xfrm>
            <a:off x="4791455"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65775"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65775"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Find the login
pages (once)</a:t>
            </a:r>
          </a:p>
        </p:txBody>
      </p:sp>
      <p:sp>
        <p:nvSpPr>
          <p:cNvPr id="12" name="Right Arrow 11"/>
          <p:cNvSpPr/>
          <p:nvPr/>
        </p:nvSpPr>
        <p:spPr>
          <a:xfrm>
            <a:off x="7050023"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24344" y="2011680"/>
            <a:ext cx="196596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24344" y="2011680"/>
            <a:ext cx="1965960" cy="1051560"/>
          </a:xfrm>
          <a:prstGeom prst="rect">
            <a:avLst/>
          </a:prstGeom>
          <a:noFill/>
        </p:spPr>
        <p:txBody>
          <a:bodyPr wrap="square" anchor="ctr" lIns="0" rIns="0" tIns="0" bIns="0">
            <a:spAutoFit/>
          </a:bodyPr>
          <a:lstStyle/>
          <a:p>
            <a:pPr algn="ctr"/>
            <a:r>
              <a:rPr sz="1300" b="1" i="0">
                <a:solidFill>
                  <a:srgbClr val="FFFFFF"/>
                </a:solidFill>
                <a:latin typeface="Calibri"/>
              </a:rPr>
              <a:t>Run all checks
concurrently</a:t>
            </a:r>
          </a:p>
        </p:txBody>
      </p:sp>
      <p:sp>
        <p:nvSpPr>
          <p:cNvPr id="15" name="Right Arrow 14"/>
          <p:cNvSpPr/>
          <p:nvPr/>
        </p:nvSpPr>
        <p:spPr>
          <a:xfrm>
            <a:off x="9308592"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82911"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82911"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Release +
build report</a:t>
            </a:r>
          </a:p>
        </p:txBody>
      </p:sp>
      <p:sp>
        <p:nvSpPr>
          <p:cNvPr id="18" name="TextBox 17"/>
          <p:cNvSpPr txBox="1"/>
          <p:nvPr/>
        </p:nvSpPr>
        <p:spPr>
          <a:xfrm>
            <a:off x="548640" y="3291840"/>
            <a:ext cx="11091672" cy="2651760"/>
          </a:xfrm>
          <a:prstGeom prst="rect">
            <a:avLst/>
          </a:prstGeom>
          <a:noFill/>
        </p:spPr>
        <p:txBody>
          <a:bodyPr wrap="square" anchor="t" lIns="0" rIns="0" tIns="0" bIns="0">
            <a:spAutoFit/>
          </a:bodyPr>
          <a:lstStyle/>
          <a:p>
            <a:pPr algn="l">
              <a:lnSpc>
                <a:spcPct val="103000"/>
              </a:lnSpc>
              <a:spcAft>
                <a:spcPts val="800"/>
              </a:spcAft>
            </a:pPr>
            <a:r>
              <a:rPr sz="1400" b="0" i="0">
                <a:solidFill>
                  <a:srgbClr val="1B2A3A"/>
                </a:solidFill>
                <a:latin typeface="Calibri"/>
              </a:rPr>
              <a:t>•  Validate the target: confirm the URL is well-formed and safe to contact - the containment check (slide 9) - before any traffic is sent.</a:t>
            </a:r>
          </a:p>
          <a:p>
            <a:pPr algn="l">
              <a:lnSpc>
                <a:spcPct val="103000"/>
              </a:lnSpc>
              <a:spcAft>
                <a:spcPts val="800"/>
              </a:spcAft>
            </a:pPr>
            <a:r>
              <a:rPr sz="1400" b="0" i="0">
                <a:solidFill>
                  <a:srgbClr val="1B2A3A"/>
                </a:solidFill>
                <a:latin typeface="Calibri"/>
              </a:rPr>
              <a:t>•  Handshake: the opening MCP “initialize” exchange. The server may hand back a session id - a temporary “same conversation” label, not a password. We replay it so a server that merely wants one is not mistaken for secured.</a:t>
            </a:r>
          </a:p>
          <a:p>
            <a:pPr algn="l">
              <a:lnSpc>
                <a:spcPct val="103000"/>
              </a:lnSpc>
              <a:spcAft>
                <a:spcPts val="800"/>
              </a:spcAft>
            </a:pPr>
            <a:r>
              <a:rPr sz="1400" b="0" i="0">
                <a:solidFill>
                  <a:srgbClr val="1B2A3A"/>
                </a:solidFill>
                <a:latin typeface="Calibri"/>
              </a:rPr>
              <a:t>•  Find the login pages: two public pages - where to log in, and the login server's own description. Two, because the MCP server and login server are often different companies. Fetched once and shared by every check that needs them.</a:t>
            </a:r>
          </a:p>
          <a:p>
            <a:pPr algn="l">
              <a:lnSpc>
                <a:spcPct val="103000"/>
              </a:lnSpc>
              <a:spcAft>
                <a:spcPts val="0"/>
              </a:spcAft>
            </a:pPr>
            <a:r>
              <a:rPr sz="1400" b="0" i="0">
                <a:solidFill>
                  <a:srgbClr val="1B2A3A"/>
                </a:solidFill>
                <a:latin typeface="Calibri"/>
              </a:rPr>
              <a:t>•  Checks run concurrently; none reads another's answer, so order never changes a result. A crash becomes an ERROR verdict, not a crashed scan. A full read-only scan is about 19 requests.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Five possible answers - including an honest “I don't know”</a:t>
            </a:r>
          </a:p>
        </p:txBody>
      </p:sp>
      <p:sp>
        <p:nvSpPr>
          <p:cNvPr id="4" name="Rounded Rectangle 3"/>
          <p:cNvSpPr/>
          <p:nvPr/>
        </p:nvSpPr>
        <p:spPr>
          <a:xfrm>
            <a:off x="548640" y="1874519"/>
            <a:ext cx="2468880" cy="566928"/>
          </a:xfrm>
          <a:prstGeom prst="roundRect">
            <a:avLst>
              <a:gd name="adj" fmla="val 6000"/>
            </a:avLst>
          </a:prstGeom>
          <a:solidFill>
            <a:srgbClr val="FFFFFF"/>
          </a:solidFill>
          <a:ln w="1905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19"/>
            <a:ext cx="2468880" cy="566928"/>
          </a:xfrm>
          <a:prstGeom prst="rect">
            <a:avLst/>
          </a:prstGeom>
          <a:noFill/>
        </p:spPr>
        <p:txBody>
          <a:bodyPr wrap="square" anchor="ctr" lIns="0" rIns="0" tIns="0" bIns="0">
            <a:spAutoFit/>
          </a:bodyPr>
          <a:lstStyle/>
          <a:p>
            <a:pPr algn="ctr"/>
            <a:r>
              <a:rPr sz="1300" b="1" i="0">
                <a:solidFill>
                  <a:srgbClr val="B23A3A"/>
                </a:solidFill>
                <a:latin typeface="Courier New"/>
              </a:rPr>
              <a:t>HAS_GAP</a:t>
            </a:r>
          </a:p>
        </p:txBody>
      </p:sp>
      <p:sp>
        <p:nvSpPr>
          <p:cNvPr id="6" name="TextBox 5"/>
          <p:cNvSpPr txBox="1"/>
          <p:nvPr/>
        </p:nvSpPr>
        <p:spPr>
          <a:xfrm>
            <a:off x="3246120" y="1874519"/>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weakness is really there</a:t>
            </a:r>
          </a:p>
        </p:txBody>
      </p:sp>
      <p:sp>
        <p:nvSpPr>
          <p:cNvPr id="7" name="Rounded Rectangle 6"/>
          <p:cNvSpPr/>
          <p:nvPr/>
        </p:nvSpPr>
        <p:spPr>
          <a:xfrm>
            <a:off x="548640" y="2587752"/>
            <a:ext cx="2468880" cy="566928"/>
          </a:xfrm>
          <a:prstGeom prst="roundRect">
            <a:avLst>
              <a:gd name="adj" fmla="val 6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587752"/>
            <a:ext cx="2468880" cy="566928"/>
          </a:xfrm>
          <a:prstGeom prst="rect">
            <a:avLst/>
          </a:prstGeom>
          <a:noFill/>
        </p:spPr>
        <p:txBody>
          <a:bodyPr wrap="square" anchor="ctr" lIns="0" rIns="0" tIns="0" bIns="0">
            <a:spAutoFit/>
          </a:bodyPr>
          <a:lstStyle/>
          <a:p>
            <a:pPr algn="ctr"/>
            <a:r>
              <a:rPr sz="1300" b="1" i="0">
                <a:solidFill>
                  <a:srgbClr val="2E7D32"/>
                </a:solidFill>
                <a:latin typeface="Courier New"/>
              </a:rPr>
              <a:t>NO_GAP</a:t>
            </a:r>
          </a:p>
        </p:txBody>
      </p:sp>
      <p:sp>
        <p:nvSpPr>
          <p:cNvPr id="9" name="TextBox 8"/>
          <p:cNvSpPr txBox="1"/>
          <p:nvPr/>
        </p:nvSpPr>
        <p:spPr>
          <a:xfrm>
            <a:off x="3246120" y="2587752"/>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server handles it correctly</a:t>
            </a:r>
          </a:p>
        </p:txBody>
      </p:sp>
      <p:sp>
        <p:nvSpPr>
          <p:cNvPr id="10" name="Rounded Rectangle 9"/>
          <p:cNvSpPr/>
          <p:nvPr/>
        </p:nvSpPr>
        <p:spPr>
          <a:xfrm>
            <a:off x="548640" y="3300984"/>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300984"/>
            <a:ext cx="2468880" cy="566928"/>
          </a:xfrm>
          <a:prstGeom prst="rect">
            <a:avLst/>
          </a:prstGeom>
          <a:noFill/>
        </p:spPr>
        <p:txBody>
          <a:bodyPr wrap="square" anchor="ctr" lIns="0" rIns="0" tIns="0" bIns="0">
            <a:spAutoFit/>
          </a:bodyPr>
          <a:lstStyle/>
          <a:p>
            <a:pPr algn="ctr"/>
            <a:r>
              <a:rPr sz="1300" b="1" i="0">
                <a:solidFill>
                  <a:srgbClr val="5C6B7A"/>
                </a:solidFill>
                <a:latin typeface="Courier New"/>
              </a:rPr>
              <a:t>NOT_APPLICABLE</a:t>
            </a:r>
          </a:p>
        </p:txBody>
      </p:sp>
      <p:sp>
        <p:nvSpPr>
          <p:cNvPr id="12" name="TextBox 11"/>
          <p:cNvSpPr txBox="1"/>
          <p:nvPr/>
        </p:nvSpPr>
        <p:spPr>
          <a:xfrm>
            <a:off x="3246120" y="3300984"/>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check cannot apply here</a:t>
            </a:r>
          </a:p>
        </p:txBody>
      </p:sp>
      <p:sp>
        <p:nvSpPr>
          <p:cNvPr id="13" name="Rounded Rectangle 12"/>
          <p:cNvSpPr/>
          <p:nvPr/>
        </p:nvSpPr>
        <p:spPr>
          <a:xfrm>
            <a:off x="548640" y="4014216"/>
            <a:ext cx="2468880" cy="566928"/>
          </a:xfrm>
          <a:prstGeom prst="roundRect">
            <a:avLst>
              <a:gd name="adj" fmla="val 6000"/>
            </a:avLst>
          </a:prstGeom>
          <a:solidFill>
            <a:srgbClr val="FFFFFF"/>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14216"/>
            <a:ext cx="2468880" cy="566928"/>
          </a:xfrm>
          <a:prstGeom prst="rect">
            <a:avLst/>
          </a:prstGeom>
          <a:noFill/>
        </p:spPr>
        <p:txBody>
          <a:bodyPr wrap="square" anchor="ctr" lIns="0" rIns="0" tIns="0" bIns="0">
            <a:spAutoFit/>
          </a:bodyPr>
          <a:lstStyle/>
          <a:p>
            <a:pPr algn="ctr"/>
            <a:r>
              <a:rPr sz="1300" b="1" i="0">
                <a:solidFill>
                  <a:srgbClr val="B4740A"/>
                </a:solidFill>
                <a:latin typeface="Courier New"/>
              </a:rPr>
              <a:t>INCONCLUSIVE</a:t>
            </a:r>
          </a:p>
        </p:txBody>
      </p:sp>
      <p:sp>
        <p:nvSpPr>
          <p:cNvPr id="15" name="TextBox 14"/>
          <p:cNvSpPr txBox="1"/>
          <p:nvPr/>
        </p:nvSpPr>
        <p:spPr>
          <a:xfrm>
            <a:off x="3246120" y="4014216"/>
            <a:ext cx="3931920" cy="566928"/>
          </a:xfrm>
          <a:prstGeom prst="rect">
            <a:avLst/>
          </a:prstGeom>
          <a:noFill/>
        </p:spPr>
        <p:txBody>
          <a:bodyPr wrap="square" anchor="ctr" lIns="0" rIns="0" tIns="0" bIns="0">
            <a:spAutoFit/>
          </a:bodyPr>
          <a:lstStyle/>
          <a:p>
            <a:pPr algn="l"/>
            <a:r>
              <a:rPr sz="1400" b="0" i="0">
                <a:solidFill>
                  <a:srgbClr val="1B2A3A"/>
                </a:solidFill>
                <a:latin typeface="Calibri"/>
              </a:rPr>
              <a:t>we tried; the reply didn't let us decide</a:t>
            </a:r>
          </a:p>
        </p:txBody>
      </p:sp>
      <p:sp>
        <p:nvSpPr>
          <p:cNvPr id="16" name="Rounded Rectangle 15"/>
          <p:cNvSpPr/>
          <p:nvPr/>
        </p:nvSpPr>
        <p:spPr>
          <a:xfrm>
            <a:off x="548640" y="4727448"/>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727448"/>
            <a:ext cx="2468880" cy="566928"/>
          </a:xfrm>
          <a:prstGeom prst="rect">
            <a:avLst/>
          </a:prstGeom>
          <a:noFill/>
        </p:spPr>
        <p:txBody>
          <a:bodyPr wrap="square" anchor="ctr" lIns="0" rIns="0" tIns="0" bIns="0">
            <a:spAutoFit/>
          </a:bodyPr>
          <a:lstStyle/>
          <a:p>
            <a:pPr algn="ctr"/>
            <a:r>
              <a:rPr sz="1300" b="1" i="0">
                <a:solidFill>
                  <a:srgbClr val="5C6B7A"/>
                </a:solidFill>
                <a:latin typeface="Courier New"/>
              </a:rPr>
              <a:t>ERROR</a:t>
            </a:r>
          </a:p>
        </p:txBody>
      </p:sp>
      <p:sp>
        <p:nvSpPr>
          <p:cNvPr id="18" name="TextBox 17"/>
          <p:cNvSpPr txBox="1"/>
          <p:nvPr/>
        </p:nvSpPr>
        <p:spPr>
          <a:xfrm>
            <a:off x="3246120" y="4727448"/>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check itself could not run</a:t>
            </a:r>
          </a:p>
        </p:txBody>
      </p:sp>
      <p:sp>
        <p:nvSpPr>
          <p:cNvPr id="19" name="Rounded Rectangle 18"/>
          <p:cNvSpPr/>
          <p:nvPr/>
        </p:nvSpPr>
        <p:spPr>
          <a:xfrm>
            <a:off x="7452360" y="1874519"/>
            <a:ext cx="4206240" cy="35661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2103120"/>
            <a:ext cx="3703320" cy="3200400"/>
          </a:xfrm>
          <a:prstGeom prst="rect">
            <a:avLst/>
          </a:prstGeom>
          <a:noFill/>
        </p:spPr>
        <p:txBody>
          <a:bodyPr wrap="square" anchor="t" lIns="0" rIns="0" tIns="0" bIns="0">
            <a:spAutoFit/>
          </a:bodyPr>
          <a:lstStyle/>
          <a:p>
            <a:pPr algn="l">
              <a:lnSpc>
                <a:spcPct val="104000"/>
              </a:lnSpc>
              <a:spcAft>
                <a:spcPts val="1000"/>
              </a:spcAft>
            </a:pPr>
            <a:r>
              <a:rPr sz="1700" b="1" i="0">
                <a:solidFill>
                  <a:srgbClr val="12233F"/>
                </a:solidFill>
                <a:latin typeface="Calibri"/>
              </a:rPr>
              <a:t>INCONCLUSIVE is a real result - not a failure.</a:t>
            </a:r>
          </a:p>
          <a:p>
            <a:pPr algn="l">
              <a:lnSpc>
                <a:spcPct val="104000"/>
              </a:lnSpc>
              <a:spcAft>
                <a:spcPts val="1000"/>
              </a:spcAft>
            </a:pPr>
            <a:r>
              <a:rPr sz="1400" b="0" i="0">
                <a:solidFill>
                  <a:srgbClr val="1B2A3A"/>
                </a:solidFill>
                <a:latin typeface="Calibri"/>
              </a:rPr>
              <a:t>We refuse to guess: when a reply doesn't let us decide, saying so beats a false pass or a false alarm.</a:t>
            </a:r>
          </a:p>
          <a:p>
            <a:pPr algn="l">
              <a:lnSpc>
                <a:spcPct val="104000"/>
              </a:lnSpc>
            </a:pPr>
            <a:r>
              <a:rPr sz="1350" b="0" i="0">
                <a:solidFill>
                  <a:srgbClr val="1B2A3A"/>
                </a:solidFill>
                <a:latin typeface="Calibri"/>
              </a:rPr>
              <a:t>Example - check #14 asks the login server to send the user back to an </a:t>
            </a:r>
            <a:r>
              <a:rPr sz="1350" b="0" i="1">
                <a:solidFill>
                  <a:srgbClr val="1B2A3A"/>
                </a:solidFill>
                <a:latin typeface="Calibri"/>
              </a:rPr>
              <a:t>unregistered</a:t>
            </a:r>
            <a:r>
              <a:rPr sz="1350" b="0" i="0">
                <a:solidFill>
                  <a:srgbClr val="1B2A3A"/>
                </a:solidFill>
                <a:latin typeface="Calibri"/>
              </a:rPr>
              <a:t> address. A correct server refuses; a broken one obeys. But many just answer 200 with a login page - and since we never log in, we can't see which way it resolves. Not a pass, not a gap: INCONCLUSIVE.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Every answer carries its evidence</a:t>
            </a:r>
          </a:p>
        </p:txBody>
      </p:sp>
      <p:sp>
        <p:nvSpPr>
          <p:cNvPr id="4" name="TextBox 3"/>
          <p:cNvSpPr txBox="1"/>
          <p:nvPr/>
        </p:nvSpPr>
        <p:spPr>
          <a:xfrm>
            <a:off x="548640" y="1737360"/>
            <a:ext cx="5943600" cy="1463040"/>
          </a:xfrm>
          <a:prstGeom prst="rect">
            <a:avLst/>
          </a:prstGeom>
          <a:noFill/>
        </p:spPr>
        <p:txBody>
          <a:bodyPr wrap="square" anchor="t" lIns="0" rIns="0" tIns="0" bIns="0">
            <a:spAutoFit/>
          </a:bodyPr>
          <a:lstStyle/>
          <a:p>
            <a:pPr algn="l">
              <a:lnSpc>
                <a:spcPct val="105000"/>
              </a:lnSpc>
              <a:spcAft>
                <a:spcPts val="1000"/>
              </a:spcAft>
            </a:pPr>
            <a:r>
              <a:rPr sz="1600" b="0" i="0">
                <a:solidFill>
                  <a:srgbClr val="1B2A3A"/>
                </a:solidFill>
                <a:latin typeface="Calibri"/>
              </a:rPr>
              <a:t>Each finding records the exact request we sent and the reply we got - the URL, the method, which headers we chose (an Authorization header is never present), and the response body.</a:t>
            </a:r>
          </a:p>
          <a:p>
            <a:pPr algn="l">
              <a:lnSpc>
                <a:spcPct val="105000"/>
              </a:lnSpc>
            </a:pPr>
            <a:r>
              <a:rPr sz="1600" b="0" i="0">
                <a:solidFill>
                  <a:srgbClr val="1B2A3A"/>
                </a:solidFill>
                <a:latin typeface="Calibri"/>
              </a:rPr>
              <a:t>A verdict is only trustworthy if the report also shows what was asked. All 83 servers' raw output is committed, so any claim in this talk is re-checkable.</a:t>
            </a:r>
          </a:p>
        </p:txBody>
      </p:sp>
      <p:sp>
        <p:nvSpPr>
          <p:cNvPr id="5" name="Rounded Rectangle 4"/>
          <p:cNvSpPr/>
          <p:nvPr/>
        </p:nvSpPr>
        <p:spPr>
          <a:xfrm>
            <a:off x="6858000" y="1783080"/>
            <a:ext cx="4800600" cy="3749039"/>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0" y="2011680"/>
            <a:ext cx="4297680" cy="3383280"/>
          </a:xfrm>
          <a:prstGeom prst="rect">
            <a:avLst/>
          </a:prstGeom>
          <a:noFill/>
        </p:spPr>
        <p:txBody>
          <a:bodyPr wrap="square" anchor="t" lIns="0" rIns="0" tIns="0" bIns="0">
            <a:spAutoFit/>
          </a:bodyPr>
          <a:lstStyle/>
          <a:p>
            <a:pPr algn="l">
              <a:lnSpc>
                <a:spcPct val="115000"/>
              </a:lnSpc>
              <a:spcAft>
                <a:spcPts val="800"/>
              </a:spcAft>
            </a:pPr>
            <a:r>
              <a:rPr sz="1300" b="1" i="0">
                <a:solidFill>
                  <a:srgbClr val="02C39A"/>
                </a:solidFill>
                <a:latin typeface="Courier New"/>
              </a:rPr>
              <a:t>one finding (shape)</a:t>
            </a:r>
          </a:p>
          <a:p>
            <a:pPr algn="l">
              <a:lnSpc>
                <a:spcPct val="115000"/>
              </a:lnSpc>
            </a:pPr>
            <a:r>
              <a:rPr sz="1250" b="0" i="0">
                <a:solidFill>
                  <a:srgbClr val="CADCFC"/>
                </a:solidFill>
                <a:latin typeface="Courier New"/>
              </a:rPr>
              <a:t>gap:      no-authentication-remote</a:t>
            </a:r>
          </a:p>
          <a:p>
            <a:pPr algn="l">
              <a:lnSpc>
                <a:spcPct val="115000"/>
              </a:lnSpc>
            </a:pPr>
            <a:r>
              <a:rPr sz="1250" b="0" i="0">
                <a:solidFill>
                  <a:srgbClr val="8FE3C9"/>
                </a:solidFill>
                <a:latin typeface="Courier New"/>
              </a:rPr>
              <a:t>verdict:  HAS_GAP</a:t>
            </a:r>
          </a:p>
          <a:p>
            <a:pPr algn="l">
              <a:lnSpc>
                <a:spcPct val="115000"/>
              </a:lnSpc>
            </a:pPr>
            <a:r>
              <a:rPr sz="1250" b="0" i="0">
                <a:solidFill>
                  <a:srgbClr val="CADCFC"/>
                </a:solidFill>
                <a:latin typeface="Courier New"/>
              </a:rPr>
              <a:t>severity: medium</a:t>
            </a:r>
          </a:p>
          <a:p>
            <a:pPr algn="l">
              <a:lnSpc>
                <a:spcPct val="115000"/>
              </a:lnSpc>
            </a:pPr>
            <a:r>
              <a:rPr sz="1250" b="0" i="0">
                <a:solidFill>
                  <a:srgbClr val="CADCFC"/>
                </a:solidFill>
                <a:latin typeface="Courier New"/>
              </a:rPr>
              <a:t>request:  POST /mcp  tools/list</a:t>
            </a:r>
          </a:p>
          <a:p>
            <a:pPr algn="l">
              <a:lnSpc>
                <a:spcPct val="115000"/>
              </a:lnSpc>
            </a:pPr>
            <a:r>
              <a:rPr sz="1250" b="0" i="0">
                <a:solidFill>
                  <a:srgbClr val="CADCFC"/>
                </a:solidFill>
                <a:latin typeface="Courier New"/>
              </a:rPr>
              <a:t>          (NO Authorization header)</a:t>
            </a:r>
          </a:p>
          <a:p>
            <a:pPr algn="l">
              <a:lnSpc>
                <a:spcPct val="115000"/>
              </a:lnSpc>
            </a:pPr>
            <a:r>
              <a:rPr sz="1250" b="0" i="0">
                <a:solidFill>
                  <a:srgbClr val="8FE3C9"/>
                </a:solidFill>
                <a:latin typeface="Courier New"/>
              </a:rPr>
              <a:t>response: HTTP 200  { 71 tools }</a:t>
            </a:r>
          </a:p>
          <a:p>
            <a:pPr algn="l">
              <a:lnSpc>
                <a:spcPct val="115000"/>
              </a:lnSpc>
            </a:pPr>
            <a:r>
              <a:rPr sz="1250" b="0" i="0">
                <a:solidFill>
                  <a:srgbClr val="CADCFC"/>
                </a:solidFill>
                <a:latin typeface="Courier New"/>
              </a:rPr>
              <a:t>rule:     MCP Transports §Security</a:t>
            </a:r>
          </a:p>
        </p:txBody>
      </p:sp>
      <p:sp>
        <p:nvSpPr>
          <p:cNvPr id="7" name="TextBox 6"/>
          <p:cNvSpPr txBox="1"/>
          <p:nvPr/>
        </p:nvSpPr>
        <p:spPr>
          <a:xfrm>
            <a:off x="548640" y="3749039"/>
            <a:ext cx="5943600" cy="1280160"/>
          </a:xfrm>
          <a:prstGeom prst="rect">
            <a:avLst/>
          </a:prstGeom>
          <a:noFill/>
        </p:spPr>
        <p:txBody>
          <a:bodyPr wrap="square" anchor="t" lIns="0" rIns="0" tIns="0" bIns="0">
            <a:spAutoFit/>
          </a:bodyPr>
          <a:lstStyle/>
          <a:p>
            <a:pPr algn="l">
              <a:lnSpc>
                <a:spcPct val="105000"/>
              </a:lnSpc>
            </a:pPr>
            <a:r>
              <a:rPr sz="1400" b="0" i="1">
                <a:solidFill>
                  <a:srgbClr val="5C6B7A"/>
                </a:solidFill>
                <a:latin typeface="Calibri"/>
              </a:rPr>
              <a:t>When a reply contains a secret - a token or client secret - we blank its value before writing to disk (client_secret: &lt;redacted&gt;), but keep the field name so the evidence still shows what the server returned.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A safety problem we had to solve: containment</a:t>
            </a:r>
          </a:p>
        </p:txBody>
      </p:sp>
      <p:sp>
        <p:nvSpPr>
          <p:cNvPr id="4" name="TextBox 3"/>
          <p:cNvSpPr txBox="1"/>
          <p:nvPr/>
        </p:nvSpPr>
        <p:spPr>
          <a:xfrm>
            <a:off x="548640" y="1691640"/>
            <a:ext cx="6126480" cy="1280160"/>
          </a:xfrm>
          <a:prstGeom prst="rect">
            <a:avLst/>
          </a:prstGeom>
          <a:noFill/>
        </p:spPr>
        <p:txBody>
          <a:bodyPr wrap="square" anchor="t" lIns="0" rIns="0" tIns="0" bIns="0">
            <a:spAutoFit/>
          </a:bodyPr>
          <a:lstStyle/>
          <a:p>
            <a:pPr algn="l">
              <a:lnSpc>
                <a:spcPct val="105000"/>
              </a:lnSpc>
            </a:pPr>
            <a:r>
              <a:rPr sz="1500" b="0" i="0">
                <a:solidFill>
                  <a:srgbClr val="1B2A3A"/>
                </a:solidFill>
                <a:latin typeface="Calibri"/>
              </a:rPr>
              <a:t>After the first request, almost every address the scanner visits is one the scanned server chose - where to log in, where to register. If we followed those blindly, a malicious server could aim our scanner at a victim of its choosing, and our tool would do the hitting for it.</a:t>
            </a:r>
          </a:p>
        </p:txBody>
      </p:sp>
      <p:sp>
        <p:nvSpPr>
          <p:cNvPr id="5" name="TextBox 4"/>
          <p:cNvSpPr txBox="1"/>
          <p:nvPr/>
        </p:nvSpPr>
        <p:spPr>
          <a:xfrm>
            <a:off x="548640" y="3063240"/>
            <a:ext cx="6126480" cy="1371600"/>
          </a:xfrm>
          <a:prstGeom prst="rect">
            <a:avLst/>
          </a:prstGeom>
          <a:noFill/>
        </p:spPr>
        <p:txBody>
          <a:bodyPr wrap="square" anchor="t" lIns="0" rIns="0" tIns="0" bIns="0">
            <a:spAutoFit/>
          </a:bodyPr>
          <a:lstStyle/>
          <a:p>
            <a:pPr algn="l">
              <a:lnSpc>
                <a:spcPct val="103000"/>
              </a:lnSpc>
              <a:spcAft>
                <a:spcPts val="1000"/>
              </a:spcAft>
            </a:pPr>
            <a:r>
              <a:rPr sz="1400" b="0" i="0">
                <a:solidFill>
                  <a:srgbClr val="1B2A3A"/>
                </a:solidFill>
                <a:latin typeface="Calibri"/>
              </a:rPr>
              <a:t>•  Each target-chosen address is checked twice: as written, and again at the IP it actually resolves to (blocks a name pointed at 127.0.0.1, an internal network, or a cloud metadata service).</a:t>
            </a:r>
          </a:p>
          <a:p>
            <a:pPr algn="l">
              <a:lnSpc>
                <a:spcPct val="103000"/>
              </a:lnSpc>
              <a:spcAft>
                <a:spcPts val="0"/>
              </a:spcAft>
            </a:pPr>
            <a:r>
              <a:rPr sz="1400" b="0" i="0">
                <a:solidFill>
                  <a:srgbClr val="1B2A3A"/>
                </a:solidFill>
                <a:latin typeface="Calibri"/>
              </a:rPr>
              <a:t>•  The only writes we make (registering a client) may reach the scanned server itself or a sibling on the same registered domain - never an unrelated third party.</a:t>
            </a:r>
          </a:p>
        </p:txBody>
      </p:sp>
      <p:sp>
        <p:nvSpPr>
          <p:cNvPr id="6" name="Rounded Rectangle 5"/>
          <p:cNvSpPr/>
          <p:nvPr/>
        </p:nvSpPr>
        <p:spPr>
          <a:xfrm>
            <a:off x="548640" y="4709160"/>
            <a:ext cx="6126480" cy="128016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828032"/>
            <a:ext cx="5669280" cy="1051560"/>
          </a:xfrm>
          <a:prstGeom prst="rect">
            <a:avLst/>
          </a:prstGeom>
          <a:noFill/>
        </p:spPr>
        <p:txBody>
          <a:bodyPr wrap="square" anchor="ctr" lIns="0" rIns="0" tIns="0" bIns="0">
            <a:spAutoFit/>
          </a:bodyPr>
          <a:lstStyle/>
          <a:p>
            <a:pPr algn="l">
              <a:lnSpc>
                <a:spcPct val="104000"/>
              </a:lnSpc>
            </a:pPr>
            <a:r>
              <a:rPr sz="1300" b="0" i="0">
                <a:solidFill>
                  <a:srgbClr val="1B2A3A"/>
                </a:solidFill>
                <a:latin typeface="Calibri"/>
              </a:rPr>
              <a:t>Real incident: while scanning api.serff.ai, an early version followed that server's own metadata to a registration endpoint on api.llow.io - a different company we never listed - and registered a client there. We added containment in response; it has since blocked one such cross-domain write (to login.semgrep.dev).</a:t>
            </a:r>
          </a:p>
        </p:txBody>
      </p:sp>
      <p:sp>
        <p:nvSpPr>
          <p:cNvPr id="8" name="Rounded Rectangle 7"/>
          <p:cNvSpPr/>
          <p:nvPr/>
        </p:nvSpPr>
        <p:spPr>
          <a:xfrm>
            <a:off x="7086600" y="2194560"/>
            <a:ext cx="2011680" cy="86868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86600" y="2194560"/>
            <a:ext cx="2011680" cy="868680"/>
          </a:xfrm>
          <a:prstGeom prst="rect">
            <a:avLst/>
          </a:prstGeom>
          <a:noFill/>
        </p:spPr>
        <p:txBody>
          <a:bodyPr wrap="square" anchor="ctr" lIns="0" rIns="0" tIns="0" bIns="0">
            <a:spAutoFit/>
          </a:bodyPr>
          <a:lstStyle/>
          <a:p>
            <a:pPr algn="ctr"/>
            <a:r>
              <a:rPr sz="1300" b="1" i="0">
                <a:solidFill>
                  <a:srgbClr val="FFFFFF"/>
                </a:solidFill>
                <a:latin typeface="Calibri"/>
              </a:rPr>
              <a:t>Scanned
server</a:t>
            </a:r>
          </a:p>
        </p:txBody>
      </p:sp>
      <p:sp>
        <p:nvSpPr>
          <p:cNvPr id="10" name="Rounded Rectangle 9"/>
          <p:cNvSpPr/>
          <p:nvPr/>
        </p:nvSpPr>
        <p:spPr>
          <a:xfrm>
            <a:off x="9601200" y="2194560"/>
            <a:ext cx="2011680" cy="86868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0" y="2194560"/>
            <a:ext cx="2011680" cy="868680"/>
          </a:xfrm>
          <a:prstGeom prst="rect">
            <a:avLst/>
          </a:prstGeom>
          <a:noFill/>
        </p:spPr>
        <p:txBody>
          <a:bodyPr wrap="square" anchor="ctr" lIns="0" rIns="0" tIns="0" bIns="0">
            <a:spAutoFit/>
          </a:bodyPr>
          <a:lstStyle/>
          <a:p>
            <a:pPr algn="ctr"/>
            <a:r>
              <a:rPr sz="1300" b="1" i="0">
                <a:solidFill>
                  <a:srgbClr val="B23A3A"/>
                </a:solidFill>
                <a:latin typeface="Calibri"/>
              </a:rPr>
              <a:t>Unrelated
third party</a:t>
            </a:r>
          </a:p>
        </p:txBody>
      </p:sp>
      <p:sp>
        <p:nvSpPr>
          <p:cNvPr id="12" name="Right Arrow 11"/>
          <p:cNvSpPr/>
          <p:nvPr/>
        </p:nvSpPr>
        <p:spPr>
          <a:xfrm>
            <a:off x="9116568" y="2487168"/>
            <a:ext cx="457200" cy="274320"/>
          </a:xfrm>
          <a:prstGeom prst="rightArrow">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2788920"/>
            <a:ext cx="2194560" cy="274320"/>
          </a:xfrm>
          <a:prstGeom prst="rect">
            <a:avLst/>
          </a:prstGeom>
          <a:noFill/>
        </p:spPr>
        <p:txBody>
          <a:bodyPr wrap="square" anchor="t" lIns="0" rIns="0" tIns="0" bIns="0">
            <a:spAutoFit/>
          </a:bodyPr>
          <a:lstStyle/>
          <a:p>
            <a:pPr algn="ctr"/>
            <a:r>
              <a:rPr sz="1000" b="0" i="1">
                <a:solidFill>
                  <a:srgbClr val="B23A3A"/>
                </a:solidFill>
                <a:latin typeface="Calibri"/>
              </a:rPr>
              <a:t>“register over there →”</a:t>
            </a:r>
          </a:p>
        </p:txBody>
      </p:sp>
      <p:sp>
        <p:nvSpPr>
          <p:cNvPr id="14" name="Rounded Rectangle 13"/>
          <p:cNvSpPr/>
          <p:nvPr/>
        </p:nvSpPr>
        <p:spPr>
          <a:xfrm>
            <a:off x="8092440" y="3520440"/>
            <a:ext cx="2560320" cy="64008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3520440"/>
            <a:ext cx="2560320" cy="640080"/>
          </a:xfrm>
          <a:prstGeom prst="rect">
            <a:avLst/>
          </a:prstGeom>
          <a:noFill/>
        </p:spPr>
        <p:txBody>
          <a:bodyPr wrap="square" anchor="ctr" lIns="0" rIns="0" tIns="0" bIns="0">
            <a:spAutoFit/>
          </a:bodyPr>
          <a:lstStyle/>
          <a:p>
            <a:pPr algn="ctr"/>
            <a:r>
              <a:rPr sz="1400" b="1" i="0">
                <a:solidFill>
                  <a:srgbClr val="02C39A"/>
                </a:solidFill>
                <a:latin typeface="Calibri"/>
              </a:rPr>
              <a:t>✕  guard blocks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14 checks</a:t>
            </a:r>
          </a:p>
        </p:txBody>
      </p:sp>
      <p:sp>
        <p:nvSpPr>
          <p:cNvPr id="4" name="TextBox 3"/>
          <p:cNvSpPr txBox="1"/>
          <p:nvPr/>
        </p:nvSpPr>
        <p:spPr>
          <a:xfrm>
            <a:off x="548640" y="1371600"/>
            <a:ext cx="11091672" cy="365760"/>
          </a:xfrm>
          <a:prstGeom prst="rect">
            <a:avLst/>
          </a:prstGeom>
          <a:noFill/>
        </p:spPr>
        <p:txBody>
          <a:bodyPr wrap="square" anchor="t" lIns="0" rIns="0" tIns="0" bIns="0">
            <a:spAutoFit/>
          </a:bodyPr>
          <a:lstStyle/>
          <a:p>
            <a:pPr algn="l"/>
            <a:r>
              <a:rPr sz="1400" b="0" i="1">
                <a:solidFill>
                  <a:srgbClr val="5C6B7A"/>
                </a:solidFill>
                <a:latin typeface="Calibri"/>
              </a:rPr>
              <a:t>One check per known weakness, each anchored to a MUST or SHOULD in the spec. Twelve are read-only; two register a client and are off by default.</a:t>
            </a:r>
          </a:p>
        </p:txBody>
      </p:sp>
      <p:graphicFrame>
        <p:nvGraphicFramePr>
          <p:cNvPr id="5" name="Table 4"/>
          <p:cNvGraphicFramePr>
            <a:graphicFrameLocks noGrp="1"/>
          </p:cNvGraphicFramePr>
          <p:nvPr/>
        </p:nvGraphicFramePr>
        <p:xfrm>
          <a:off x="548640" y="1828800"/>
          <a:ext cx="11064239" cy="4526280"/>
        </p:xfrm>
        <a:graphic>
          <a:graphicData uri="http://schemas.openxmlformats.org/drawingml/2006/table">
            <a:tbl>
              <a:tblPr>
                <a:tableStyleId>{5C22544A-7EE6-4342-B048-85BDC9FD1C3A}</a:tableStyleId>
              </a:tblPr>
              <a:tblGrid>
                <a:gridCol w="502920"/>
                <a:gridCol w="3977639"/>
                <a:gridCol w="4434840"/>
                <a:gridCol w="1463040"/>
                <a:gridCol w="685800"/>
              </a:tblGrid>
              <a:tr h="301752">
                <a:tc>
                  <a:txBody>
                    <a:bodyPr/>
                    <a:lstStyle/>
                    <a:p>
                      <a:pPr algn="ctr"/>
                      <a:r>
                        <a:rPr sz="1100" b="1">
                          <a:solidFill>
                            <a:srgbClr val="FFFFFF"/>
                          </a:solidFill>
                          <a:latin typeface="Calibri"/>
                        </a:rPr>
                        <a:t>#</a:t>
                      </a:r>
                    </a:p>
                  </a:txBody>
                  <a:tcPr anchor="ctr">
                    <a:solidFill>
                      <a:srgbClr val="12233F"/>
                    </a:solidFill>
                  </a:tcPr>
                </a:tc>
                <a:tc>
                  <a:txBody>
                    <a:bodyPr/>
                    <a:lstStyle/>
                    <a:p>
                      <a:pPr algn="l"/>
                      <a:r>
                        <a:rPr sz="1100" b="1">
                          <a:solidFill>
                            <a:srgbClr val="FFFFFF"/>
                          </a:solidFill>
                          <a:latin typeface="Calibri"/>
                        </a:rPr>
                        <a:t>Check</a:t>
                      </a:r>
                    </a:p>
                  </a:txBody>
                  <a:tcPr anchor="ctr">
                    <a:solidFill>
                      <a:srgbClr val="12233F"/>
                    </a:solidFill>
                  </a:tcPr>
                </a:tc>
                <a:tc>
                  <a:txBody>
                    <a:bodyPr/>
                    <a:lstStyle/>
                    <a:p>
                      <a:pPr algn="l"/>
                      <a:r>
                        <a:rPr sz="1100" b="1">
                          <a:solidFill>
                            <a:srgbClr val="FFFFFF"/>
                          </a:solidFill>
                          <a:latin typeface="Calibri"/>
                        </a:rPr>
                        <a:t>What it asks</a:t>
                      </a:r>
                    </a:p>
                  </a:txBody>
                  <a:tcPr anchor="ctr">
                    <a:solidFill>
                      <a:srgbClr val="12233F"/>
                    </a:solidFill>
                  </a:tcPr>
                </a:tc>
                <a:tc>
                  <a:txBody>
                    <a:bodyPr/>
                    <a:lstStyle/>
                    <a:p>
                      <a:pPr algn="ctr"/>
                      <a:r>
                        <a:rPr sz="1100" b="1">
                          <a:solidFill>
                            <a:srgbClr val="FFFFFF"/>
                          </a:solidFill>
                          <a:latin typeface="Calibri"/>
                        </a:rPr>
                        <a:t>Rule</a:t>
                      </a:r>
                    </a:p>
                  </a:txBody>
                  <a:tcPr anchor="ctr">
                    <a:solidFill>
                      <a:srgbClr val="12233F"/>
                    </a:solidFill>
                  </a:tcPr>
                </a:tc>
                <a:tc>
                  <a:txBody>
                    <a:bodyPr/>
                    <a:lstStyle/>
                    <a:p>
                      <a:pPr algn="ctr"/>
                      <a:r>
                        <a:rPr sz="1100" b="1">
                          <a:solidFill>
                            <a:srgbClr val="FFFFFF"/>
                          </a:solidFill>
                          <a:latin typeface="Calibri"/>
                        </a:rPr>
                        <a:t>Sev</a:t>
                      </a:r>
                    </a:p>
                  </a:txBody>
                  <a:tcPr anchor="ctr">
                    <a:solidFill>
                      <a:srgbClr val="12233F"/>
                    </a:solidFill>
                  </a:tcPr>
                </a:tc>
              </a:tr>
              <a:tr h="301752">
                <a:tc>
                  <a:txBody>
                    <a:bodyPr/>
                    <a:lstStyle/>
                    <a:p>
                      <a:pPr algn="ctr"/>
                      <a:r>
                        <a:rPr sz="1050" b="1">
                          <a:solidFill>
                            <a:srgbClr val="1C7293"/>
                          </a:solidFill>
                          <a:latin typeface="Calibri"/>
                        </a:rPr>
                        <a:t>1</a:t>
                      </a:r>
                    </a:p>
                  </a:txBody>
                  <a:tcPr anchor="ctr" marT="12700" marB="12700">
                    <a:solidFill>
                      <a:srgbClr val="FFFFFF"/>
                    </a:solidFill>
                  </a:tcPr>
                </a:tc>
                <a:tc>
                  <a:txBody>
                    <a:bodyPr/>
                    <a:lstStyle/>
                    <a:p>
                      <a:pPr algn="l"/>
                      <a:r>
                        <a:rPr sz="1050" b="0">
                          <a:solidFill>
                            <a:srgbClr val="1B2A3A"/>
                          </a:solidFill>
                          <a:latin typeface="Courier New"/>
                        </a:rPr>
                        <a:t>no-authentication-remote</a:t>
                      </a:r>
                    </a:p>
                  </a:txBody>
                  <a:tcPr anchor="ctr" marT="12700" marB="12700">
                    <a:solidFill>
                      <a:srgbClr val="FFFFFF"/>
                    </a:solidFill>
                  </a:tcPr>
                </a:tc>
                <a:tc>
                  <a:txBody>
                    <a:bodyPr/>
                    <a:lstStyle/>
                    <a:p>
                      <a:pPr algn="l"/>
                      <a:r>
                        <a:rPr sz="1050" b="0">
                          <a:solidFill>
                            <a:srgbClr val="1B2A3A"/>
                          </a:solidFill>
                          <a:latin typeface="Calibri"/>
                        </a:rPr>
                        <a:t>Can a stranger list the tools?</a:t>
                      </a:r>
                    </a:p>
                  </a:txBody>
                  <a:tcPr anchor="ctr" marT="12700" marB="12700">
                    <a:solidFill>
                      <a:srgbClr val="FFFFFF"/>
                    </a:solidFill>
                  </a:tcPr>
                </a:tc>
                <a:tc>
                  <a:txBody>
                    <a:bodyPr/>
                    <a:lstStyle/>
                    <a:p>
                      <a:pPr algn="ctr"/>
                      <a:r>
                        <a:rPr sz="1050" b="1">
                          <a:solidFill>
                            <a:srgbClr val="5C6B7A"/>
                          </a:solidFill>
                          <a:latin typeface="Calibri"/>
                        </a:rPr>
                        <a:t>SHOULD</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13</a:t>
                      </a:r>
                    </a:p>
                  </a:txBody>
                  <a:tcPr anchor="ctr" marT="12700" marB="12700">
                    <a:solidFill>
                      <a:srgbClr val="F4F8FB"/>
                    </a:solidFill>
                  </a:tcPr>
                </a:tc>
                <a:tc>
                  <a:txBody>
                    <a:bodyPr/>
                    <a:lstStyle/>
                    <a:p>
                      <a:pPr algn="l"/>
                      <a:r>
                        <a:rPr sz="1050" b="0">
                          <a:solidFill>
                            <a:srgbClr val="1B2A3A"/>
                          </a:solidFill>
                          <a:latin typeface="Courier New"/>
                        </a:rPr>
                        <a:t>unauthenticated-tool-invocation</a:t>
                      </a:r>
                    </a:p>
                  </a:txBody>
                  <a:tcPr anchor="ctr" marT="12700" marB="12700">
                    <a:solidFill>
                      <a:srgbClr val="F4F8FB"/>
                    </a:solidFill>
                  </a:tcPr>
                </a:tc>
                <a:tc>
                  <a:txBody>
                    <a:bodyPr/>
                    <a:lstStyle/>
                    <a:p>
                      <a:pPr algn="l"/>
                      <a:r>
                        <a:rPr sz="1050" b="0">
                          <a:solidFill>
                            <a:srgbClr val="1B2A3A"/>
                          </a:solidFill>
                          <a:latin typeface="Calibri"/>
                        </a:rPr>
                        <a:t>Can a stranger run a tool?</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2</a:t>
                      </a:r>
                    </a:p>
                  </a:txBody>
                  <a:tcPr anchor="ctr" marT="12700" marB="12700">
                    <a:solidFill>
                      <a:srgbClr val="FFFFFF"/>
                    </a:solidFill>
                  </a:tcPr>
                </a:tc>
                <a:tc>
                  <a:txBody>
                    <a:bodyPr/>
                    <a:lstStyle/>
                    <a:p>
                      <a:pPr algn="l"/>
                      <a:r>
                        <a:rPr sz="1050" b="0">
                          <a:solidFill>
                            <a:srgbClr val="1B2A3A"/>
                          </a:solidFill>
                          <a:latin typeface="Courier New"/>
                        </a:rPr>
                        <a:t>no-tls-transport</a:t>
                      </a:r>
                    </a:p>
                  </a:txBody>
                  <a:tcPr anchor="ctr" marT="12700" marB="12700">
                    <a:solidFill>
                      <a:srgbClr val="FFFFFF"/>
                    </a:solidFill>
                  </a:tcPr>
                </a:tc>
                <a:tc>
                  <a:txBody>
                    <a:bodyPr/>
                    <a:lstStyle/>
                    <a:p>
                      <a:pPr algn="l"/>
                      <a:r>
                        <a:rPr sz="1050" b="0">
                          <a:solidFill>
                            <a:srgbClr val="1B2A3A"/>
                          </a:solidFill>
                          <a:latin typeface="Calibri"/>
                        </a:rPr>
                        <a:t>Is the traffic actually encrypted?</a:t>
                      </a:r>
                    </a:p>
                  </a:txBody>
                  <a:tcPr anchor="ctr" marT="12700" marB="12700">
                    <a:solidFill>
                      <a:srgbClr val="FFFFFF"/>
                    </a:solidFill>
                  </a:tcPr>
                </a:tc>
                <a:tc>
                  <a:txBody>
                    <a:bodyPr/>
                    <a:lstStyle/>
                    <a:p>
                      <a:pPr algn="ctr"/>
                      <a:r>
                        <a:rPr sz="1050" b="1">
                          <a:solidFill>
                            <a:srgbClr val="1C7293"/>
                          </a:solidFill>
                          <a:latin typeface="Calibri"/>
                        </a:rPr>
                        <a:t>MUST</a:t>
                      </a:r>
                    </a:p>
                  </a:txBody>
                  <a:tcPr anchor="ctr" marT="12700" marB="12700">
                    <a:solidFill>
                      <a:srgbClr val="FFFFFF"/>
                    </a:solidFill>
                  </a:tcPr>
                </a:tc>
                <a:tc>
                  <a:txBody>
                    <a:bodyPr/>
                    <a:lstStyle/>
                    <a:p>
                      <a:pPr algn="ctr"/>
                      <a:r>
                        <a:rPr sz="1050" b="0">
                          <a:solidFill>
                            <a:srgbClr val="1B2A3A"/>
                          </a:solidFill>
                          <a:latin typeface="Calibri"/>
                        </a:rPr>
                        <a:t>high</a:t>
                      </a:r>
                    </a:p>
                  </a:txBody>
                  <a:tcPr anchor="ctr" marT="12700" marB="12700">
                    <a:solidFill>
                      <a:srgbClr val="FFFFFF"/>
                    </a:solidFill>
                  </a:tcPr>
                </a:tc>
              </a:tr>
              <a:tr h="301752">
                <a:tc>
                  <a:txBody>
                    <a:bodyPr/>
                    <a:lstStyle/>
                    <a:p>
                      <a:pPr algn="ctr"/>
                      <a:r>
                        <a:rPr sz="1050" b="1">
                          <a:solidFill>
                            <a:srgbClr val="1C7293"/>
                          </a:solidFill>
                          <a:latin typeface="Calibri"/>
                        </a:rPr>
                        <a:t>3</a:t>
                      </a:r>
                    </a:p>
                  </a:txBody>
                  <a:tcPr anchor="ctr" marT="12700" marB="12700">
                    <a:solidFill>
                      <a:srgbClr val="F4F8FB"/>
                    </a:solidFill>
                  </a:tcPr>
                </a:tc>
                <a:tc>
                  <a:txBody>
                    <a:bodyPr/>
                    <a:lstStyle/>
                    <a:p>
                      <a:pPr algn="l"/>
                      <a:r>
                        <a:rPr sz="1050" b="0">
                          <a:solidFill>
                            <a:srgbClr val="1B2A3A"/>
                          </a:solidFill>
                          <a:latin typeface="Courier New"/>
                        </a:rPr>
                        <a:t>missing-www-authenticate</a:t>
                      </a:r>
                    </a:p>
                  </a:txBody>
                  <a:tcPr anchor="ctr" marT="12700" marB="12700">
                    <a:solidFill>
                      <a:srgbClr val="F4F8FB"/>
                    </a:solidFill>
                  </a:tcPr>
                </a:tc>
                <a:tc>
                  <a:txBody>
                    <a:bodyPr/>
                    <a:lstStyle/>
                    <a:p>
                      <a:pPr algn="l"/>
                      <a:r>
                        <a:rPr sz="1050" b="0">
                          <a:solidFill>
                            <a:srgbClr val="1B2A3A"/>
                          </a:solidFill>
                          <a:latin typeface="Calibri"/>
                        </a:rPr>
                        <a:t>Does the 401 say where to log in?</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med</a:t>
                      </a:r>
                    </a:p>
                  </a:txBody>
                  <a:tcPr anchor="ctr" marT="12700" marB="12700">
                    <a:solidFill>
                      <a:srgbClr val="F4F8FB"/>
                    </a:solidFill>
                  </a:tcPr>
                </a:tc>
              </a:tr>
              <a:tr h="301752">
                <a:tc>
                  <a:txBody>
                    <a:bodyPr/>
                    <a:lstStyle/>
                    <a:p>
                      <a:pPr algn="ctr"/>
                      <a:r>
                        <a:rPr sz="1050" b="1">
                          <a:solidFill>
                            <a:srgbClr val="1C7293"/>
                          </a:solidFill>
                          <a:latin typeface="Calibri"/>
                        </a:rPr>
                        <a:t>4</a:t>
                      </a:r>
                    </a:p>
                  </a:txBody>
                  <a:tcPr anchor="ctr" marT="12700" marB="12700">
                    <a:solidFill>
                      <a:srgbClr val="FFFFFF"/>
                    </a:solidFill>
                  </a:tcPr>
                </a:tc>
                <a:tc>
                  <a:txBody>
                    <a:bodyPr/>
                    <a:lstStyle/>
                    <a:p>
                      <a:pPr algn="l"/>
                      <a:r>
                        <a:rPr sz="1050" b="0">
                          <a:solidFill>
                            <a:srgbClr val="1B2A3A"/>
                          </a:solidFill>
                          <a:latin typeface="Courier New"/>
                        </a:rPr>
                        <a:t>missing-protected-resource-metadata</a:t>
                      </a:r>
                    </a:p>
                  </a:txBody>
                  <a:tcPr anchor="ctr" marT="12700" marB="12700">
                    <a:solidFill>
                      <a:srgbClr val="FFFFFF"/>
                    </a:solidFill>
                  </a:tcPr>
                </a:tc>
                <a:tc>
                  <a:txBody>
                    <a:bodyPr/>
                    <a:lstStyle/>
                    <a:p>
                      <a:pPr algn="l"/>
                      <a:r>
                        <a:rPr sz="1050" b="0">
                          <a:solidFill>
                            <a:srgbClr val="1B2A3A"/>
                          </a:solidFill>
                          <a:latin typeface="Calibri"/>
                        </a:rPr>
                        <a:t>Is the login-info page published?</a:t>
                      </a:r>
                    </a:p>
                  </a:txBody>
                  <a:tcPr anchor="ctr" marT="12700" marB="12700">
                    <a:solidFill>
                      <a:srgbClr val="FFFFFF"/>
                    </a:solidFill>
                  </a:tcPr>
                </a:tc>
                <a:tc>
                  <a:txBody>
                    <a:bodyPr/>
                    <a:lstStyle/>
                    <a:p>
                      <a:pPr algn="ctr"/>
                      <a:r>
                        <a:rPr sz="1050" b="1">
                          <a:solidFill>
                            <a:srgbClr val="1C7293"/>
                          </a:solidFill>
                          <a:latin typeface="Calibri"/>
                        </a:rPr>
                        <a:t>MUST</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5</a:t>
                      </a:r>
                    </a:p>
                  </a:txBody>
                  <a:tcPr anchor="ctr" marT="12700" marB="12700">
                    <a:solidFill>
                      <a:srgbClr val="F4F8FB"/>
                    </a:solidFill>
                  </a:tcPr>
                </a:tc>
                <a:tc>
                  <a:txBody>
                    <a:bodyPr/>
                    <a:lstStyle/>
                    <a:p>
                      <a:pPr algn="l"/>
                      <a:r>
                        <a:rPr sz="1050" b="0">
                          <a:solidFill>
                            <a:srgbClr val="1B2A3A"/>
                          </a:solidFill>
                          <a:latin typeface="Courier New"/>
                        </a:rPr>
                        <a:t>session-id-in-url</a:t>
                      </a:r>
                    </a:p>
                  </a:txBody>
                  <a:tcPr anchor="ctr" marT="12700" marB="12700">
                    <a:solidFill>
                      <a:srgbClr val="F4F8FB"/>
                    </a:solidFill>
                  </a:tcPr>
                </a:tc>
                <a:tc>
                  <a:txBody>
                    <a:bodyPr/>
                    <a:lstStyle/>
                    <a:p>
                      <a:pPr algn="l"/>
                      <a:r>
                        <a:rPr sz="1050" b="0">
                          <a:solidFill>
                            <a:srgbClr val="1B2A3A"/>
                          </a:solidFill>
                          <a:latin typeface="Calibri"/>
                        </a:rPr>
                        <a:t>Is the session tag leaking in the URL?</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med</a:t>
                      </a:r>
                    </a:p>
                  </a:txBody>
                  <a:tcPr anchor="ctr" marT="12700" marB="12700">
                    <a:solidFill>
                      <a:srgbClr val="F4F8FB"/>
                    </a:solidFill>
                  </a:tcPr>
                </a:tc>
              </a:tr>
              <a:tr h="301752">
                <a:tc>
                  <a:txBody>
                    <a:bodyPr/>
                    <a:lstStyle/>
                    <a:p>
                      <a:pPr algn="ctr"/>
                      <a:r>
                        <a:rPr sz="1050" b="1">
                          <a:solidFill>
                            <a:srgbClr val="1C7293"/>
                          </a:solidFill>
                          <a:latin typeface="Calibri"/>
                        </a:rPr>
                        <a:t>6</a:t>
                      </a:r>
                    </a:p>
                  </a:txBody>
                  <a:tcPr anchor="ctr" marT="12700" marB="12700">
                    <a:solidFill>
                      <a:srgbClr val="FFFFFF"/>
                    </a:solidFill>
                  </a:tcPr>
                </a:tc>
                <a:tc>
                  <a:txBody>
                    <a:bodyPr/>
                    <a:lstStyle/>
                    <a:p>
                      <a:pPr algn="l"/>
                      <a:r>
                        <a:rPr sz="1050" b="0">
                          <a:solidFill>
                            <a:srgbClr val="1B2A3A"/>
                          </a:solidFill>
                          <a:latin typeface="Courier New"/>
                        </a:rPr>
                        <a:t>predictable-session-id</a:t>
                      </a:r>
                    </a:p>
                  </a:txBody>
                  <a:tcPr anchor="ctr" marT="12700" marB="12700">
                    <a:solidFill>
                      <a:srgbClr val="FFFFFF"/>
                    </a:solidFill>
                  </a:tcPr>
                </a:tc>
                <a:tc>
                  <a:txBody>
                    <a:bodyPr/>
                    <a:lstStyle/>
                    <a:p>
                      <a:pPr algn="l"/>
                      <a:r>
                        <a:rPr sz="1050" b="0">
                          <a:solidFill>
                            <a:srgbClr val="1B2A3A"/>
                          </a:solidFill>
                          <a:latin typeface="Calibri"/>
                        </a:rPr>
                        <a:t>Are session tags guessable?</a:t>
                      </a:r>
                    </a:p>
                  </a:txBody>
                  <a:tcPr anchor="ctr" marT="12700" marB="12700">
                    <a:solidFill>
                      <a:srgbClr val="FFFFFF"/>
                    </a:solidFill>
                  </a:tcPr>
                </a:tc>
                <a:tc>
                  <a:txBody>
                    <a:bodyPr/>
                    <a:lstStyle/>
                    <a:p>
                      <a:pPr algn="ctr"/>
                      <a:r>
                        <a:rPr sz="1050" b="1">
                          <a:solidFill>
                            <a:srgbClr val="5C6B7A"/>
                          </a:solidFill>
                          <a:latin typeface="Calibri"/>
                        </a:rPr>
                        <a:t>SHOULD</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7</a:t>
                      </a:r>
                    </a:p>
                  </a:txBody>
                  <a:tcPr anchor="ctr" marT="12700" marB="12700">
                    <a:solidFill>
                      <a:srgbClr val="F4F8FB"/>
                    </a:solidFill>
                  </a:tcPr>
                </a:tc>
                <a:tc>
                  <a:txBody>
                    <a:bodyPr/>
                    <a:lstStyle/>
                    <a:p>
                      <a:pPr algn="l"/>
                      <a:r>
                        <a:rPr sz="1050" b="0">
                          <a:solidFill>
                            <a:srgbClr val="1B2A3A"/>
                          </a:solidFill>
                          <a:latin typeface="Courier New"/>
                        </a:rPr>
                        <a:t>origin-not-validated</a:t>
                      </a:r>
                    </a:p>
                  </a:txBody>
                  <a:tcPr anchor="ctr" marT="12700" marB="12700">
                    <a:solidFill>
                      <a:srgbClr val="F4F8FB"/>
                    </a:solidFill>
                  </a:tcPr>
                </a:tc>
                <a:tc>
                  <a:txBody>
                    <a:bodyPr/>
                    <a:lstStyle/>
                    <a:p>
                      <a:pPr algn="l"/>
                      <a:r>
                        <a:rPr sz="1050" b="0">
                          <a:solidFill>
                            <a:srgbClr val="1B2A3A"/>
                          </a:solidFill>
                          <a:latin typeface="Calibri"/>
                        </a:rPr>
                        <a:t>Is a forged Origin accepted?</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8</a:t>
                      </a:r>
                    </a:p>
                  </a:txBody>
                  <a:tcPr anchor="ctr" marT="12700" marB="12700">
                    <a:solidFill>
                      <a:srgbClr val="FFFFFF"/>
                    </a:solidFill>
                  </a:tcPr>
                </a:tc>
                <a:tc>
                  <a:txBody>
                    <a:bodyPr/>
                    <a:lstStyle/>
                    <a:p>
                      <a:pPr algn="l"/>
                      <a:r>
                        <a:rPr sz="1050" b="0">
                          <a:solidFill>
                            <a:srgbClr val="1B2A3A"/>
                          </a:solidFill>
                          <a:latin typeface="Courier New"/>
                        </a:rPr>
                        <a:t>cors-misconfiguration</a:t>
                      </a:r>
                    </a:p>
                  </a:txBody>
                  <a:tcPr anchor="ctr" marT="12700" marB="12700">
                    <a:solidFill>
                      <a:srgbClr val="FFFFFF"/>
                    </a:solidFill>
                  </a:tcPr>
                </a:tc>
                <a:tc>
                  <a:txBody>
                    <a:bodyPr/>
                    <a:lstStyle/>
                    <a:p>
                      <a:pPr algn="l"/>
                      <a:r>
                        <a:rPr sz="1050" b="0">
                          <a:solidFill>
                            <a:srgbClr val="1B2A3A"/>
                          </a:solidFill>
                          <a:latin typeface="Calibri"/>
                        </a:rPr>
                        <a:t>May any website call it with credentials?</a:t>
                      </a:r>
                    </a:p>
                  </a:txBody>
                  <a:tcPr anchor="ctr" marT="12700" marB="12700">
                    <a:solidFill>
                      <a:srgbClr val="FFFFFF"/>
                    </a:solidFill>
                  </a:tcPr>
                </a:tc>
                <a:tc>
                  <a:txBody>
                    <a:bodyPr/>
                    <a:lstStyle/>
                    <a:p>
                      <a:pPr algn="ctr"/>
                      <a:r>
                        <a:rPr sz="1050" b="1">
                          <a:solidFill>
                            <a:srgbClr val="5C6B7A"/>
                          </a:solidFill>
                          <a:latin typeface="Calibri"/>
                        </a:rPr>
                        <a:t>non-MCP</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9</a:t>
                      </a:r>
                    </a:p>
                  </a:txBody>
                  <a:tcPr anchor="ctr" marT="12700" marB="12700">
                    <a:solidFill>
                      <a:srgbClr val="F4F8FB"/>
                    </a:solidFill>
                  </a:tcPr>
                </a:tc>
                <a:tc>
                  <a:txBody>
                    <a:bodyPr/>
                    <a:lstStyle/>
                    <a:p>
                      <a:pPr algn="l"/>
                      <a:r>
                        <a:rPr sz="1050" b="0">
                          <a:solidFill>
                            <a:srgbClr val="1B2A3A"/>
                          </a:solidFill>
                          <a:latin typeface="Courier New"/>
                        </a:rPr>
                        <a:t>auth-endpoints-not-https</a:t>
                      </a:r>
                    </a:p>
                  </a:txBody>
                  <a:tcPr anchor="ctr" marT="12700" marB="12700">
                    <a:solidFill>
                      <a:srgbClr val="F4F8FB"/>
                    </a:solidFill>
                  </a:tcPr>
                </a:tc>
                <a:tc>
                  <a:txBody>
                    <a:bodyPr/>
                    <a:lstStyle/>
                    <a:p>
                      <a:pPr algn="l"/>
                      <a:r>
                        <a:rPr sz="1050" b="0">
                          <a:solidFill>
                            <a:srgbClr val="1B2A3A"/>
                          </a:solidFill>
                          <a:latin typeface="Calibri"/>
                        </a:rPr>
                        <a:t>Any login address on plain http?</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10</a:t>
                      </a:r>
                    </a:p>
                  </a:txBody>
                  <a:tcPr anchor="ctr" marT="12700" marB="12700">
                    <a:solidFill>
                      <a:srgbClr val="FFFFFF"/>
                    </a:solidFill>
                  </a:tcPr>
                </a:tc>
                <a:tc>
                  <a:txBody>
                    <a:bodyPr/>
                    <a:lstStyle/>
                    <a:p>
                      <a:pPr algn="l"/>
                      <a:r>
                        <a:rPr sz="1050" b="0">
                          <a:solidFill>
                            <a:srgbClr val="1B2A3A"/>
                          </a:solidFill>
                          <a:latin typeface="Courier New"/>
                        </a:rPr>
                        <a:t>missing-as-metadata</a:t>
                      </a:r>
                    </a:p>
                  </a:txBody>
                  <a:tcPr anchor="ctr" marT="12700" marB="12700">
                    <a:solidFill>
                      <a:srgbClr val="FFFFFF"/>
                    </a:solidFill>
                  </a:tcPr>
                </a:tc>
                <a:tc>
                  <a:txBody>
                    <a:bodyPr/>
                    <a:lstStyle/>
                    <a:p>
                      <a:pPr algn="l"/>
                      <a:r>
                        <a:rPr sz="1050" b="0">
                          <a:solidFill>
                            <a:srgbClr val="1B2A3A"/>
                          </a:solidFill>
                          <a:latin typeface="Calibri"/>
                        </a:rPr>
                        <a:t>Does the login server describe itself?</a:t>
                      </a:r>
                    </a:p>
                  </a:txBody>
                  <a:tcPr anchor="ctr" marT="12700" marB="12700">
                    <a:solidFill>
                      <a:srgbClr val="FFFFFF"/>
                    </a:solidFill>
                  </a:tcPr>
                </a:tc>
                <a:tc>
                  <a:txBody>
                    <a:bodyPr/>
                    <a:lstStyle/>
                    <a:p>
                      <a:pPr algn="ctr"/>
                      <a:r>
                        <a:rPr sz="1050" b="1">
                          <a:solidFill>
                            <a:srgbClr val="1C7293"/>
                          </a:solidFill>
                          <a:latin typeface="Calibri"/>
                        </a:rPr>
                        <a:t>MUST</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11</a:t>
                      </a:r>
                    </a:p>
                  </a:txBody>
                  <a:tcPr anchor="ctr" marT="12700" marB="12700">
                    <a:solidFill>
                      <a:srgbClr val="F4F8FB"/>
                    </a:solidFill>
                  </a:tcPr>
                </a:tc>
                <a:tc>
                  <a:txBody>
                    <a:bodyPr/>
                    <a:lstStyle/>
                    <a:p>
                      <a:pPr algn="l"/>
                      <a:r>
                        <a:rPr sz="1050" b="0">
                          <a:solidFill>
                            <a:srgbClr val="1B2A3A"/>
                          </a:solidFill>
                          <a:latin typeface="Courier New"/>
                        </a:rPr>
                        <a:t>implicit-flow-enabled</a:t>
                      </a:r>
                    </a:p>
                  </a:txBody>
                  <a:tcPr anchor="ctr" marT="12700" marB="12700">
                    <a:solidFill>
                      <a:srgbClr val="F4F8FB"/>
                    </a:solidFill>
                  </a:tcPr>
                </a:tc>
                <a:tc>
                  <a:txBody>
                    <a:bodyPr/>
                    <a:lstStyle/>
                    <a:p>
                      <a:pPr algn="l"/>
                      <a:r>
                        <a:rPr sz="1050" b="0">
                          <a:solidFill>
                            <a:srgbClr val="1B2A3A"/>
                          </a:solidFill>
                          <a:latin typeface="Calibri"/>
                        </a:rPr>
                        <a:t>Still offering the removed implicit flow?</a:t>
                      </a:r>
                    </a:p>
                  </a:txBody>
                  <a:tcPr anchor="ctr" marT="12700" marB="12700">
                    <a:solidFill>
                      <a:srgbClr val="F4F8FB"/>
                    </a:solidFill>
                  </a:tcPr>
                </a:tc>
                <a:tc>
                  <a:txBody>
                    <a:bodyPr/>
                    <a:lstStyle/>
                    <a:p>
                      <a:pPr algn="ctr"/>
                      <a:r>
                        <a:rPr sz="1050" b="1">
                          <a:solidFill>
                            <a:srgbClr val="1C7293"/>
                          </a:solidFill>
                          <a:latin typeface="Calibri"/>
                        </a:rPr>
                        <a:t>MUST NOT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12</a:t>
                      </a:r>
                    </a:p>
                  </a:txBody>
                  <a:tcPr anchor="ctr" marT="12700" marB="12700">
                    <a:solidFill>
                      <a:srgbClr val="FFFFFF"/>
                    </a:solidFill>
                  </a:tcPr>
                </a:tc>
                <a:tc>
                  <a:txBody>
                    <a:bodyPr/>
                    <a:lstStyle/>
                    <a:p>
                      <a:pPr algn="l"/>
                      <a:r>
                        <a:rPr sz="1050" b="0">
                          <a:solidFill>
                            <a:srgbClr val="1B2A3A"/>
                          </a:solidFill>
                          <a:latin typeface="Courier New"/>
                        </a:rPr>
                        <a:t>open-dcr  (write)</a:t>
                      </a:r>
                    </a:p>
                  </a:txBody>
                  <a:tcPr anchor="ctr" marT="12700" marB="12700">
                    <a:solidFill>
                      <a:srgbClr val="FFFFFF"/>
                    </a:solidFill>
                  </a:tcPr>
                </a:tc>
                <a:tc>
                  <a:txBody>
                    <a:bodyPr/>
                    <a:lstStyle/>
                    <a:p>
                      <a:pPr algn="l"/>
                      <a:r>
                        <a:rPr sz="1050" b="0">
                          <a:solidFill>
                            <a:srgbClr val="1B2A3A"/>
                          </a:solidFill>
                          <a:latin typeface="Calibri"/>
                        </a:rPr>
                        <a:t>Can anyone register a client?</a:t>
                      </a:r>
                    </a:p>
                  </a:txBody>
                  <a:tcPr anchor="ctr" marT="12700" marB="12700">
                    <a:solidFill>
                      <a:srgbClr val="FFFFFF"/>
                    </a:solidFill>
                  </a:tcPr>
                </a:tc>
                <a:tc>
                  <a:txBody>
                    <a:bodyPr/>
                    <a:lstStyle/>
                    <a:p>
                      <a:pPr algn="ctr"/>
                      <a:r>
                        <a:rPr sz="1050" b="1">
                          <a:solidFill>
                            <a:srgbClr val="5C6B7A"/>
                          </a:solidFill>
                          <a:latin typeface="Calibri"/>
                        </a:rPr>
                        <a:t>SHOULD</a:t>
                      </a:r>
                    </a:p>
                  </a:txBody>
                  <a:tcPr anchor="ctr" marT="12700" marB="12700">
                    <a:solidFill>
                      <a:srgbClr val="FFFFFF"/>
                    </a:solidFill>
                  </a:tcPr>
                </a:tc>
                <a:tc>
                  <a:txBody>
                    <a:bodyPr/>
                    <a:lstStyle/>
                    <a:p>
                      <a:pPr algn="ctr"/>
                      <a:r>
                        <a:rPr sz="1050" b="0">
                          <a:solidFill>
                            <a:srgbClr val="1B2A3A"/>
                          </a:solidFill>
                          <a:latin typeface="Calibri"/>
                        </a:rPr>
                        <a:t>high</a:t>
                      </a:r>
                    </a:p>
                  </a:txBody>
                  <a:tcPr anchor="ctr" marT="12700" marB="12700">
                    <a:solidFill>
                      <a:srgbClr val="FFFFFF"/>
                    </a:solidFill>
                  </a:tcPr>
                </a:tc>
              </a:tr>
              <a:tr h="301752">
                <a:tc>
                  <a:txBody>
                    <a:bodyPr/>
                    <a:lstStyle/>
                    <a:p>
                      <a:pPr algn="ctr"/>
                      <a:r>
                        <a:rPr sz="1050" b="1">
                          <a:solidFill>
                            <a:srgbClr val="1C7293"/>
                          </a:solidFill>
                          <a:latin typeface="Calibri"/>
                        </a:rPr>
                        <a:t>14</a:t>
                      </a:r>
                    </a:p>
                  </a:txBody>
                  <a:tcPr anchor="ctr" marT="12700" marB="12700">
                    <a:solidFill>
                      <a:srgbClr val="F4F8FB"/>
                    </a:solidFill>
                  </a:tcPr>
                </a:tc>
                <a:tc>
                  <a:txBody>
                    <a:bodyPr/>
                    <a:lstStyle/>
                    <a:p>
                      <a:pPr algn="l"/>
                      <a:r>
                        <a:rPr sz="1050" b="0">
                          <a:solidFill>
                            <a:srgbClr val="1B2A3A"/>
                          </a:solidFill>
                          <a:latin typeface="Courier New"/>
                        </a:rPr>
                        <a:t>improper-redirect-uri-validation  (write)</a:t>
                      </a:r>
                    </a:p>
                  </a:txBody>
                  <a:tcPr anchor="ctr" marT="12700" marB="12700">
                    <a:solidFill>
                      <a:srgbClr val="F4F8FB"/>
                    </a:solidFill>
                  </a:tcPr>
                </a:tc>
                <a:tc>
                  <a:txBody>
                    <a:bodyPr/>
                    <a:lstStyle/>
                    <a:p>
                      <a:pPr algn="l"/>
                      <a:r>
                        <a:rPr sz="1050" b="0">
                          <a:solidFill>
                            <a:srgbClr val="1B2A3A"/>
                          </a:solidFill>
                          <a:latin typeface="Calibri"/>
                        </a:rPr>
                        <a:t>Accepts an unregistered return address?</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1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Can a stranger reach the tools? (#1, #13)</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64792"/>
            <a:ext cx="10725912" cy="1088136"/>
          </a:xfrm>
          <a:prstGeom prst="rect">
            <a:avLst/>
          </a:prstGeom>
          <a:noFill/>
        </p:spPr>
        <p:txBody>
          <a:bodyPr wrap="square" anchor="ctr" lIns="0" rIns="0" tIns="0" bIns="0">
            <a:spAutoFit/>
          </a:bodyPr>
          <a:lstStyle/>
          <a:p>
            <a:pPr algn="l">
              <a:lnSpc>
                <a:spcPct val="100000"/>
              </a:lnSpc>
              <a:spcAft>
                <a:spcPts val="200"/>
              </a:spcAft>
            </a:pPr>
            <a:r>
              <a:rPr sz="1500" b="1" i="0">
                <a:solidFill>
                  <a:srgbClr val="1C7293"/>
                </a:solidFill>
                <a:latin typeface="Calibri"/>
              </a:rPr>
              <a:t>#1  </a:t>
            </a:r>
            <a:r>
              <a:rPr sz="1500" b="1" i="0">
                <a:solidFill>
                  <a:srgbClr val="12233F"/>
                </a:solidFill>
                <a:latin typeface="Calibri"/>
              </a:rPr>
              <a:t>no-authentication-remote  -  can a stranger LIST the tools?</a:t>
            </a:r>
            <a:r>
              <a:rPr sz="1200" b="1" i="0">
                <a:solidFill>
                  <a:srgbClr val="5C6B7A"/>
                </a:solidFill>
                <a:latin typeface="Calibri"/>
              </a:rPr>
              <a:t>      SHOULD · Transports §Security</a:t>
            </a:r>
          </a:p>
          <a:p>
            <a:pPr algn="l">
              <a:lnSpc>
                <a:spcPct val="100000"/>
              </a:lnSpc>
            </a:pPr>
            <a:r>
              <a:rPr sz="1350" b="0" i="0">
                <a:solidFill>
                  <a:srgbClr val="1B2A3A"/>
                </a:solidFill>
                <a:latin typeface="Calibri"/>
              </a:rPr>
              <a:t>Send tools/list with no token. A JSON-RPC result back = the catalogue is readable without login (capability disclosure). Authenticating is only a SHOULD, so this is posture, not a broken rule.</a:t>
            </a:r>
          </a:p>
        </p:txBody>
      </p:sp>
      <p:sp>
        <p:nvSpPr>
          <p:cNvPr id="6" name="Rounded Rectangle 5"/>
          <p:cNvSpPr/>
          <p:nvPr/>
        </p:nvSpPr>
        <p:spPr>
          <a:xfrm>
            <a:off x="548640" y="320040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73552"/>
            <a:ext cx="10725912" cy="1088136"/>
          </a:xfrm>
          <a:prstGeom prst="rect">
            <a:avLst/>
          </a:prstGeom>
          <a:noFill/>
        </p:spPr>
        <p:txBody>
          <a:bodyPr wrap="square" anchor="ctr" lIns="0" rIns="0" tIns="0" bIns="0">
            <a:spAutoFit/>
          </a:bodyPr>
          <a:lstStyle/>
          <a:p>
            <a:pPr algn="l">
              <a:lnSpc>
                <a:spcPct val="100000"/>
              </a:lnSpc>
              <a:spcAft>
                <a:spcPts val="200"/>
              </a:spcAft>
            </a:pPr>
            <a:r>
              <a:rPr sz="1500" b="1" i="0">
                <a:solidFill>
                  <a:srgbClr val="1C7293"/>
                </a:solidFill>
                <a:latin typeface="Calibri"/>
              </a:rPr>
              <a:t>#13  </a:t>
            </a:r>
            <a:r>
              <a:rPr sz="1500" b="1" i="0">
                <a:solidFill>
                  <a:srgbClr val="12233F"/>
                </a:solidFill>
                <a:latin typeface="Calibri"/>
              </a:rPr>
              <a:t>unauthenticated-tool-invocation  -  can a stranger RUN one?</a:t>
            </a:r>
            <a:r>
              <a:rPr sz="1200" b="1" i="0">
                <a:solidFill>
                  <a:srgbClr val="1C7293"/>
                </a:solidFill>
                <a:latin typeface="Calibri"/>
              </a:rPr>
              <a:t>      MUST · MCP Authorization</a:t>
            </a:r>
          </a:p>
          <a:p>
            <a:pPr algn="l">
              <a:lnSpc>
                <a:spcPct val="100000"/>
              </a:lnSpc>
            </a:pPr>
            <a:r>
              <a:rPr sz="1350" b="0" i="0">
                <a:solidFill>
                  <a:srgbClr val="1B2A3A"/>
                </a:solidFill>
                <a:latin typeface="Calibri"/>
              </a:rPr>
              <a:t>Send tools/call for a deliberately non-existent tool, no token - so nothing executes. A 401 means the call path is gated; any JSON-RPC reply means it reached the dispatch layer, i.e. invocation is open.</a:t>
            </a:r>
          </a:p>
        </p:txBody>
      </p:sp>
      <p:sp>
        <p:nvSpPr>
          <p:cNvPr id="8" name="Rounded Rectangle 7"/>
          <p:cNvSpPr/>
          <p:nvPr/>
        </p:nvSpPr>
        <p:spPr>
          <a:xfrm>
            <a:off x="548640" y="4663440"/>
            <a:ext cx="11091672" cy="123444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773168"/>
            <a:ext cx="10543032" cy="105156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Why both:  </a:t>
            </a:r>
            <a:r>
              <a:rPr sz="1500" b="0" i="0">
                <a:solidFill>
                  <a:srgbClr val="1B2A3A"/>
                </a:solidFill>
                <a:latin typeface="Calibri"/>
              </a:rPr>
              <a:t>reading a menu is not ordering from it. #1 shows the menu is readable by anyone; #13 shows whether a stranger can actually place an order. Plenty of servers hand out the menu but still require a login before they serve - only #13 separates the two.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2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Is the connection itself safe? (#2, #5)</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#2  </a:t>
            </a:r>
            <a:r>
              <a:rPr sz="1400" b="1" i="0">
                <a:solidFill>
                  <a:srgbClr val="12233F"/>
                </a:solidFill>
                <a:latin typeface="Calibri"/>
              </a:rPr>
              <a:t>no-tls-transport</a:t>
            </a:r>
            <a:r>
              <a:rPr sz="1100" b="1" i="0">
                <a:solidFill>
                  <a:srgbClr val="1C7293"/>
                </a:solidFill>
                <a:latin typeface="Calibri"/>
              </a:rPr>
              <a:t>      MUST · OAuth 2.1 §1.5</a:t>
            </a:r>
          </a:p>
          <a:p>
            <a:pPr algn="l">
              <a:lnSpc>
                <a:spcPct val="100000"/>
              </a:lnSpc>
            </a:pPr>
            <a:r>
              <a:rPr sz="1200" b="0" i="0">
                <a:solidFill>
                  <a:srgbClr val="1B2A3A"/>
                </a:solidFill>
                <a:latin typeface="Calibri"/>
              </a:rPr>
              <a:t>Plain http on a public host - or https whose certificate is expired, self-signed, or for the wrong name. Either way the traffic isn't really protected and a token would travel exposed.</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#5  </a:t>
            </a:r>
            <a:r>
              <a:rPr sz="1400" b="1" i="0">
                <a:solidFill>
                  <a:srgbClr val="12233F"/>
                </a:solidFill>
                <a:latin typeface="Calibri"/>
              </a:rPr>
              <a:t>session-id-in-url</a:t>
            </a:r>
            <a:r>
              <a:rPr sz="1100" b="1" i="0">
                <a:solidFill>
                  <a:srgbClr val="1C7293"/>
                </a:solidFill>
                <a:latin typeface="Calibri"/>
              </a:rPr>
              <a:t>      MUST · OAuth 2.1 §5</a:t>
            </a:r>
          </a:p>
          <a:p>
            <a:pPr algn="l">
              <a:lnSpc>
                <a:spcPct val="100000"/>
              </a:lnSpc>
            </a:pPr>
            <a:r>
              <a:rPr sz="1200" b="0" i="0">
                <a:solidFill>
                  <a:srgbClr val="1B2A3A"/>
                </a:solidFill>
                <a:latin typeface="Calibri"/>
              </a:rPr>
              <a:t>Is the session tag placed in the web address instead of a header? URLs end up in server logs, browser history and the Referer header - so the tag leaks.</a:t>
            </a:r>
          </a:p>
        </p:txBody>
      </p:sp>
      <p:sp>
        <p:nvSpPr>
          <p:cNvPr id="8" name="Rounded Rectangle 7"/>
          <p:cNvSpPr/>
          <p:nvPr/>
        </p:nvSpPr>
        <p:spPr>
          <a:xfrm>
            <a:off x="548640" y="5074920"/>
            <a:ext cx="11091672" cy="9144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74920"/>
            <a:ext cx="10543032" cy="91440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Both are about the pipe, not the login: </a:t>
            </a:r>
            <a:r>
              <a:rPr sz="1500" b="0" i="0">
                <a:solidFill>
                  <a:srgbClr val="1B2A3A"/>
                </a:solidFill>
                <a:latin typeface="Calibri"/>
              </a:rPr>
              <a:t>is the channel encrypted (#2), and does the session tag stay out of the URL (#5)? A token or session id is only ever as safe as the channel it rides 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3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the login: how a client discovers it (#3, #4, #10)</a:t>
            </a:r>
          </a:p>
        </p:txBody>
      </p:sp>
      <p:sp>
        <p:nvSpPr>
          <p:cNvPr id="4" name="TextBox 3"/>
          <p:cNvSpPr txBox="1"/>
          <p:nvPr/>
        </p:nvSpPr>
        <p:spPr>
          <a:xfrm>
            <a:off x="548640" y="1508760"/>
            <a:ext cx="11091672" cy="594360"/>
          </a:xfrm>
          <a:prstGeom prst="rect">
            <a:avLst/>
          </a:prstGeom>
          <a:noFill/>
        </p:spPr>
        <p:txBody>
          <a:bodyPr wrap="square" anchor="t" lIns="0" rIns="0" tIns="0" bIns="0">
            <a:spAutoFit/>
          </a:bodyPr>
          <a:lstStyle/>
          <a:p>
            <a:pPr algn="l">
              <a:lnSpc>
                <a:spcPct val="104000"/>
              </a:lnSpc>
            </a:pPr>
            <a:r>
              <a:rPr sz="1400" b="0" i="0">
                <a:solidFill>
                  <a:srgbClr val="1B2A3A"/>
                </a:solidFill>
                <a:latin typeface="Calibri"/>
              </a:rPr>
              <a:t>A caller with no token must discover where to log in. Three steps: the 401 refusal </a:t>
            </a:r>
            <a:r>
              <a:rPr sz="1400" b="0" i="1">
                <a:solidFill>
                  <a:srgbClr val="1B2A3A"/>
                </a:solidFill>
                <a:latin typeface="Calibri"/>
              </a:rPr>
              <a:t>points the way</a:t>
            </a:r>
            <a:r>
              <a:rPr sz="1400" b="0" i="0">
                <a:solidFill>
                  <a:srgbClr val="1B2A3A"/>
                </a:solidFill>
                <a:latin typeface="Calibri"/>
              </a:rPr>
              <a:t> (#3), the MCP server's metadata </a:t>
            </a:r>
            <a:r>
              <a:rPr sz="1400" b="0" i="1">
                <a:solidFill>
                  <a:srgbClr val="1B2A3A"/>
                </a:solidFill>
                <a:latin typeface="Calibri"/>
              </a:rPr>
              <a:t>names its login server</a:t>
            </a:r>
            <a:r>
              <a:rPr sz="1400" b="0" i="0">
                <a:solidFill>
                  <a:srgbClr val="1B2A3A"/>
                </a:solidFill>
                <a:latin typeface="Calibri"/>
              </a:rPr>
              <a:t> (#4), and that login server </a:t>
            </a:r>
            <a:r>
              <a:rPr sz="1400" b="0" i="1">
                <a:solidFill>
                  <a:srgbClr val="1B2A3A"/>
                </a:solidFill>
                <a:latin typeface="Calibri"/>
              </a:rPr>
              <a:t>describes itself</a:t>
            </a:r>
            <a:r>
              <a:rPr sz="1400" b="0" i="0">
                <a:solidFill>
                  <a:srgbClr val="1B2A3A"/>
                </a:solidFill>
                <a:latin typeface="Calibri"/>
              </a:rPr>
              <a:t> (#10) - often across different companies.</a:t>
            </a:r>
          </a:p>
        </p:txBody>
      </p:sp>
      <p:sp>
        <p:nvSpPr>
          <p:cNvPr id="5" name="Rounded Rectangle 4"/>
          <p:cNvSpPr/>
          <p:nvPr/>
        </p:nvSpPr>
        <p:spPr>
          <a:xfrm>
            <a:off x="548640" y="2286000"/>
            <a:ext cx="11091672"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359152"/>
            <a:ext cx="10725912" cy="95097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#3  </a:t>
            </a:r>
            <a:r>
              <a:rPr sz="1400" b="1" i="0">
                <a:solidFill>
                  <a:srgbClr val="12233F"/>
                </a:solidFill>
                <a:latin typeface="Calibri"/>
              </a:rPr>
              <a:t>missing-www-authenticate</a:t>
            </a:r>
            <a:r>
              <a:rPr sz="1100" b="1" i="0">
                <a:solidFill>
                  <a:srgbClr val="1C7293"/>
                </a:solidFill>
                <a:latin typeface="Calibri"/>
              </a:rPr>
              <a:t>      MUST · RFC 9728 §5.1</a:t>
            </a:r>
          </a:p>
          <a:p>
            <a:pPr algn="l">
              <a:lnSpc>
                <a:spcPct val="100000"/>
              </a:lnSpc>
            </a:pPr>
            <a:r>
              <a:rPr sz="1150" b="0" i="0">
                <a:solidFill>
                  <a:srgbClr val="1B2A3A"/>
                </a:solidFill>
                <a:latin typeface="Calibri"/>
              </a:rPr>
              <a:t>When a server correctly refuses with 401 “log in first”, it must also say WHERE - a WWW-Authenticate header pointing at its login-info page. Many just say “no” and leave the client stuck with nowhere to go.</a:t>
            </a:r>
          </a:p>
        </p:txBody>
      </p:sp>
      <p:sp>
        <p:nvSpPr>
          <p:cNvPr id="7" name="Rounded Rectangle 6"/>
          <p:cNvSpPr/>
          <p:nvPr/>
        </p:nvSpPr>
        <p:spPr>
          <a:xfrm>
            <a:off x="548640" y="3520439"/>
            <a:ext cx="11091672"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593591"/>
            <a:ext cx="10725912" cy="95097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#4  </a:t>
            </a:r>
            <a:r>
              <a:rPr sz="1400" b="1" i="0">
                <a:solidFill>
                  <a:srgbClr val="12233F"/>
                </a:solidFill>
                <a:latin typeface="Calibri"/>
              </a:rPr>
              <a:t>missing-protected-resource-metadata</a:t>
            </a:r>
            <a:r>
              <a:rPr sz="1100" b="1" i="0">
                <a:solidFill>
                  <a:srgbClr val="1C7293"/>
                </a:solidFill>
                <a:latin typeface="Calibri"/>
              </a:rPr>
              <a:t>      MUST · RFC 9728 §3.1</a:t>
            </a:r>
          </a:p>
          <a:p>
            <a:pPr algn="l">
              <a:lnSpc>
                <a:spcPct val="100000"/>
              </a:lnSpc>
            </a:pPr>
            <a:r>
              <a:rPr sz="1150" b="0" i="0">
                <a:solidFill>
                  <a:srgbClr val="1B2A3A"/>
                </a:solidFill>
                <a:latin typeface="Calibri"/>
              </a:rPr>
              <a:t>Does the MCP server publish the page naming its login server? Without it a client can't find where to authenticate. We query the exact spec address (a well-known path inserted before the server's path), not the bare domain - or we'd falsely accuse servers hosted under a path.</a:t>
            </a:r>
          </a:p>
        </p:txBody>
      </p:sp>
      <p:sp>
        <p:nvSpPr>
          <p:cNvPr id="9" name="Rounded Rectangle 8"/>
          <p:cNvSpPr/>
          <p:nvPr/>
        </p:nvSpPr>
        <p:spPr>
          <a:xfrm>
            <a:off x="548640" y="4754879"/>
            <a:ext cx="11091672"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828031"/>
            <a:ext cx="10725912" cy="95097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#10  </a:t>
            </a:r>
            <a:r>
              <a:rPr sz="1400" b="1" i="0">
                <a:solidFill>
                  <a:srgbClr val="12233F"/>
                </a:solidFill>
                <a:latin typeface="Calibri"/>
              </a:rPr>
              <a:t>missing-as-metadata</a:t>
            </a:r>
            <a:r>
              <a:rPr sz="1100" b="1" i="0">
                <a:solidFill>
                  <a:srgbClr val="1C7293"/>
                </a:solidFill>
                <a:latin typeface="Calibri"/>
              </a:rPr>
              <a:t>      MUST · RFC 8414</a:t>
            </a:r>
          </a:p>
          <a:p>
            <a:pPr algn="l">
              <a:lnSpc>
                <a:spcPct val="100000"/>
              </a:lnSpc>
            </a:pPr>
            <a:r>
              <a:rPr sz="1150" b="0" i="0">
                <a:solidFill>
                  <a:srgbClr val="1B2A3A"/>
                </a:solidFill>
                <a:latin typeface="Calibri"/>
              </a:rPr>
              <a:t>Does the login server publish its own description, and correctly name itself? A page claiming to belong to someone else must not be trusted.</a:t>
            </a:r>
          </a:p>
        </p:txBody>
      </p:sp>
      <p:sp>
        <p:nvSpPr>
          <p:cNvPr id="11" name="TextBox 10"/>
          <p:cNvSpPr txBox="1"/>
          <p:nvPr/>
        </p:nvSpPr>
        <p:spPr>
          <a:xfrm>
            <a:off x="548640" y="5943600"/>
            <a:ext cx="11091672" cy="320040"/>
          </a:xfrm>
          <a:prstGeom prst="rect">
            <a:avLst/>
          </a:prstGeom>
          <a:noFill/>
        </p:spPr>
        <p:txBody>
          <a:bodyPr wrap="square" anchor="t" lIns="0" rIns="0" tIns="0" bIns="0">
            <a:spAutoFit/>
          </a:bodyPr>
          <a:lstStyle/>
          <a:p>
            <a:pPr algn="l"/>
            <a:r>
              <a:rPr sz="1200" b="0" i="1">
                <a:solidFill>
                  <a:srgbClr val="5C6B7A"/>
                </a:solidFill>
                <a:latin typeface="Calibri"/>
              </a:rPr>
              <a:t>These share one lookup, fetched once at the start - so #4, #9, #10, #11 and #14 all reason about the same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4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Session and browser defences (#6, #7, #8)</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64792"/>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#6  </a:t>
            </a:r>
            <a:r>
              <a:rPr sz="1400" b="1" i="0">
                <a:solidFill>
                  <a:srgbClr val="12233F"/>
                </a:solidFill>
                <a:latin typeface="Calibri"/>
              </a:rPr>
              <a:t>predictable-session-id</a:t>
            </a:r>
            <a:r>
              <a:rPr sz="1100" b="1" i="0">
                <a:solidFill>
                  <a:srgbClr val="5C6B7A"/>
                </a:solidFill>
                <a:latin typeface="Calibri"/>
              </a:rPr>
              <a:t>      SHOULD · Transports §Session Mgmt</a:t>
            </a:r>
          </a:p>
          <a:p>
            <a:pPr algn="l">
              <a:lnSpc>
                <a:spcPct val="100000"/>
              </a:lnSpc>
            </a:pPr>
            <a:r>
              <a:rPr sz="1200" b="0" i="0">
                <a:solidFill>
                  <a:srgbClr val="1B2A3A"/>
                </a:solidFill>
                <a:latin typeface="Calibri"/>
              </a:rPr>
              <a:t>Open several sessions and compare the tags. Counting up, identical, or too little randomness = guessable. Key idea: length is not entropy - a 15-char random token beats a 16-digit counter.</a:t>
            </a:r>
          </a:p>
        </p:txBody>
      </p:sp>
      <p:sp>
        <p:nvSpPr>
          <p:cNvPr id="6" name="Rounded Rectangle 5"/>
          <p:cNvSpPr/>
          <p:nvPr/>
        </p:nvSpPr>
        <p:spPr>
          <a:xfrm>
            <a:off x="548640" y="3127248"/>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00400"/>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#7  </a:t>
            </a:r>
            <a:r>
              <a:rPr sz="1400" b="1" i="0">
                <a:solidFill>
                  <a:srgbClr val="12233F"/>
                </a:solidFill>
                <a:latin typeface="Calibri"/>
              </a:rPr>
              <a:t>origin-not-validated</a:t>
            </a:r>
            <a:r>
              <a:rPr sz="1100" b="1" i="0">
                <a:solidFill>
                  <a:srgbClr val="1C7293"/>
                </a:solidFill>
                <a:latin typeface="Calibri"/>
              </a:rPr>
              <a:t>      MUST · Transports §Security</a:t>
            </a:r>
          </a:p>
          <a:p>
            <a:pPr algn="l">
              <a:lnSpc>
                <a:spcPct val="100000"/>
              </a:lnSpc>
            </a:pPr>
            <a:r>
              <a:rPr sz="1200" b="0" i="0">
                <a:solidFill>
                  <a:srgbClr val="1B2A3A"/>
                </a:solidFill>
                <a:latin typeface="Calibri"/>
              </a:rPr>
              <a:t>Send a request with a forged Origin. A refusal only counts if a no-Origin control is accepted - otherwise the server just refuses everything. Guards against DNS-rebinding, mainly a threat to local servers.</a:t>
            </a:r>
          </a:p>
        </p:txBody>
      </p:sp>
      <p:sp>
        <p:nvSpPr>
          <p:cNvPr id="8" name="Rounded Rectangle 7"/>
          <p:cNvSpPr/>
          <p:nvPr/>
        </p:nvSpPr>
        <p:spPr>
          <a:xfrm>
            <a:off x="548640" y="4562856"/>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36008"/>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#8  </a:t>
            </a:r>
            <a:r>
              <a:rPr sz="1400" b="1" i="0">
                <a:solidFill>
                  <a:srgbClr val="12233F"/>
                </a:solidFill>
                <a:latin typeface="Calibri"/>
              </a:rPr>
              <a:t>cors-misconfiguration</a:t>
            </a:r>
            <a:r>
              <a:rPr sz="1100" b="1" i="0">
                <a:solidFill>
                  <a:srgbClr val="5C6B7A"/>
                </a:solidFill>
                <a:latin typeface="Calibri"/>
              </a:rPr>
              <a:t>      non-MCP · web security</a:t>
            </a:r>
          </a:p>
          <a:p>
            <a:pPr algn="l">
              <a:lnSpc>
                <a:spcPct val="100000"/>
              </a:lnSpc>
            </a:pPr>
            <a:r>
              <a:rPr sz="1200" b="0" i="0">
                <a:solidFill>
                  <a:srgbClr val="1B2A3A"/>
                </a:solidFill>
                <a:latin typeface="Calibri"/>
              </a:rPr>
              <a:t>Does it tell browsers “any website may call me” and “you may send credentials”? Not an MCP rule - reported as general web security, and only relevant if a browser is involved.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5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OAuth hygiene in the published metadata (#9, #11)</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#9  </a:t>
            </a:r>
            <a:r>
              <a:rPr sz="1400" b="1" i="0">
                <a:solidFill>
                  <a:srgbClr val="12233F"/>
                </a:solidFill>
                <a:latin typeface="Calibri"/>
              </a:rPr>
              <a:t>auth-endpoints-not-https</a:t>
            </a:r>
            <a:r>
              <a:rPr sz="1100" b="1" i="0">
                <a:solidFill>
                  <a:srgbClr val="1C7293"/>
                </a:solidFill>
                <a:latin typeface="Calibri"/>
              </a:rPr>
              <a:t>      MUST · OAuth 2.1 §1.5</a:t>
            </a:r>
          </a:p>
          <a:p>
            <a:pPr algn="l">
              <a:lnSpc>
                <a:spcPct val="100000"/>
              </a:lnSpc>
            </a:pPr>
            <a:r>
              <a:rPr sz="1200" b="0" i="0">
                <a:solidFill>
                  <a:srgbClr val="1B2A3A"/>
                </a:solidFill>
                <a:latin typeface="Calibri"/>
              </a:rPr>
              <a:t>Among the login addresses the server publishes, is any on plain http on a public host? Tokens would travel in the clear. Reads the shared lookup - it makes no request of its own.</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#11  </a:t>
            </a:r>
            <a:r>
              <a:rPr sz="1400" b="1" i="0">
                <a:solidFill>
                  <a:srgbClr val="12233F"/>
                </a:solidFill>
                <a:latin typeface="Calibri"/>
              </a:rPr>
              <a:t>implicit-flow-enabled</a:t>
            </a:r>
            <a:r>
              <a:rPr sz="1100" b="1" i="0">
                <a:solidFill>
                  <a:srgbClr val="1C7293"/>
                </a:solidFill>
                <a:latin typeface="Calibri"/>
              </a:rPr>
              <a:t>      MUST NOT · OAuth 2.1 §1.8</a:t>
            </a:r>
          </a:p>
          <a:p>
            <a:pPr algn="l">
              <a:lnSpc>
                <a:spcPct val="100000"/>
              </a:lnSpc>
            </a:pPr>
            <a:r>
              <a:rPr sz="1200" b="0" i="0">
                <a:solidFill>
                  <a:srgbClr val="1B2A3A"/>
                </a:solidFill>
                <a:latin typeface="Calibri"/>
              </a:rPr>
              <a:t>Does the login server still advertise the old “implicit” flow, which delivered the token inside the web address (where it leaks)? OAuth 2.1 removed it in favour of the authorization-code flow.</a:t>
            </a:r>
          </a:p>
        </p:txBody>
      </p:sp>
      <p:sp>
        <p:nvSpPr>
          <p:cNvPr id="8" name="Rounded Rectangle 7"/>
          <p:cNvSpPr/>
          <p:nvPr/>
        </p:nvSpPr>
        <p:spPr>
          <a:xfrm>
            <a:off x="548640" y="4937760"/>
            <a:ext cx="11091672" cy="9144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937760"/>
            <a:ext cx="10543032" cy="914400"/>
          </a:xfrm>
          <a:prstGeom prst="rect">
            <a:avLst/>
          </a:prstGeom>
          <a:noFill/>
        </p:spPr>
        <p:txBody>
          <a:bodyPr wrap="square" anchor="ctr" lIns="0" rIns="0" tIns="0" bIns="0">
            <a:spAutoFit/>
          </a:bodyPr>
          <a:lstStyle/>
          <a:p>
            <a:pPr algn="l">
              <a:lnSpc>
                <a:spcPct val="105000"/>
              </a:lnSpc>
            </a:pPr>
            <a:r>
              <a:rPr sz="1400" b="1" i="0">
                <a:solidFill>
                  <a:srgbClr val="12233F"/>
                </a:solidFill>
                <a:latin typeface="Calibri"/>
              </a:rPr>
              <a:t>A secure connection to a badly-configured login server is still unsafe. </a:t>
            </a:r>
            <a:r>
              <a:rPr sz="1400" b="0" i="0">
                <a:solidFill>
                  <a:srgbClr val="1B2A3A"/>
                </a:solidFill>
                <a:latin typeface="Calibri"/>
              </a:rPr>
              <a:t>These two catch that in what the server advertises about its own login - before a client ever sends a token. Subtlety in #11: the login server lists its supported modes as one space-separated value, so we parse that list rather than string-match it - that way a combined “id_token token” is still flagged as offering the leaky implicit flow, which a naive check would miss.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6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two checks that write - off by default (#12, #14)</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#12  </a:t>
            </a:r>
            <a:r>
              <a:rPr sz="1400" b="1" i="0">
                <a:solidFill>
                  <a:srgbClr val="12233F"/>
                </a:solidFill>
                <a:latin typeface="Calibri"/>
              </a:rPr>
              <a:t>open-dcr</a:t>
            </a:r>
            <a:r>
              <a:rPr sz="1100" b="1" i="0">
                <a:solidFill>
                  <a:srgbClr val="5C6B7A"/>
                </a:solidFill>
                <a:latin typeface="Calibri"/>
              </a:rPr>
              <a:t>      SHOULD · RFC 7591 §3</a:t>
            </a:r>
          </a:p>
          <a:p>
            <a:pPr algn="l">
              <a:lnSpc>
                <a:spcPct val="100000"/>
              </a:lnSpc>
            </a:pPr>
            <a:r>
              <a:rPr sz="1200" b="0" i="0">
                <a:solidFill>
                  <a:srgbClr val="1B2A3A"/>
                </a:solidFill>
                <a:latin typeface="Calibri"/>
              </a:rPr>
              <a:t>Dynamic Client Registration (DCR) lets an app sign itself up with the login server, no human involved. #12 sends a real registration to ask: will the server hand out client credentials to anyone, with no review or vetting? Permitted by the rules, so reported as posture - but it is the foothold a bigger attack needs.</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#14  </a:t>
            </a:r>
            <a:r>
              <a:rPr sz="1400" b="1" i="0">
                <a:solidFill>
                  <a:srgbClr val="12233F"/>
                </a:solidFill>
                <a:latin typeface="Calibri"/>
              </a:rPr>
              <a:t>improper-redirect-uri-validation</a:t>
            </a:r>
            <a:r>
              <a:rPr sz="1100" b="1" i="0">
                <a:solidFill>
                  <a:srgbClr val="1C7293"/>
                </a:solidFill>
                <a:latin typeface="Calibri"/>
              </a:rPr>
              <a:t>      MUST · OAuth 2.1 §7.5.4</a:t>
            </a:r>
          </a:p>
          <a:p>
            <a:pPr algn="l">
              <a:lnSpc>
                <a:spcPct val="100000"/>
              </a:lnSpc>
            </a:pPr>
            <a:r>
              <a:rPr sz="1200" b="0" i="0">
                <a:solidFill>
                  <a:srgbClr val="1B2A3A"/>
                </a:solidFill>
                <a:latin typeface="Calibri"/>
              </a:rPr>
              <a:t>After login, the server returns the user to a registered address carrying the login code. Does it accept an address the client never registered? If so, an attacker can steal the code. Needs a registered client first - so it also writes.</a:t>
            </a:r>
          </a:p>
        </p:txBody>
      </p:sp>
      <p:sp>
        <p:nvSpPr>
          <p:cNvPr id="8" name="Rounded Rectangle 7"/>
          <p:cNvSpPr/>
          <p:nvPr/>
        </p:nvSpPr>
        <p:spPr>
          <a:xfrm>
            <a:off x="548640" y="4937760"/>
            <a:ext cx="11091672" cy="91440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937760"/>
            <a:ext cx="10543032" cy="914400"/>
          </a:xfrm>
          <a:prstGeom prst="rect">
            <a:avLst/>
          </a:prstGeom>
          <a:noFill/>
        </p:spPr>
        <p:txBody>
          <a:bodyPr wrap="square" anchor="ctr" lIns="0" rIns="0" tIns="0" bIns="0">
            <a:spAutoFit/>
          </a:bodyPr>
          <a:lstStyle/>
          <a:p>
            <a:pPr algn="l">
              <a:lnSpc>
                <a:spcPct val="105000"/>
              </a:lnSpc>
            </a:pPr>
            <a:r>
              <a:rPr sz="1400" b="0" i="0">
                <a:solidFill>
                  <a:srgbClr val="1B2A3A"/>
                </a:solidFill>
                <a:latin typeface="Calibri"/>
              </a:rPr>
              <a:t>Both create real state on the server, so they run only when explicitly enabled (--unsafe-writes). Everything created is written to a journal before any attempt to delete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We ran all 14 checks against 83 public servers</a:t>
            </a:r>
          </a:p>
        </p:txBody>
      </p:sp>
      <p:sp>
        <p:nvSpPr>
          <p:cNvPr id="4" name="TextBox 3"/>
          <p:cNvSpPr txBox="1"/>
          <p:nvPr/>
        </p:nvSpPr>
        <p:spPr>
          <a:xfrm>
            <a:off x="548640" y="1737360"/>
            <a:ext cx="11091672" cy="731520"/>
          </a:xfrm>
          <a:prstGeom prst="rect">
            <a:avLst/>
          </a:prstGeom>
          <a:noFill/>
        </p:spPr>
        <p:txBody>
          <a:bodyPr wrap="square" anchor="t" lIns="0" rIns="0" tIns="0" bIns="0">
            <a:spAutoFit/>
          </a:bodyPr>
          <a:lstStyle/>
          <a:p>
            <a:pPr algn="l">
              <a:lnSpc>
                <a:spcPct val="105000"/>
              </a:lnSpc>
            </a:pPr>
            <a:r>
              <a:rPr sz="1600" b="0" i="0">
                <a:solidFill>
                  <a:srgbClr val="1B2A3A"/>
                </a:solidFill>
                <a:latin typeface="Calibri"/>
              </a:rPr>
              <a:t>One consistent scan per server on 2026-09-27 - one pass, all 14 checks, zero ERROR verdicts. Servers came from the official MCP Registry; the raw request/response for every server is committed.</a:t>
            </a:r>
          </a:p>
        </p:txBody>
      </p:sp>
      <p:sp>
        <p:nvSpPr>
          <p:cNvPr id="5" name="Rounded Rectangle 4"/>
          <p:cNvSpPr/>
          <p:nvPr/>
        </p:nvSpPr>
        <p:spPr>
          <a:xfrm>
            <a:off x="5486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83</a:t>
            </a:r>
          </a:p>
          <a:p>
            <a:pPr algn="ctr">
              <a:spcAft>
                <a:spcPts val="200"/>
              </a:spcAft>
            </a:pPr>
            <a:r>
              <a:rPr sz="1500" b="1" i="0">
                <a:solidFill>
                  <a:srgbClr val="12233F"/>
                </a:solidFill>
                <a:latin typeface="Calibri"/>
              </a:rPr>
              <a:t>servers scanned</a:t>
            </a:r>
          </a:p>
          <a:p>
            <a:pPr algn="ctr"/>
            <a:r>
              <a:rPr sz="1200" b="0" i="0">
                <a:solidFill>
                  <a:srgbClr val="5C6B7A"/>
                </a:solidFill>
                <a:latin typeface="Calibri"/>
              </a:rPr>
              <a:t>one consistent run</a:t>
            </a:r>
          </a:p>
        </p:txBody>
      </p:sp>
      <p:sp>
        <p:nvSpPr>
          <p:cNvPr id="7" name="Rounded Rectangle 6"/>
          <p:cNvSpPr/>
          <p:nvPr/>
        </p:nvSpPr>
        <p:spPr>
          <a:xfrm>
            <a:off x="44348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14</a:t>
            </a:r>
          </a:p>
          <a:p>
            <a:pPr algn="ctr">
              <a:spcAft>
                <a:spcPts val="200"/>
              </a:spcAft>
            </a:pPr>
            <a:r>
              <a:rPr sz="1500" b="1" i="0">
                <a:solidFill>
                  <a:srgbClr val="12233F"/>
                </a:solidFill>
                <a:latin typeface="Calibri"/>
              </a:rPr>
              <a:t>checks each</a:t>
            </a:r>
          </a:p>
          <a:p>
            <a:pPr algn="ctr"/>
            <a:r>
              <a:rPr sz="1200" b="0" i="0">
                <a:solidFill>
                  <a:srgbClr val="5C6B7A"/>
                </a:solidFill>
                <a:latin typeface="Calibri"/>
              </a:rPr>
              <a:t>12 read-only + 2 write</a:t>
            </a:r>
          </a:p>
        </p:txBody>
      </p:sp>
      <p:sp>
        <p:nvSpPr>
          <p:cNvPr id="9" name="Rounded Rectangle 8"/>
          <p:cNvSpPr/>
          <p:nvPr/>
        </p:nvSpPr>
        <p:spPr>
          <a:xfrm>
            <a:off x="83210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19"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0</a:t>
            </a:r>
          </a:p>
          <a:p>
            <a:pPr algn="ctr">
              <a:spcAft>
                <a:spcPts val="200"/>
              </a:spcAft>
            </a:pPr>
            <a:r>
              <a:rPr sz="1500" b="1" i="0">
                <a:solidFill>
                  <a:srgbClr val="12233F"/>
                </a:solidFill>
                <a:latin typeface="Calibri"/>
              </a:rPr>
              <a:t>ERROR verdicts</a:t>
            </a:r>
          </a:p>
          <a:p>
            <a:pPr algn="ctr"/>
            <a:r>
              <a:rPr sz="1200" b="0" i="0">
                <a:solidFill>
                  <a:srgbClr val="5C6B7A"/>
                </a:solidFill>
                <a:latin typeface="Calibri"/>
              </a:rPr>
              <a:t>dead endpoints removed</a:t>
            </a:r>
          </a:p>
        </p:txBody>
      </p:sp>
      <p:sp>
        <p:nvSpPr>
          <p:cNvPr id="11" name="TextBox 10"/>
          <p:cNvSpPr txBox="1"/>
          <p:nvPr/>
        </p:nvSpPr>
        <p:spPr>
          <a:xfrm>
            <a:off x="548640" y="5120640"/>
            <a:ext cx="11091672" cy="731520"/>
          </a:xfrm>
          <a:prstGeom prst="rect">
            <a:avLst/>
          </a:prstGeom>
          <a:noFill/>
        </p:spPr>
        <p:txBody>
          <a:bodyPr wrap="square" anchor="t" lIns="0" rIns="0" tIns="0" bIns="0">
            <a:spAutoFit/>
          </a:bodyPr>
          <a:lstStyle/>
          <a:p>
            <a:pPr algn="l">
              <a:lnSpc>
                <a:spcPct val="104000"/>
              </a:lnSpc>
            </a:pPr>
            <a:r>
              <a:rPr sz="1400" b="1" i="0">
                <a:solidFill>
                  <a:srgbClr val="12233F"/>
                </a:solidFill>
                <a:latin typeface="Calibri"/>
              </a:rPr>
              <a:t>Two populations. </a:t>
            </a:r>
            <a:r>
              <a:rPr sz="1400" b="0" i="0">
                <a:solidFill>
                  <a:srgbClr val="5C6B7A"/>
                </a:solidFill>
                <a:latin typeface="Calibri"/>
              </a:rPr>
              <a:t>These 83 are real, public servers from the official MCP Registry - a public directory of live MCP servers. Separately, we built 7 local practice servers to develop and validate the scanner itself (slide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full results</a:t>
            </a:r>
          </a:p>
        </p:txBody>
      </p:sp>
      <p:graphicFrame>
        <p:nvGraphicFramePr>
          <p:cNvPr id="4" name="Table 3"/>
          <p:cNvGraphicFramePr>
            <a:graphicFrameLocks noGrp="1"/>
          </p:cNvGraphicFramePr>
          <p:nvPr/>
        </p:nvGraphicFramePr>
        <p:xfrm>
          <a:off x="548640" y="1600200"/>
          <a:ext cx="10469880" cy="4251960"/>
        </p:xfrm>
        <a:graphic>
          <a:graphicData uri="http://schemas.openxmlformats.org/drawingml/2006/table">
            <a:tbl>
              <a:tblPr>
                <a:tableStyleId>{5C22544A-7EE6-4342-B048-85BDC9FD1C3A}</a:tableStyleId>
              </a:tblPr>
              <a:tblGrid>
                <a:gridCol w="4846320"/>
                <a:gridCol w="1600200"/>
                <a:gridCol w="1417320"/>
                <a:gridCol w="1234440"/>
                <a:gridCol w="1371600"/>
              </a:tblGrid>
              <a:tr h="283464">
                <a:tc>
                  <a:txBody>
                    <a:bodyPr/>
                    <a:lstStyle/>
                    <a:p>
                      <a:pPr algn="l"/>
                      <a:r>
                        <a:rPr sz="1100" b="1">
                          <a:solidFill>
                            <a:srgbClr val="FFFFFF"/>
                          </a:solidFill>
                          <a:latin typeface="Calibri"/>
                        </a:rPr>
                        <a:t>Check</a:t>
                      </a:r>
                    </a:p>
                  </a:txBody>
                  <a:tcPr anchor="ctr">
                    <a:solidFill>
                      <a:srgbClr val="12233F"/>
                    </a:solidFill>
                  </a:tcPr>
                </a:tc>
                <a:tc>
                  <a:txBody>
                    <a:bodyPr/>
                    <a:lstStyle/>
                    <a:p>
                      <a:pPr algn="ctr"/>
                      <a:r>
                        <a:rPr sz="1100" b="1">
                          <a:solidFill>
                            <a:srgbClr val="FFFFFF"/>
                          </a:solidFill>
                          <a:latin typeface="Calibri"/>
                        </a:rPr>
                        <a:t>HAS_GAP</a:t>
                      </a:r>
                    </a:p>
                  </a:txBody>
                  <a:tcPr anchor="ctr">
                    <a:solidFill>
                      <a:srgbClr val="12233F"/>
                    </a:solidFill>
                  </a:tcPr>
                </a:tc>
                <a:tc>
                  <a:txBody>
                    <a:bodyPr/>
                    <a:lstStyle/>
                    <a:p>
                      <a:pPr algn="ctr"/>
                      <a:r>
                        <a:rPr sz="1100" b="1">
                          <a:solidFill>
                            <a:srgbClr val="FFFFFF"/>
                          </a:solidFill>
                          <a:latin typeface="Calibri"/>
                        </a:rPr>
                        <a:t>NO_GAP</a:t>
                      </a:r>
                    </a:p>
                  </a:txBody>
                  <a:tcPr anchor="ctr">
                    <a:solidFill>
                      <a:srgbClr val="12233F"/>
                    </a:solidFill>
                  </a:tcPr>
                </a:tc>
                <a:tc>
                  <a:txBody>
                    <a:bodyPr/>
                    <a:lstStyle/>
                    <a:p>
                      <a:pPr algn="ctr"/>
                      <a:r>
                        <a:rPr sz="1100" b="1">
                          <a:solidFill>
                            <a:srgbClr val="FFFFFF"/>
                          </a:solidFill>
                          <a:latin typeface="Calibri"/>
                        </a:rPr>
                        <a:t>N/A</a:t>
                      </a:r>
                    </a:p>
                  </a:txBody>
                  <a:tcPr anchor="ctr">
                    <a:solidFill>
                      <a:srgbClr val="12233F"/>
                    </a:solidFill>
                  </a:tcPr>
                </a:tc>
                <a:tc>
                  <a:txBody>
                    <a:bodyPr/>
                    <a:lstStyle/>
                    <a:p>
                      <a:pPr algn="ctr"/>
                      <a:r>
                        <a:rPr sz="1100" b="1">
                          <a:solidFill>
                            <a:srgbClr val="FFFFFF"/>
                          </a:solidFill>
                          <a:latin typeface="Calibri"/>
                        </a:rPr>
                        <a:t>INC</a:t>
                      </a:r>
                    </a:p>
                  </a:txBody>
                  <a:tcPr anchor="ctr">
                    <a:solidFill>
                      <a:srgbClr val="12233F"/>
                    </a:solidFill>
                  </a:tcPr>
                </a:tc>
              </a:tr>
              <a:tr h="283464">
                <a:tc>
                  <a:txBody>
                    <a:bodyPr/>
                    <a:lstStyle/>
                    <a:p>
                      <a:pPr algn="l"/>
                      <a:r>
                        <a:rPr sz="1050" b="1">
                          <a:solidFill>
                            <a:srgbClr val="1B2A3A"/>
                          </a:solidFill>
                          <a:latin typeface="Calibri"/>
                        </a:rPr>
                        <a:t>#1 no-authentication-remote</a:t>
                      </a:r>
                    </a:p>
                  </a:txBody>
                  <a:tcPr anchor="ctr" marT="12700" marB="12700">
                    <a:solidFill>
                      <a:srgbClr val="FFFFFF"/>
                    </a:solidFill>
                  </a:tcPr>
                </a:tc>
                <a:tc>
                  <a:txBody>
                    <a:bodyPr/>
                    <a:lstStyle/>
                    <a:p>
                      <a:pPr algn="ctr"/>
                      <a:r>
                        <a:rPr sz="1050" b="1">
                          <a:solidFill>
                            <a:srgbClr val="B23A3A"/>
                          </a:solidFill>
                          <a:latin typeface="Calibri"/>
                        </a:rPr>
                        <a:t>28</a:t>
                      </a:r>
                    </a:p>
                  </a:txBody>
                  <a:tcPr anchor="ctr" marT="12700" marB="12700">
                    <a:solidFill>
                      <a:srgbClr val="FFFFFF"/>
                    </a:solidFill>
                  </a:tcPr>
                </a:tc>
                <a:tc>
                  <a:txBody>
                    <a:bodyPr/>
                    <a:lstStyle/>
                    <a:p>
                      <a:pPr algn="ctr"/>
                      <a:r>
                        <a:rPr sz="1050" b="0">
                          <a:solidFill>
                            <a:srgbClr val="1B2A3A"/>
                          </a:solidFill>
                          <a:latin typeface="Calibri"/>
                        </a:rPr>
                        <a:t>42</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13</a:t>
                      </a:r>
                    </a:p>
                  </a:txBody>
                  <a:tcPr anchor="ctr" marT="12700" marB="12700">
                    <a:solidFill>
                      <a:srgbClr val="FFFFFF"/>
                    </a:solidFill>
                  </a:tcPr>
                </a:tc>
              </a:tr>
              <a:tr h="283464">
                <a:tc>
                  <a:txBody>
                    <a:bodyPr/>
                    <a:lstStyle/>
                    <a:p>
                      <a:pPr algn="l"/>
                      <a:r>
                        <a:rPr sz="1050" b="0">
                          <a:solidFill>
                            <a:srgbClr val="1B2A3A"/>
                          </a:solidFill>
                          <a:latin typeface="Calibri"/>
                        </a:rPr>
                        <a:t>#2 no-tls-transport</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82</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a:t>
                      </a:r>
                    </a:p>
                  </a:txBody>
                  <a:tcPr anchor="ctr" marT="12700" marB="12700">
                    <a:solidFill>
                      <a:srgbClr val="F4F8FB"/>
                    </a:solidFill>
                  </a:tcPr>
                </a:tc>
              </a:tr>
              <a:tr h="283464">
                <a:tc>
                  <a:txBody>
                    <a:bodyPr/>
                    <a:lstStyle/>
                    <a:p>
                      <a:pPr algn="l"/>
                      <a:r>
                        <a:rPr sz="1050" b="0">
                          <a:solidFill>
                            <a:srgbClr val="1B2A3A"/>
                          </a:solidFill>
                          <a:latin typeface="Calibri"/>
                        </a:rPr>
                        <a:t>#3 missing-www-authenticate</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32</a:t>
                      </a:r>
                    </a:p>
                  </a:txBody>
                  <a:tcPr anchor="ctr" marT="12700" marB="12700">
                    <a:solidFill>
                      <a:srgbClr val="FFFFFF"/>
                    </a:solidFill>
                  </a:tcPr>
                </a:tc>
                <a:tc>
                  <a:txBody>
                    <a:bodyPr/>
                    <a:lstStyle/>
                    <a:p>
                      <a:pPr algn="ctr"/>
                      <a:r>
                        <a:rPr sz="1050" b="0">
                          <a:solidFill>
                            <a:srgbClr val="1B2A3A"/>
                          </a:solidFill>
                          <a:latin typeface="Calibri"/>
                        </a:rPr>
                        <a:t>41</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r>
              <a:tr h="283464">
                <a:tc>
                  <a:txBody>
                    <a:bodyPr/>
                    <a:lstStyle/>
                    <a:p>
                      <a:pPr algn="l"/>
                      <a:r>
                        <a:rPr sz="1050" b="0">
                          <a:solidFill>
                            <a:srgbClr val="1B2A3A"/>
                          </a:solidFill>
                          <a:latin typeface="Calibri"/>
                        </a:rPr>
                        <a:t>#4 missing-protected-resource-metadata</a:t>
                      </a:r>
                    </a:p>
                  </a:txBody>
                  <a:tcPr anchor="ctr" marT="12700" marB="12700">
                    <a:solidFill>
                      <a:srgbClr val="F4F8FB"/>
                    </a:solidFill>
                  </a:tcPr>
                </a:tc>
                <a:tc>
                  <a:txBody>
                    <a:bodyPr/>
                    <a:lstStyle/>
                    <a:p>
                      <a:pPr algn="ctr"/>
                      <a:r>
                        <a:rPr sz="1050" b="1">
                          <a:solidFill>
                            <a:srgbClr val="B23A3A"/>
                          </a:solidFill>
                          <a:latin typeface="Calibri"/>
                        </a:rPr>
                        <a:t>21</a:t>
                      </a:r>
                    </a:p>
                  </a:txBody>
                  <a:tcPr anchor="ctr" marT="12700" marB="12700">
                    <a:solidFill>
                      <a:srgbClr val="F4F8FB"/>
                    </a:solidFill>
                  </a:tcPr>
                </a:tc>
                <a:tc>
                  <a:txBody>
                    <a:bodyPr/>
                    <a:lstStyle/>
                    <a:p>
                      <a:pPr algn="ctr"/>
                      <a:r>
                        <a:rPr sz="1050" b="0">
                          <a:solidFill>
                            <a:srgbClr val="1B2A3A"/>
                          </a:solidFill>
                          <a:latin typeface="Calibri"/>
                        </a:rPr>
                        <a:t>41</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21</a:t>
                      </a:r>
                    </a:p>
                  </a:txBody>
                  <a:tcPr anchor="ctr" marT="12700" marB="12700">
                    <a:solidFill>
                      <a:srgbClr val="F4F8FB"/>
                    </a:solidFill>
                  </a:tcPr>
                </a:tc>
              </a:tr>
              <a:tr h="283464">
                <a:tc>
                  <a:txBody>
                    <a:bodyPr/>
                    <a:lstStyle/>
                    <a:p>
                      <a:pPr algn="l"/>
                      <a:r>
                        <a:rPr sz="1050" b="0">
                          <a:solidFill>
                            <a:srgbClr val="1B2A3A"/>
                          </a:solidFill>
                          <a:latin typeface="Calibri"/>
                        </a:rPr>
                        <a:t>#5 session-id-in-url</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73</a:t>
                      </a:r>
                    </a:p>
                  </a:txBody>
                  <a:tcPr anchor="ctr" marT="12700" marB="12700">
                    <a:solidFill>
                      <a:srgbClr val="FFFFFF"/>
                    </a:solidFill>
                  </a:tcPr>
                </a:tc>
              </a:tr>
              <a:tr h="283464">
                <a:tc>
                  <a:txBody>
                    <a:bodyPr/>
                    <a:lstStyle/>
                    <a:p>
                      <a:pPr algn="l"/>
                      <a:r>
                        <a:rPr sz="1050" b="0">
                          <a:solidFill>
                            <a:srgbClr val="1B2A3A"/>
                          </a:solidFill>
                          <a:latin typeface="Calibri"/>
                        </a:rPr>
                        <a:t>#6 predictable-session-id</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10</a:t>
                      </a:r>
                    </a:p>
                  </a:txBody>
                  <a:tcPr anchor="ctr" marT="12700" marB="12700">
                    <a:solidFill>
                      <a:srgbClr val="F4F8FB"/>
                    </a:solidFill>
                  </a:tcPr>
                </a:tc>
                <a:tc>
                  <a:txBody>
                    <a:bodyPr/>
                    <a:lstStyle/>
                    <a:p>
                      <a:pPr algn="ctr"/>
                      <a:r>
                        <a:rPr sz="1050" b="0">
                          <a:solidFill>
                            <a:srgbClr val="1B2A3A"/>
                          </a:solidFill>
                          <a:latin typeface="Calibri"/>
                        </a:rPr>
                        <a:t>18</a:t>
                      </a:r>
                    </a:p>
                  </a:txBody>
                  <a:tcPr anchor="ctr" marT="12700" marB="12700">
                    <a:solidFill>
                      <a:srgbClr val="F4F8FB"/>
                    </a:solidFill>
                  </a:tcPr>
                </a:tc>
                <a:tc>
                  <a:txBody>
                    <a:bodyPr/>
                    <a:lstStyle/>
                    <a:p>
                      <a:pPr algn="ctr"/>
                      <a:r>
                        <a:rPr sz="1050" b="0">
                          <a:solidFill>
                            <a:srgbClr val="1B2A3A"/>
                          </a:solidFill>
                          <a:latin typeface="Calibri"/>
                        </a:rPr>
                        <a:t>55</a:t>
                      </a:r>
                    </a:p>
                  </a:txBody>
                  <a:tcPr anchor="ctr" marT="12700" marB="12700">
                    <a:solidFill>
                      <a:srgbClr val="F4F8FB"/>
                    </a:solidFill>
                  </a:tcPr>
                </a:tc>
              </a:tr>
              <a:tr h="283464">
                <a:tc>
                  <a:txBody>
                    <a:bodyPr/>
                    <a:lstStyle/>
                    <a:p>
                      <a:pPr algn="l"/>
                      <a:r>
                        <a:rPr sz="1050" b="0">
                          <a:solidFill>
                            <a:srgbClr val="1B2A3A"/>
                          </a:solidFill>
                          <a:latin typeface="Calibri"/>
                        </a:rPr>
                        <a:t>#7 origin-not-validated</a:t>
                      </a:r>
                    </a:p>
                  </a:txBody>
                  <a:tcPr anchor="ctr" marT="12700" marB="12700">
                    <a:solidFill>
                      <a:srgbClr val="FFFFFF"/>
                    </a:solidFill>
                  </a:tcPr>
                </a:tc>
                <a:tc>
                  <a:txBody>
                    <a:bodyPr/>
                    <a:lstStyle/>
                    <a:p>
                      <a:pPr algn="ctr"/>
                      <a:r>
                        <a:rPr sz="1050" b="1">
                          <a:solidFill>
                            <a:srgbClr val="B23A3A"/>
                          </a:solidFill>
                          <a:latin typeface="Calibri"/>
                        </a:rPr>
                        <a:t>24</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49</a:t>
                      </a:r>
                    </a:p>
                  </a:txBody>
                  <a:tcPr anchor="ctr" marT="12700" marB="12700">
                    <a:solidFill>
                      <a:srgbClr val="FFFFFF"/>
                    </a:solidFill>
                  </a:tcPr>
                </a:tc>
              </a:tr>
              <a:tr h="283464">
                <a:tc>
                  <a:txBody>
                    <a:bodyPr/>
                    <a:lstStyle/>
                    <a:p>
                      <a:pPr algn="l"/>
                      <a:r>
                        <a:rPr sz="1050" b="0">
                          <a:solidFill>
                            <a:srgbClr val="1B2A3A"/>
                          </a:solidFill>
                          <a:latin typeface="Calibri"/>
                        </a:rPr>
                        <a:t>#8 cors-misconfiguration</a:t>
                      </a:r>
                    </a:p>
                  </a:txBody>
                  <a:tcPr anchor="ctr" marT="12700" marB="12700">
                    <a:solidFill>
                      <a:srgbClr val="F4F8FB"/>
                    </a:solidFill>
                  </a:tcPr>
                </a:tc>
                <a:tc>
                  <a:txBody>
                    <a:bodyPr/>
                    <a:lstStyle/>
                    <a:p>
                      <a:pPr algn="ctr"/>
                      <a:r>
                        <a:rPr sz="1050" b="1">
                          <a:solidFill>
                            <a:srgbClr val="B23A3A"/>
                          </a:solidFill>
                          <a:latin typeface="Calibri"/>
                        </a:rPr>
                        <a:t>2</a:t>
                      </a:r>
                    </a:p>
                  </a:txBody>
                  <a:tcPr anchor="ctr" marT="12700" marB="12700">
                    <a:solidFill>
                      <a:srgbClr val="F4F8FB"/>
                    </a:solidFill>
                  </a:tcPr>
                </a:tc>
                <a:tc>
                  <a:txBody>
                    <a:bodyPr/>
                    <a:lstStyle/>
                    <a:p>
                      <a:pPr algn="ctr"/>
                      <a:r>
                        <a:rPr sz="1050" b="0">
                          <a:solidFill>
                            <a:srgbClr val="1B2A3A"/>
                          </a:solidFill>
                          <a:latin typeface="Calibri"/>
                        </a:rPr>
                        <a:t>67</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14</a:t>
                      </a:r>
                    </a:p>
                  </a:txBody>
                  <a:tcPr anchor="ctr" marT="12700" marB="12700">
                    <a:solidFill>
                      <a:srgbClr val="F4F8FB"/>
                    </a:solidFill>
                  </a:tcPr>
                </a:tc>
              </a:tr>
              <a:tr h="283464">
                <a:tc>
                  <a:txBody>
                    <a:bodyPr/>
                    <a:lstStyle/>
                    <a:p>
                      <a:pPr algn="l"/>
                      <a:r>
                        <a:rPr sz="1050" b="0">
                          <a:solidFill>
                            <a:srgbClr val="1B2A3A"/>
                          </a:solidFill>
                          <a:latin typeface="Calibri"/>
                        </a:rPr>
                        <a:t>#9 auth-endpoints-not-https</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52</a:t>
                      </a:r>
                    </a:p>
                  </a:txBody>
                  <a:tcPr anchor="ctr" marT="12700" marB="12700">
                    <a:solidFill>
                      <a:srgbClr val="FFFFFF"/>
                    </a:solidFill>
                  </a:tcPr>
                </a:tc>
                <a:tc>
                  <a:txBody>
                    <a:bodyPr/>
                    <a:lstStyle/>
                    <a:p>
                      <a:pPr algn="ctr"/>
                      <a:r>
                        <a:rPr sz="1050" b="0">
                          <a:solidFill>
                            <a:srgbClr val="1B2A3A"/>
                          </a:solidFill>
                          <a:latin typeface="Calibri"/>
                        </a:rPr>
                        <a:t>31</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r>
              <a:tr h="283464">
                <a:tc>
                  <a:txBody>
                    <a:bodyPr/>
                    <a:lstStyle/>
                    <a:p>
                      <a:pPr algn="l"/>
                      <a:r>
                        <a:rPr sz="1050" b="0">
                          <a:solidFill>
                            <a:srgbClr val="1B2A3A"/>
                          </a:solidFill>
                          <a:latin typeface="Calibri"/>
                        </a:rPr>
                        <a:t>#10 missing-as-metadata</a:t>
                      </a:r>
                    </a:p>
                  </a:txBody>
                  <a:tcPr anchor="ctr" marT="12700" marB="12700">
                    <a:solidFill>
                      <a:srgbClr val="F4F8FB"/>
                    </a:solidFill>
                  </a:tcPr>
                </a:tc>
                <a:tc>
                  <a:txBody>
                    <a:bodyPr/>
                    <a:lstStyle/>
                    <a:p>
                      <a:pPr algn="ctr"/>
                      <a:r>
                        <a:rPr sz="1050" b="1">
                          <a:solidFill>
                            <a:srgbClr val="B23A3A"/>
                          </a:solidFill>
                          <a:latin typeface="Calibri"/>
                        </a:rPr>
                        <a:t>12</a:t>
                      </a:r>
                    </a:p>
                  </a:txBody>
                  <a:tcPr anchor="ctr" marT="12700" marB="12700">
                    <a:solidFill>
                      <a:srgbClr val="F4F8FB"/>
                    </a:solidFill>
                  </a:tcPr>
                </a:tc>
                <a:tc>
                  <a:txBody>
                    <a:bodyPr/>
                    <a:lstStyle/>
                    <a:p>
                      <a:pPr algn="ctr"/>
                      <a:r>
                        <a:rPr sz="1050" b="0">
                          <a:solidFill>
                            <a:srgbClr val="1B2A3A"/>
                          </a:solidFill>
                          <a:latin typeface="Calibri"/>
                        </a:rPr>
                        <a:t>53</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18</a:t>
                      </a:r>
                    </a:p>
                  </a:txBody>
                  <a:tcPr anchor="ctr" marT="12700" marB="12700">
                    <a:solidFill>
                      <a:srgbClr val="F4F8FB"/>
                    </a:solidFill>
                  </a:tcPr>
                </a:tc>
              </a:tr>
              <a:tr h="283464">
                <a:tc>
                  <a:txBody>
                    <a:bodyPr/>
                    <a:lstStyle/>
                    <a:p>
                      <a:pPr algn="l"/>
                      <a:r>
                        <a:rPr sz="1050" b="0">
                          <a:solidFill>
                            <a:srgbClr val="1B2A3A"/>
                          </a:solidFill>
                          <a:latin typeface="Calibri"/>
                        </a:rPr>
                        <a:t>#11 implicit-flow-enabled</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52</a:t>
                      </a:r>
                    </a:p>
                  </a:txBody>
                  <a:tcPr anchor="ctr" marT="12700" marB="12700">
                    <a:solidFill>
                      <a:srgbClr val="FFFFFF"/>
                    </a:solidFill>
                  </a:tcPr>
                </a:tc>
                <a:tc>
                  <a:txBody>
                    <a:bodyPr/>
                    <a:lstStyle/>
                    <a:p>
                      <a:pPr algn="ctr"/>
                      <a:r>
                        <a:rPr sz="1050" b="0">
                          <a:solidFill>
                            <a:srgbClr val="1B2A3A"/>
                          </a:solidFill>
                          <a:latin typeface="Calibri"/>
                        </a:rPr>
                        <a:t>30</a:t>
                      </a:r>
                    </a:p>
                  </a:txBody>
                  <a:tcPr anchor="ctr" marT="12700" marB="12700">
                    <a:solidFill>
                      <a:srgbClr val="FFFFFF"/>
                    </a:solidFill>
                  </a:tcPr>
                </a:tc>
                <a:tc>
                  <a:txBody>
                    <a:bodyPr/>
                    <a:lstStyle/>
                    <a:p>
                      <a:pPr algn="ctr"/>
                      <a:r>
                        <a:rPr sz="1050" b="0">
                          <a:solidFill>
                            <a:srgbClr val="1B2A3A"/>
                          </a:solidFill>
                          <a:latin typeface="Calibri"/>
                        </a:rPr>
                        <a:t>1</a:t>
                      </a:r>
                    </a:p>
                  </a:txBody>
                  <a:tcPr anchor="ctr" marT="12700" marB="12700">
                    <a:solidFill>
                      <a:srgbClr val="FFFFFF"/>
                    </a:solidFill>
                  </a:tcPr>
                </a:tc>
              </a:tr>
              <a:tr h="283464">
                <a:tc>
                  <a:txBody>
                    <a:bodyPr/>
                    <a:lstStyle/>
                    <a:p>
                      <a:pPr algn="l"/>
                      <a:r>
                        <a:rPr sz="1050" b="1">
                          <a:solidFill>
                            <a:srgbClr val="1B2A3A"/>
                          </a:solidFill>
                          <a:latin typeface="Calibri"/>
                        </a:rPr>
                        <a:t>#12 open-dcr  (write)</a:t>
                      </a:r>
                    </a:p>
                  </a:txBody>
                  <a:tcPr anchor="ctr" marT="12700" marB="12700">
                    <a:solidFill>
                      <a:srgbClr val="F4F8FB"/>
                    </a:solidFill>
                  </a:tcPr>
                </a:tc>
                <a:tc>
                  <a:txBody>
                    <a:bodyPr/>
                    <a:lstStyle/>
                    <a:p>
                      <a:pPr algn="ctr"/>
                      <a:r>
                        <a:rPr sz="1050" b="1">
                          <a:solidFill>
                            <a:srgbClr val="B23A3A"/>
                          </a:solidFill>
                          <a:latin typeface="Calibri"/>
                        </a:rPr>
                        <a:t>38</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35</a:t>
                      </a:r>
                    </a:p>
                  </a:txBody>
                  <a:tcPr anchor="ctr" marT="12700" marB="12700">
                    <a:solidFill>
                      <a:srgbClr val="F4F8FB"/>
                    </a:solidFill>
                  </a:tcPr>
                </a:tc>
                <a:tc>
                  <a:txBody>
                    <a:bodyPr/>
                    <a:lstStyle/>
                    <a:p>
                      <a:pPr algn="ctr"/>
                      <a:r>
                        <a:rPr sz="1050" b="0">
                          <a:solidFill>
                            <a:srgbClr val="1B2A3A"/>
                          </a:solidFill>
                          <a:latin typeface="Calibri"/>
                        </a:rPr>
                        <a:t>10</a:t>
                      </a:r>
                    </a:p>
                  </a:txBody>
                  <a:tcPr anchor="ctr" marT="12700" marB="12700">
                    <a:solidFill>
                      <a:srgbClr val="F4F8FB"/>
                    </a:solidFill>
                  </a:tcPr>
                </a:tc>
              </a:tr>
              <a:tr h="283464">
                <a:tc>
                  <a:txBody>
                    <a:bodyPr/>
                    <a:lstStyle/>
                    <a:p>
                      <a:pPr algn="l"/>
                      <a:r>
                        <a:rPr sz="1050" b="1">
                          <a:solidFill>
                            <a:srgbClr val="1B2A3A"/>
                          </a:solidFill>
                          <a:latin typeface="Calibri"/>
                        </a:rPr>
                        <a:t>#13 unauthenticated-tool-invocation</a:t>
                      </a:r>
                    </a:p>
                  </a:txBody>
                  <a:tcPr anchor="ctr" marT="12700" marB="12700">
                    <a:solidFill>
                      <a:srgbClr val="FFFFFF"/>
                    </a:solidFill>
                  </a:tcPr>
                </a:tc>
                <a:tc>
                  <a:txBody>
                    <a:bodyPr/>
                    <a:lstStyle/>
                    <a:p>
                      <a:pPr algn="ctr"/>
                      <a:r>
                        <a:rPr sz="1050" b="1">
                          <a:solidFill>
                            <a:srgbClr val="B23A3A"/>
                          </a:solidFill>
                          <a:latin typeface="Calibri"/>
                        </a:rPr>
                        <a:t>22</a:t>
                      </a:r>
                    </a:p>
                  </a:txBody>
                  <a:tcPr anchor="ctr" marT="12700" marB="12700">
                    <a:solidFill>
                      <a:srgbClr val="FFFFFF"/>
                    </a:solidFill>
                  </a:tcPr>
                </a:tc>
                <a:tc>
                  <a:txBody>
                    <a:bodyPr/>
                    <a:lstStyle/>
                    <a:p>
                      <a:pPr algn="ctr"/>
                      <a:r>
                        <a:rPr sz="1050" b="0">
                          <a:solidFill>
                            <a:srgbClr val="1B2A3A"/>
                          </a:solidFill>
                          <a:latin typeface="Calibri"/>
                        </a:rPr>
                        <a:t>48</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13</a:t>
                      </a:r>
                    </a:p>
                  </a:txBody>
                  <a:tcPr anchor="ctr" marT="12700" marB="12700">
                    <a:solidFill>
                      <a:srgbClr val="FFFFFF"/>
                    </a:solidFill>
                  </a:tcPr>
                </a:tc>
              </a:tr>
              <a:tr h="283464">
                <a:tc>
                  <a:txBody>
                    <a:bodyPr/>
                    <a:lstStyle/>
                    <a:p>
                      <a:pPr algn="l"/>
                      <a:r>
                        <a:rPr sz="1050" b="0">
                          <a:solidFill>
                            <a:srgbClr val="1B2A3A"/>
                          </a:solidFill>
                          <a:latin typeface="Calibri"/>
                        </a:rPr>
                        <a:t>#14 improper-redirect-uri-validation  (write)</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23</a:t>
                      </a:r>
                    </a:p>
                  </a:txBody>
                  <a:tcPr anchor="ctr" marT="12700" marB="12700">
                    <a:solidFill>
                      <a:srgbClr val="F4F8FB"/>
                    </a:solidFill>
                  </a:tcPr>
                </a:tc>
                <a:tc>
                  <a:txBody>
                    <a:bodyPr/>
                    <a:lstStyle/>
                    <a:p>
                      <a:pPr algn="ctr"/>
                      <a:r>
                        <a:rPr sz="1050" b="0">
                          <a:solidFill>
                            <a:srgbClr val="1B2A3A"/>
                          </a:solidFill>
                          <a:latin typeface="Calibri"/>
                        </a:rPr>
                        <a:t>36</a:t>
                      </a:r>
                    </a:p>
                  </a:txBody>
                  <a:tcPr anchor="ctr" marT="12700" marB="12700">
                    <a:solidFill>
                      <a:srgbClr val="F4F8FB"/>
                    </a:solidFill>
                  </a:tcPr>
                </a:tc>
                <a:tc>
                  <a:txBody>
                    <a:bodyPr/>
                    <a:lstStyle/>
                    <a:p>
                      <a:pPr algn="ctr"/>
                      <a:r>
                        <a:rPr sz="1050" b="0">
                          <a:solidFill>
                            <a:srgbClr val="1B2A3A"/>
                          </a:solidFill>
                          <a:latin typeface="Calibri"/>
                        </a:rPr>
                        <a:t>24</a:t>
                      </a:r>
                    </a:p>
                  </a:txBody>
                  <a:tcPr anchor="ctr" marT="12700" marB="12700">
                    <a:solidFill>
                      <a:srgbClr val="F4F8F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1: a third disclose their tool list to a stranger</a:t>
            </a:r>
          </a:p>
        </p:txBody>
      </p:sp>
      <p:sp>
        <p:nvSpPr>
          <p:cNvPr id="4" name="Rounded Rectangle 3"/>
          <p:cNvSpPr/>
          <p:nvPr/>
        </p:nvSpPr>
        <p:spPr>
          <a:xfrm>
            <a:off x="548640" y="1783080"/>
            <a:ext cx="3200400" cy="219456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19"/>
            <a:ext cx="3200400" cy="2011680"/>
          </a:xfrm>
          <a:prstGeom prst="rect">
            <a:avLst/>
          </a:prstGeom>
          <a:noFill/>
        </p:spPr>
        <p:txBody>
          <a:bodyPr wrap="square" anchor="ctr" lIns="0" rIns="0" tIns="0" bIns="0">
            <a:spAutoFit/>
          </a:bodyPr>
          <a:lstStyle/>
          <a:p>
            <a:pPr algn="ctr">
              <a:spcAft>
                <a:spcPts val="200"/>
              </a:spcAft>
            </a:pPr>
            <a:r>
              <a:rPr sz="6800" b="1" i="0">
                <a:solidFill>
                  <a:srgbClr val="02C39A"/>
                </a:solidFill>
                <a:latin typeface="Calibri"/>
              </a:rPr>
              <a:t>28</a:t>
            </a:r>
          </a:p>
          <a:p>
            <a:pPr algn="ctr"/>
            <a:r>
              <a:rPr sz="1500" b="0" i="0">
                <a:solidFill>
                  <a:srgbClr val="CADCFC"/>
                </a:solidFill>
                <a:latin typeface="Calibri"/>
              </a:rPr>
              <a:t>of 83 servers answer</a:t>
            </a:r>
          </a:p>
          <a:p>
            <a:pPr algn="ctr"/>
            <a:r>
              <a:rPr sz="1500" b="1" i="0">
                <a:solidFill>
                  <a:srgbClr val="FFFFFF"/>
                </a:solidFill>
                <a:latin typeface="Calibri"/>
              </a:rPr>
              <a:t>tools/list  with no login</a:t>
            </a:r>
          </a:p>
        </p:txBody>
      </p:sp>
      <p:sp>
        <p:nvSpPr>
          <p:cNvPr id="6" name="TextBox 5"/>
          <p:cNvSpPr txBox="1"/>
          <p:nvPr/>
        </p:nvSpPr>
        <p:spPr>
          <a:xfrm>
            <a:off x="4023360" y="1828800"/>
            <a:ext cx="7589520" cy="457200"/>
          </a:xfrm>
          <a:prstGeom prst="rect">
            <a:avLst/>
          </a:prstGeom>
          <a:noFill/>
        </p:spPr>
        <p:txBody>
          <a:bodyPr wrap="square" anchor="t" lIns="0" rIns="0" tIns="0" bIns="0">
            <a:spAutoFit/>
          </a:bodyPr>
          <a:lstStyle/>
          <a:p>
            <a:pPr algn="l"/>
            <a:r>
              <a:rPr sz="1800" b="1" i="0">
                <a:solidFill>
                  <a:srgbClr val="1C7293"/>
                </a:solidFill>
                <a:latin typeface="Calibri"/>
              </a:rPr>
              <a:t>438 tools</a:t>
            </a:r>
            <a:r>
              <a:rPr sz="1800" b="0" i="0">
                <a:solidFill>
                  <a:srgbClr val="1B2A3A"/>
                </a:solidFill>
                <a:latin typeface="Calibri"/>
              </a:rPr>
              <a:t> reachable by a stranger, across those 28 servers.</a:t>
            </a:r>
          </a:p>
        </p:txBody>
      </p:sp>
      <p:sp>
        <p:nvSpPr>
          <p:cNvPr id="7" name="TextBox 6"/>
          <p:cNvSpPr txBox="1"/>
          <p:nvPr/>
        </p:nvSpPr>
        <p:spPr>
          <a:xfrm>
            <a:off x="4023360" y="2286000"/>
            <a:ext cx="7589520" cy="274320"/>
          </a:xfrm>
          <a:prstGeom prst="rect">
            <a:avLst/>
          </a:prstGeom>
          <a:noFill/>
        </p:spPr>
        <p:txBody>
          <a:bodyPr wrap="square" anchor="t" lIns="0" rIns="0" tIns="0" bIns="0">
            <a:spAutoFit/>
          </a:bodyPr>
          <a:lstStyle/>
          <a:p>
            <a:pPr algn="l"/>
            <a:r>
              <a:rPr sz="1200" b="0" i="1">
                <a:solidFill>
                  <a:srgbClr val="5C6B7A"/>
                </a:solidFill>
                <a:latin typeface="Calibri"/>
              </a:rPr>
              <a:t>The four servers exposing the most tools (tool count):</a:t>
            </a:r>
          </a:p>
        </p:txBody>
      </p:sp>
      <p:sp>
        <p:nvSpPr>
          <p:cNvPr id="8" name="Rectangle 7"/>
          <p:cNvSpPr/>
          <p:nvPr/>
        </p:nvSpPr>
        <p:spPr>
          <a:xfrm>
            <a:off x="4023360" y="2651760"/>
            <a:ext cx="5486400"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9488" y="2615184"/>
            <a:ext cx="2926080" cy="365760"/>
          </a:xfrm>
          <a:prstGeom prst="rect">
            <a:avLst/>
          </a:prstGeom>
          <a:noFill/>
        </p:spPr>
        <p:txBody>
          <a:bodyPr wrap="square" anchor="ctr" lIns="0" rIns="0" tIns="0" bIns="0">
            <a:spAutoFit/>
          </a:bodyPr>
          <a:lstStyle/>
          <a:p>
            <a:pPr algn="l"/>
            <a:r>
              <a:rPr sz="1200" b="0" i="0">
                <a:solidFill>
                  <a:srgbClr val="1B2A3A"/>
                </a:solidFill>
                <a:latin typeface="Calibri"/>
              </a:rPr>
              <a:t>dock  (71 tools)</a:t>
            </a:r>
          </a:p>
        </p:txBody>
      </p:sp>
      <p:sp>
        <p:nvSpPr>
          <p:cNvPr id="10" name="Rectangle 9"/>
          <p:cNvSpPr/>
          <p:nvPr/>
        </p:nvSpPr>
        <p:spPr>
          <a:xfrm>
            <a:off x="4023360" y="3054096"/>
            <a:ext cx="5331853"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64941" y="3017520"/>
            <a:ext cx="2926080" cy="365760"/>
          </a:xfrm>
          <a:prstGeom prst="rect">
            <a:avLst/>
          </a:prstGeom>
          <a:noFill/>
        </p:spPr>
        <p:txBody>
          <a:bodyPr wrap="square" anchor="ctr" lIns="0" rIns="0" tIns="0" bIns="0">
            <a:spAutoFit/>
          </a:bodyPr>
          <a:lstStyle/>
          <a:p>
            <a:pPr algn="l"/>
            <a:r>
              <a:rPr sz="1200" b="0" i="0">
                <a:solidFill>
                  <a:srgbClr val="1B2A3A"/>
                </a:solidFill>
                <a:latin typeface="Calibri"/>
              </a:rPr>
              <a:t>switch  (69 tools)</a:t>
            </a:r>
          </a:p>
        </p:txBody>
      </p:sp>
      <p:sp>
        <p:nvSpPr>
          <p:cNvPr id="12" name="Rectangle 11"/>
          <p:cNvSpPr/>
          <p:nvPr/>
        </p:nvSpPr>
        <p:spPr>
          <a:xfrm>
            <a:off x="4023360" y="3456432"/>
            <a:ext cx="3400022"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33110" y="3419856"/>
            <a:ext cx="2926080" cy="365760"/>
          </a:xfrm>
          <a:prstGeom prst="rect">
            <a:avLst/>
          </a:prstGeom>
          <a:noFill/>
        </p:spPr>
        <p:txBody>
          <a:bodyPr wrap="square" anchor="ctr" lIns="0" rIns="0" tIns="0" bIns="0">
            <a:spAutoFit/>
          </a:bodyPr>
          <a:lstStyle/>
          <a:p>
            <a:pPr algn="l"/>
            <a:r>
              <a:rPr sz="1200" b="0" i="0">
                <a:solidFill>
                  <a:srgbClr val="1B2A3A"/>
                </a:solidFill>
                <a:latin typeface="Calibri"/>
              </a:rPr>
              <a:t>gondola  (44 tools)</a:t>
            </a:r>
          </a:p>
        </p:txBody>
      </p:sp>
      <p:sp>
        <p:nvSpPr>
          <p:cNvPr id="14" name="Rectangle 13"/>
          <p:cNvSpPr/>
          <p:nvPr/>
        </p:nvSpPr>
        <p:spPr>
          <a:xfrm>
            <a:off x="4023360" y="3858768"/>
            <a:ext cx="2704563"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7651" y="3822191"/>
            <a:ext cx="2926080" cy="365760"/>
          </a:xfrm>
          <a:prstGeom prst="rect">
            <a:avLst/>
          </a:prstGeom>
          <a:noFill/>
        </p:spPr>
        <p:txBody>
          <a:bodyPr wrap="square" anchor="ctr" lIns="0" rIns="0" tIns="0" bIns="0">
            <a:spAutoFit/>
          </a:bodyPr>
          <a:lstStyle/>
          <a:p>
            <a:pPr algn="l"/>
            <a:r>
              <a:rPr sz="1200" b="0" i="0">
                <a:solidFill>
                  <a:srgbClr val="1B2A3A"/>
                </a:solidFill>
                <a:latin typeface="Calibri"/>
              </a:rPr>
              <a:t>nullary  (35 tools)</a:t>
            </a:r>
          </a:p>
        </p:txBody>
      </p:sp>
      <p:sp>
        <p:nvSpPr>
          <p:cNvPr id="16" name="TextBox 15"/>
          <p:cNvSpPr txBox="1"/>
          <p:nvPr/>
        </p:nvSpPr>
        <p:spPr>
          <a:xfrm>
            <a:off x="4023360" y="4434840"/>
            <a:ext cx="7589520" cy="640080"/>
          </a:xfrm>
          <a:prstGeom prst="rect">
            <a:avLst/>
          </a:prstGeom>
          <a:noFill/>
        </p:spPr>
        <p:txBody>
          <a:bodyPr wrap="square" anchor="t" lIns="0" rIns="0" tIns="0" bIns="0">
            <a:spAutoFit/>
          </a:bodyPr>
          <a:lstStyle/>
          <a:p>
            <a:pPr algn="l"/>
            <a:r>
              <a:rPr sz="1400" b="1" i="0">
                <a:solidFill>
                  <a:srgbClr val="1B2A3A"/>
                </a:solidFill>
                <a:latin typeface="Calibri"/>
              </a:rPr>
              <a:t>No rule broken</a:t>
            </a:r>
            <a:r>
              <a:rPr sz="1400" b="0" i="0">
                <a:solidFill>
                  <a:srgbClr val="1B2A3A"/>
                </a:solidFill>
                <a:latin typeface="Calibri"/>
              </a:rPr>
              <a:t> - authenticating is only a SHOULD. What's notable is that nothing stops a stranger asking what a server can do.</a:t>
            </a:r>
          </a:p>
        </p:txBody>
      </p:sp>
      <p:sp>
        <p:nvSpPr>
          <p:cNvPr id="17" name="TextBox 16"/>
          <p:cNvSpPr txBox="1"/>
          <p:nvPr/>
        </p:nvSpPr>
        <p:spPr>
          <a:xfrm>
            <a:off x="548640" y="5257800"/>
            <a:ext cx="11091672" cy="822960"/>
          </a:xfrm>
          <a:prstGeom prst="rect">
            <a:avLst/>
          </a:prstGeom>
          <a:noFill/>
        </p:spPr>
        <p:txBody>
          <a:bodyPr wrap="square" anchor="t" lIns="0" rIns="0" tIns="0" bIns="0">
            <a:spAutoFit/>
          </a:bodyPr>
          <a:lstStyle/>
          <a:p>
            <a:pPr algn="l">
              <a:lnSpc>
                <a:spcPct val="105000"/>
              </a:lnSpc>
            </a:pPr>
            <a:r>
              <a:rPr sz="1300" b="0" i="0">
                <a:solidFill>
                  <a:srgbClr val="5C6B7A"/>
                </a:solidFill>
                <a:latin typeface="Calibri"/>
              </a:rPr>
              <a:t>Every recognisable vendor demanded a login: </a:t>
            </a:r>
            <a:r>
              <a:rPr sz="1300" b="0" i="0">
                <a:solidFill>
                  <a:srgbClr val="12233F"/>
                </a:solidFill>
                <a:latin typeface="Calibri"/>
              </a:rPr>
              <a:t>Stripe, Notion, Sentry, Linear, GitHub, PayPal, Square, Wix, Zapier, Atlassian, Neon, Grafana, Prisma, Vercel, Webflow.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2: listing is not running</a:t>
            </a:r>
          </a:p>
        </p:txBody>
      </p:sp>
      <p:sp>
        <p:nvSpPr>
          <p:cNvPr id="4" name="TextBox 3"/>
          <p:cNvSpPr txBox="1"/>
          <p:nvPr/>
        </p:nvSpPr>
        <p:spPr>
          <a:xfrm>
            <a:off x="548640" y="1645920"/>
            <a:ext cx="11091672" cy="640080"/>
          </a:xfrm>
          <a:prstGeom prst="rect">
            <a:avLst/>
          </a:prstGeom>
          <a:noFill/>
        </p:spPr>
        <p:txBody>
          <a:bodyPr wrap="square" anchor="t" lIns="0" rIns="0" tIns="0" bIns="0">
            <a:spAutoFit/>
          </a:bodyPr>
          <a:lstStyle/>
          <a:p>
            <a:pPr algn="l">
              <a:lnSpc>
                <a:spcPct val="105000"/>
              </a:lnSpc>
            </a:pPr>
            <a:r>
              <a:rPr sz="1600" b="0" i="0">
                <a:solidFill>
                  <a:srgbClr val="1B2A3A"/>
                </a:solidFill>
                <a:latin typeface="Calibri"/>
              </a:rPr>
              <a:t>Check #13 tested the invocation path directly on those 28 servers - and it changed the picture.</a:t>
            </a:r>
          </a:p>
        </p:txBody>
      </p:sp>
      <p:sp>
        <p:nvSpPr>
          <p:cNvPr id="5" name="Rounded Rectangle 4"/>
          <p:cNvSpPr/>
          <p:nvPr/>
        </p:nvSpPr>
        <p:spPr>
          <a:xfrm>
            <a:off x="548640" y="2468880"/>
            <a:ext cx="2743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468880"/>
            <a:ext cx="2743200" cy="1097280"/>
          </a:xfrm>
          <a:prstGeom prst="rect">
            <a:avLst/>
          </a:prstGeom>
          <a:noFill/>
        </p:spPr>
        <p:txBody>
          <a:bodyPr wrap="square" anchor="ctr" lIns="0" rIns="0" tIns="0" bIns="0">
            <a:spAutoFit/>
          </a:bodyPr>
          <a:lstStyle/>
          <a:p>
            <a:pPr algn="ctr"/>
            <a:r>
              <a:rPr sz="3000" b="1" i="0">
                <a:solidFill>
                  <a:srgbClr val="12233F"/>
                </a:solidFill>
                <a:latin typeface="Calibri"/>
              </a:rPr>
              <a:t>28</a:t>
            </a:r>
            <a:r>
              <a:rPr sz="1300" b="0" i="0">
                <a:solidFill>
                  <a:srgbClr val="1B2A3A"/>
                </a:solidFill>
                <a:latin typeface="Calibri"/>
              </a:rPr>
              <a:t>  list tools</a:t>
            </a:r>
          </a:p>
        </p:txBody>
      </p:sp>
      <p:sp>
        <p:nvSpPr>
          <p:cNvPr id="7" name="Right Arrow 6"/>
          <p:cNvSpPr/>
          <p:nvPr/>
        </p:nvSpPr>
        <p:spPr>
          <a:xfrm>
            <a:off x="3383280" y="2880360"/>
            <a:ext cx="457200" cy="27432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77639" y="2057400"/>
            <a:ext cx="2788920" cy="914400"/>
          </a:xfrm>
          <a:prstGeom prst="roundRect">
            <a:avLst>
              <a:gd name="adj" fmla="val 6000"/>
            </a:avLst>
          </a:prstGeom>
          <a:solidFill>
            <a:srgbClr val="DDEFE7"/>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77639" y="2057400"/>
            <a:ext cx="2788920" cy="914400"/>
          </a:xfrm>
          <a:prstGeom prst="rect">
            <a:avLst/>
          </a:prstGeom>
          <a:noFill/>
        </p:spPr>
        <p:txBody>
          <a:bodyPr wrap="square" anchor="ctr" lIns="0" rIns="0" tIns="0" bIns="0">
            <a:spAutoFit/>
          </a:bodyPr>
          <a:lstStyle/>
          <a:p>
            <a:pPr algn="ctr"/>
            <a:r>
              <a:rPr sz="2600" b="1" i="0">
                <a:solidFill>
                  <a:srgbClr val="2E7D32"/>
                </a:solidFill>
                <a:latin typeface="Calibri"/>
              </a:rPr>
              <a:t>22</a:t>
            </a:r>
            <a:r>
              <a:rPr sz="1200" b="0" i="0">
                <a:solidFill>
                  <a:srgbClr val="1B2A3A"/>
                </a:solidFill>
                <a:latin typeface="Calibri"/>
              </a:rPr>
              <a:t>  also let a stranger run a tool</a:t>
            </a:r>
          </a:p>
        </p:txBody>
      </p:sp>
      <p:sp>
        <p:nvSpPr>
          <p:cNvPr id="10" name="Rounded Rectangle 9"/>
          <p:cNvSpPr/>
          <p:nvPr/>
        </p:nvSpPr>
        <p:spPr>
          <a:xfrm>
            <a:off x="3977639" y="3108960"/>
            <a:ext cx="2788920" cy="91440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3108960"/>
            <a:ext cx="2788920" cy="914400"/>
          </a:xfrm>
          <a:prstGeom prst="rect">
            <a:avLst/>
          </a:prstGeom>
          <a:noFill/>
        </p:spPr>
        <p:txBody>
          <a:bodyPr wrap="square" anchor="ctr" lIns="0" rIns="0" tIns="0" bIns="0">
            <a:spAutoFit/>
          </a:bodyPr>
          <a:lstStyle/>
          <a:p>
            <a:pPr algn="ctr"/>
            <a:r>
              <a:rPr sz="2600" b="1" i="0">
                <a:solidFill>
                  <a:srgbClr val="B23A3A"/>
                </a:solidFill>
                <a:latin typeface="Calibri"/>
              </a:rPr>
              <a:t>6</a:t>
            </a:r>
            <a:r>
              <a:rPr sz="1200" b="0" i="0">
                <a:solidFill>
                  <a:srgbClr val="1B2A3A"/>
                </a:solidFill>
                <a:latin typeface="Calibri"/>
              </a:rPr>
              <a:t>  gate execution (call → 401)</a:t>
            </a:r>
          </a:p>
        </p:txBody>
      </p:sp>
      <p:sp>
        <p:nvSpPr>
          <p:cNvPr id="12" name="TextBox 11"/>
          <p:cNvSpPr txBox="1"/>
          <p:nvPr/>
        </p:nvSpPr>
        <p:spPr>
          <a:xfrm>
            <a:off x="548640" y="4343400"/>
            <a:ext cx="6126480" cy="1554480"/>
          </a:xfrm>
          <a:prstGeom prst="rect">
            <a:avLst/>
          </a:prstGeom>
          <a:noFill/>
        </p:spPr>
        <p:txBody>
          <a:bodyPr wrap="square" anchor="t" lIns="0" rIns="0" tIns="0" bIns="0">
            <a:spAutoFit/>
          </a:bodyPr>
          <a:lstStyle/>
          <a:p>
            <a:pPr algn="l">
              <a:lnSpc>
                <a:spcPct val="105000"/>
              </a:lnSpc>
              <a:spcAft>
                <a:spcPts val="600"/>
              </a:spcAft>
            </a:pPr>
            <a:r>
              <a:rPr sz="1300" b="0" i="0">
                <a:solidFill>
                  <a:srgbClr val="1B2A3A"/>
                </a:solidFill>
                <a:latin typeface="Calibri"/>
              </a:rPr>
              <a:t>The 6 that gate: dock, switch, gondola, api-openmandate, catalog-api, financial-data.</a:t>
            </a:r>
          </a:p>
          <a:p>
            <a:pPr algn="l">
              <a:lnSpc>
                <a:spcPct val="105000"/>
              </a:lnSpc>
            </a:pPr>
            <a:r>
              <a:rPr sz="1300" b="1" i="0">
                <a:solidFill>
                  <a:srgbClr val="12233F"/>
                </a:solidFill>
                <a:latin typeface="Calibri"/>
              </a:rPr>
              <a:t>The measured figure is 22, not 28. Claiming “anyone can use” on all 28 would have over-stated by about a fifth - #13 replaces that inference with a direct measurement.</a:t>
            </a:r>
          </a:p>
        </p:txBody>
      </p:sp>
      <p:sp>
        <p:nvSpPr>
          <p:cNvPr id="13" name="Rounded Rectangle 12"/>
          <p:cNvSpPr/>
          <p:nvPr/>
        </p:nvSpPr>
        <p:spPr>
          <a:xfrm>
            <a:off x="7040880" y="2194560"/>
            <a:ext cx="4599432" cy="3474720"/>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2395728"/>
            <a:ext cx="4206240" cy="3108960"/>
          </a:xfrm>
          <a:prstGeom prst="rect">
            <a:avLst/>
          </a:prstGeom>
          <a:noFill/>
        </p:spPr>
        <p:txBody>
          <a:bodyPr wrap="square" anchor="t" lIns="0" rIns="0" tIns="0" bIns="0">
            <a:spAutoFit/>
          </a:bodyPr>
          <a:lstStyle/>
          <a:p>
            <a:pPr algn="l">
              <a:lnSpc>
                <a:spcPct val="112000"/>
              </a:lnSpc>
              <a:spcAft>
                <a:spcPts val="800"/>
              </a:spcAft>
            </a:pPr>
            <a:r>
              <a:rPr sz="1300" b="1" i="0">
                <a:solidFill>
                  <a:srgbClr val="02C39A"/>
                </a:solidFill>
                <a:latin typeface="Courier New"/>
              </a:rPr>
              <a:t>dock  -  evidence</a:t>
            </a:r>
          </a:p>
          <a:p>
            <a:pPr algn="l">
              <a:lnSpc>
                <a:spcPct val="112000"/>
              </a:lnSpc>
            </a:pPr>
            <a:r>
              <a:rPr sz="1250" b="0" i="0">
                <a:solidFill>
                  <a:srgbClr val="CADCFC"/>
                </a:solidFill>
                <a:latin typeface="Courier New"/>
              </a:rPr>
              <a:t>tools/list   (no auth)</a:t>
            </a:r>
          </a:p>
          <a:p>
            <a:pPr algn="l">
              <a:lnSpc>
                <a:spcPct val="112000"/>
              </a:lnSpc>
              <a:spcAft>
                <a:spcPts val="800"/>
              </a:spcAft>
            </a:pPr>
            <a:r>
              <a:rPr sz="1250" b="0" i="0">
                <a:solidFill>
                  <a:srgbClr val="8FE3C9"/>
                </a:solidFill>
                <a:latin typeface="Courier New"/>
              </a:rPr>
              <a:t>→ HTTP 200   { 71 tools }</a:t>
            </a:r>
          </a:p>
          <a:p>
            <a:pPr algn="l">
              <a:lnSpc>
                <a:spcPct val="112000"/>
              </a:lnSpc>
            </a:pPr>
            <a:r>
              <a:rPr sz="1250" b="0" i="0">
                <a:solidFill>
                  <a:srgbClr val="CADCFC"/>
                </a:solidFill>
                <a:latin typeface="Courier New"/>
              </a:rPr>
              <a:t>tools/call   (no auth)</a:t>
            </a:r>
          </a:p>
          <a:p>
            <a:pPr algn="l">
              <a:lnSpc>
                <a:spcPct val="112000"/>
              </a:lnSpc>
              <a:spcAft>
                <a:spcPts val="1000"/>
              </a:spcAft>
            </a:pPr>
            <a:r>
              <a:rPr sz="1250" b="0" i="0">
                <a:solidFill>
                  <a:srgbClr val="F3B0B0"/>
                </a:solidFill>
                <a:latin typeface="Courier New"/>
              </a:rPr>
              <a:t>→ HTTP 401   Unauthorized</a:t>
            </a:r>
          </a:p>
          <a:p>
            <a:pPr algn="l">
              <a:lnSpc>
                <a:spcPct val="112000"/>
              </a:lnSpc>
            </a:pPr>
            <a:r>
              <a:rPr sz="1200" b="0" i="1">
                <a:solidFill>
                  <a:srgbClr val="CADCFC"/>
                </a:solidFill>
                <a:latin typeface="Calibri"/>
              </a:rPr>
              <a:t>lists 71 tools, but gates every call.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3: nearly half let anyone register a client</a:t>
            </a:r>
          </a:p>
        </p:txBody>
      </p:sp>
      <p:sp>
        <p:nvSpPr>
          <p:cNvPr id="4" name="Rounded Rectangle 3"/>
          <p:cNvSpPr/>
          <p:nvPr/>
        </p:nvSpPr>
        <p:spPr>
          <a:xfrm>
            <a:off x="548640" y="1737360"/>
            <a:ext cx="3383280" cy="20574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3383280" cy="1874519"/>
          </a:xfrm>
          <a:prstGeom prst="rect">
            <a:avLst/>
          </a:prstGeom>
          <a:noFill/>
        </p:spPr>
        <p:txBody>
          <a:bodyPr wrap="square" anchor="ctr" lIns="0" rIns="0" tIns="0" bIns="0">
            <a:spAutoFit/>
          </a:bodyPr>
          <a:lstStyle/>
          <a:p>
            <a:pPr algn="ctr">
              <a:spcAft>
                <a:spcPts val="200"/>
              </a:spcAft>
            </a:pPr>
            <a:r>
              <a:rPr sz="6200" b="1" i="0">
                <a:solidFill>
                  <a:srgbClr val="02C39A"/>
                </a:solidFill>
                <a:latin typeface="Calibri"/>
              </a:rPr>
              <a:t>38</a:t>
            </a:r>
          </a:p>
          <a:p>
            <a:pPr algn="ctr"/>
            <a:r>
              <a:rPr sz="1400" b="0" i="0">
                <a:solidFill>
                  <a:srgbClr val="CADCFC"/>
                </a:solidFill>
                <a:latin typeface="Calibri"/>
              </a:rPr>
              <a:t>of 83 servers let anyone</a:t>
            </a:r>
          </a:p>
          <a:p>
            <a:pPr algn="ctr"/>
            <a:r>
              <a:rPr sz="1400" b="1" i="0">
                <a:solidFill>
                  <a:srgbClr val="FFFFFF"/>
                </a:solidFill>
                <a:latin typeface="Calibri"/>
              </a:rPr>
              <a:t>register a client - no approval</a:t>
            </a:r>
          </a:p>
        </p:txBody>
      </p:sp>
      <p:sp>
        <p:nvSpPr>
          <p:cNvPr id="6" name="TextBox 5"/>
          <p:cNvSpPr txBox="1"/>
          <p:nvPr/>
        </p:nvSpPr>
        <p:spPr>
          <a:xfrm>
            <a:off x="4206240" y="1737360"/>
            <a:ext cx="7406640" cy="868680"/>
          </a:xfrm>
          <a:prstGeom prst="rect">
            <a:avLst/>
          </a:prstGeom>
          <a:noFill/>
        </p:spPr>
        <p:txBody>
          <a:bodyPr wrap="square" anchor="t" lIns="0" rIns="0" tIns="0" bIns="0">
            <a:spAutoFit/>
          </a:bodyPr>
          <a:lstStyle/>
          <a:p>
            <a:pPr algn="l">
              <a:lnSpc>
                <a:spcPct val="105000"/>
              </a:lnSpc>
            </a:pPr>
            <a:r>
              <a:rPr sz="1500" b="1" i="0">
                <a:solidFill>
                  <a:srgbClr val="1C7293"/>
                </a:solidFill>
                <a:latin typeface="Calibri"/>
              </a:rPr>
              <a:t>Open Dynamic Client Registration (DCR): </a:t>
            </a:r>
            <a:r>
              <a:rPr sz="1500" b="0" i="0">
                <a:solidFill>
                  <a:srgbClr val="1B2A3A"/>
                </a:solidFill>
                <a:latin typeface="Calibri"/>
              </a:rPr>
              <a:t>an app registers itself with the login server automatically, no human in the loop. “Open” means anyone can.</a:t>
            </a:r>
          </a:p>
        </p:txBody>
      </p:sp>
      <p:sp>
        <p:nvSpPr>
          <p:cNvPr id="7" name="Rounded Rectangle 6"/>
          <p:cNvSpPr/>
          <p:nvPr/>
        </p:nvSpPr>
        <p:spPr>
          <a:xfrm>
            <a:off x="420624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1  Register</a:t>
            </a:r>
          </a:p>
          <a:p>
            <a:pPr algn="l">
              <a:lnSpc>
                <a:spcPct val="100000"/>
              </a:lnSpc>
            </a:pPr>
            <a:r>
              <a:rPr sz="1200" b="0" i="0">
                <a:solidFill>
                  <a:srgbClr val="1B2A3A"/>
                </a:solidFill>
                <a:latin typeface="Calibri"/>
              </a:rPr>
              <a:t>a legitimate-looking client - no vetting.</a:t>
            </a:r>
          </a:p>
        </p:txBody>
      </p:sp>
      <p:sp>
        <p:nvSpPr>
          <p:cNvPr id="9" name="Right Arrow 8"/>
          <p:cNvSpPr/>
          <p:nvPr/>
        </p:nvSpPr>
        <p:spPr>
          <a:xfrm>
            <a:off x="654253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75119"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79"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2  Lure</a:t>
            </a:r>
          </a:p>
          <a:p>
            <a:pPr algn="l">
              <a:lnSpc>
                <a:spcPct val="100000"/>
              </a:lnSpc>
            </a:pPr>
            <a:r>
              <a:rPr sz="1200" b="0" i="0">
                <a:solidFill>
                  <a:srgbClr val="1B2A3A"/>
                </a:solidFill>
                <a:latin typeface="Calibri"/>
              </a:rPr>
              <a:t>a user into approving it.</a:t>
            </a:r>
          </a:p>
        </p:txBody>
      </p:sp>
      <p:sp>
        <p:nvSpPr>
          <p:cNvPr id="12" name="Right Arrow 11"/>
          <p:cNvSpPr/>
          <p:nvPr/>
        </p:nvSpPr>
        <p:spPr>
          <a:xfrm>
            <a:off x="901141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3  Receive</a:t>
            </a:r>
          </a:p>
          <a:p>
            <a:pPr algn="l">
              <a:lnSpc>
                <a:spcPct val="100000"/>
              </a:lnSpc>
            </a:pPr>
            <a:r>
              <a:rPr sz="1200" b="0" i="0">
                <a:solidFill>
                  <a:srgbClr val="1B2A3A"/>
                </a:solidFill>
                <a:latin typeface="Calibri"/>
              </a:rPr>
              <a:t>tokens issued for that user.</a:t>
            </a:r>
          </a:p>
        </p:txBody>
      </p:sp>
      <p:sp>
        <p:nvSpPr>
          <p:cNvPr id="15" name="Rounded Rectangle 14"/>
          <p:cNvSpPr/>
          <p:nvPr/>
        </p:nvSpPr>
        <p:spPr>
          <a:xfrm>
            <a:off x="548640" y="4343400"/>
            <a:ext cx="11091672" cy="15087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4480560"/>
            <a:ext cx="10543032" cy="123444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Why it matters.  </a:t>
            </a:r>
            <a:r>
              <a:rPr sz="1500" b="0" i="0">
                <a:solidFill>
                  <a:srgbClr val="1B2A3A"/>
                </a:solidFill>
                <a:latin typeface="Calibri"/>
              </a:rPr>
              <a:t>Open registration breaks no rule - the spec permits it. But the spec itself flags it as the prerequisite for consent-phishing and client-impersonation attacks, and it is the one piece of the identity-confusion risk visible without any token. That is why we report it as posture, not a pass. (Of the rest: 35 advertise no registration at all; 10 were inconclusive.)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4: the write check that found nothing - and what that tells us</a:t>
            </a:r>
          </a:p>
        </p:txBody>
      </p:sp>
      <p:sp>
        <p:nvSpPr>
          <p:cNvPr id="4" name="Rounded Rectangle 3"/>
          <p:cNvSpPr/>
          <p:nvPr/>
        </p:nvSpPr>
        <p:spPr>
          <a:xfrm>
            <a:off x="548640" y="1783080"/>
            <a:ext cx="5257800" cy="1874519"/>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709160" cy="1600200"/>
          </a:xfrm>
          <a:prstGeom prst="rect">
            <a:avLst/>
          </a:prstGeom>
          <a:noFill/>
        </p:spPr>
        <p:txBody>
          <a:bodyPr wrap="square" anchor="t" lIns="0" rIns="0" tIns="0" bIns="0">
            <a:spAutoFit/>
          </a:bodyPr>
          <a:lstStyle/>
          <a:p>
            <a:pPr algn="l">
              <a:lnSpc>
                <a:spcPct val="105000"/>
              </a:lnSpc>
              <a:spcAft>
                <a:spcPts val="200"/>
              </a:spcAft>
            </a:pPr>
            <a:r>
              <a:rPr sz="4400" b="1" i="0">
                <a:solidFill>
                  <a:srgbClr val="1C7293"/>
                </a:solidFill>
                <a:latin typeface="Calibri"/>
              </a:rPr>
              <a:t>0</a:t>
            </a:r>
          </a:p>
          <a:p>
            <a:pPr algn="l">
              <a:lnSpc>
                <a:spcPct val="105000"/>
              </a:lnSpc>
            </a:pPr>
            <a:r>
              <a:rPr sz="1400" b="0" i="0">
                <a:solidFill>
                  <a:srgbClr val="1B2A3A"/>
                </a:solidFill>
                <a:latin typeface="Calibri"/>
              </a:rPr>
              <a:t>redirect-uri findings (#14). Of 47 testable: 23 correctly rejected the bad address, 24 inconclusive.</a:t>
            </a:r>
          </a:p>
        </p:txBody>
      </p:sp>
      <p:sp>
        <p:nvSpPr>
          <p:cNvPr id="6" name="Rounded Rectangle 5"/>
          <p:cNvSpPr/>
          <p:nvPr/>
        </p:nvSpPr>
        <p:spPr>
          <a:xfrm>
            <a:off x="6382512" y="1783080"/>
            <a:ext cx="5257800" cy="1874519"/>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6832" y="1920240"/>
            <a:ext cx="4709160" cy="1600200"/>
          </a:xfrm>
          <a:prstGeom prst="rect">
            <a:avLst/>
          </a:prstGeom>
          <a:noFill/>
        </p:spPr>
        <p:txBody>
          <a:bodyPr wrap="square" anchor="ctr" lIns="0" rIns="0" tIns="0" bIns="0">
            <a:spAutoFit/>
          </a:bodyPr>
          <a:lstStyle/>
          <a:p>
            <a:pPr algn="l">
              <a:lnSpc>
                <a:spcPct val="105000"/>
              </a:lnSpc>
            </a:pPr>
            <a:r>
              <a:rPr sz="1400" b="0" i="0">
                <a:solidFill>
                  <a:srgbClr val="1B2A3A"/>
                </a:solidFill>
                <a:latin typeface="Calibri"/>
              </a:rPr>
              <a:t>Half were inconclusive because a real login server shows its login page before it validates the address - the same wall that puts deeper checks out of reach.</a:t>
            </a:r>
          </a:p>
        </p:txBody>
      </p:sp>
      <p:sp>
        <p:nvSpPr>
          <p:cNvPr id="8" name="Rounded Rectangle 7"/>
          <p:cNvSpPr/>
          <p:nvPr/>
        </p:nvSpPr>
        <p:spPr>
          <a:xfrm>
            <a:off x="548640" y="3977639"/>
            <a:ext cx="11091672" cy="192024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160520"/>
            <a:ext cx="10451592" cy="1554480"/>
          </a:xfrm>
          <a:prstGeom prst="rect">
            <a:avLst/>
          </a:prstGeom>
          <a:noFill/>
        </p:spPr>
        <p:txBody>
          <a:bodyPr wrap="square" anchor="ctr" lIns="0" rIns="0" tIns="0" bIns="0">
            <a:spAutoFit/>
          </a:bodyPr>
          <a:lstStyle/>
          <a:p>
            <a:pPr algn="l">
              <a:lnSpc>
                <a:spcPct val="105000"/>
              </a:lnSpc>
              <a:spcAft>
                <a:spcPts val="800"/>
              </a:spcAft>
            </a:pPr>
            <a:r>
              <a:rPr sz="1700" b="1" i="0">
                <a:solidFill>
                  <a:srgbClr val="1C7293"/>
                </a:solidFill>
                <a:latin typeface="Calibri"/>
              </a:rPr>
              <a:t>What the zero tells us.</a:t>
            </a:r>
          </a:p>
          <a:p>
            <a:pPr algn="l">
              <a:lnSpc>
                <a:spcPct val="105000"/>
              </a:lnSpc>
              <a:spcAft>
                <a:spcPts val="800"/>
              </a:spcAft>
            </a:pPr>
            <a:r>
              <a:rPr sz="1500" b="0" i="0">
                <a:solidFill>
                  <a:srgbClr val="1B2A3A"/>
                </a:solidFill>
                <a:latin typeface="Calibri"/>
              </a:rPr>
              <a:t>Of the 47 we could test, none mishandled the forged return address: 23 rejected it outright, and 24 sat behind a login we can't pass. To even be testable, a server had to run a working OAuth registration-and-authorize flow - and the servers built well enough for that tended to validate the return address correctly too.</a:t>
            </a:r>
          </a:p>
          <a:p>
            <a:pPr algn="l">
              <a:lnSpc>
                <a:spcPct val="105000"/>
              </a:lnSpc>
            </a:pPr>
            <a:r>
              <a:rPr sz="1400" b="1" i="0">
                <a:solidFill>
                  <a:srgbClr val="12233F"/>
                </a:solidFill>
                <a:latin typeface="Calibri"/>
              </a:rPr>
              <a:t>Secure behaviours cluster: the same servers that gate their tools also get the fiddly OAuth details 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VALIDATION</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How we know the checks are right</a:t>
            </a:r>
          </a:p>
        </p:txBody>
      </p:sp>
      <p:sp>
        <p:nvSpPr>
          <p:cNvPr id="4" name="TextBox 3"/>
          <p:cNvSpPr txBox="1"/>
          <p:nvPr/>
        </p:nvSpPr>
        <p:spPr>
          <a:xfrm>
            <a:off x="548640" y="1828800"/>
            <a:ext cx="6126480" cy="2377440"/>
          </a:xfrm>
          <a:prstGeom prst="rect">
            <a:avLst/>
          </a:prstGeom>
          <a:noFill/>
        </p:spPr>
        <p:txBody>
          <a:bodyPr wrap="square" anchor="t" lIns="0" rIns="0" tIns="0" bIns="0">
            <a:spAutoFit/>
          </a:bodyPr>
          <a:lstStyle/>
          <a:p>
            <a:pPr algn="l">
              <a:lnSpc>
                <a:spcPct val="103000"/>
              </a:lnSpc>
              <a:spcAft>
                <a:spcPts val="1200"/>
              </a:spcAft>
            </a:pPr>
            <a:r>
              <a:rPr sz="1600" b="0" i="0">
                <a:solidFill>
                  <a:srgbClr val="1B2A3A"/>
                </a:solidFill>
                <a:latin typeface="Calibri"/>
              </a:rPr>
              <a:t>•  Seven purpose-built practice servers, one per posture (wide-open, hardened, broken-auth, open-OAuth, and more).</a:t>
            </a:r>
          </a:p>
          <a:p>
            <a:pPr algn="l">
              <a:lnSpc>
                <a:spcPct val="103000"/>
              </a:lnSpc>
              <a:spcAft>
                <a:spcPts val="1200"/>
              </a:spcAft>
            </a:pPr>
            <a:r>
              <a:rPr sz="1600" b="0" i="0">
                <a:solidFill>
                  <a:srgbClr val="1B2A3A"/>
                </a:solidFill>
                <a:latin typeface="Calibri"/>
              </a:rPr>
              <a:t>•  A check counts as working only when it says HAS_GAP against the broken server AND NO_GAP against the correct one.</a:t>
            </a:r>
          </a:p>
          <a:p>
            <a:pPr algn="l">
              <a:lnSpc>
                <a:spcPct val="103000"/>
              </a:lnSpc>
              <a:spcAft>
                <a:spcPts val="0"/>
              </a:spcAft>
            </a:pPr>
            <a:r>
              <a:rPr sz="1600" b="0" i="0">
                <a:solidFill>
                  <a:srgbClr val="1B2A3A"/>
                </a:solidFill>
                <a:latin typeface="Calibri"/>
              </a:rPr>
              <a:t>•  Testing each check against both a broken and a correct server catches two failure modes: a check that misses a real gap, and one that reports a gap that is not there.</a:t>
            </a:r>
          </a:p>
        </p:txBody>
      </p:sp>
      <p:sp>
        <p:nvSpPr>
          <p:cNvPr id="5" name="Rounded Rectangle 4"/>
          <p:cNvSpPr/>
          <p:nvPr/>
        </p:nvSpPr>
        <p:spPr>
          <a:xfrm>
            <a:off x="548640" y="4434840"/>
            <a:ext cx="6126480" cy="15087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526280"/>
            <a:ext cx="5577840" cy="1325880"/>
          </a:xfrm>
          <a:prstGeom prst="rect">
            <a:avLst/>
          </a:prstGeom>
          <a:noFill/>
        </p:spPr>
        <p:txBody>
          <a:bodyPr wrap="square" anchor="t" lIns="0" rIns="0" tIns="0" bIns="0">
            <a:spAutoFit/>
          </a:bodyPr>
          <a:lstStyle/>
          <a:p>
            <a:pPr algn="l">
              <a:lnSpc>
                <a:spcPct val="103000"/>
              </a:lnSpc>
              <a:spcAft>
                <a:spcPts val="500"/>
              </a:spcAft>
            </a:pPr>
            <a:r>
              <a:rPr sz="1300" b="1" i="0">
                <a:solidFill>
                  <a:srgbClr val="12233F"/>
                </a:solidFill>
                <a:latin typeface="Calibri"/>
              </a:rPr>
              <a:t>Real bugs now pinned by a regression test:</a:t>
            </a:r>
          </a:p>
          <a:p>
            <a:pPr algn="l">
              <a:lnSpc>
                <a:spcPct val="103000"/>
              </a:lnSpc>
              <a:spcAft>
                <a:spcPts val="300"/>
              </a:spcAft>
            </a:pPr>
            <a:r>
              <a:rPr sz="1200" b="0" i="0">
                <a:solidFill>
                  <a:srgbClr val="1B2A3A"/>
                </a:solidFill>
                <a:latin typeface="Calibri"/>
              </a:rPr>
              <a:t>• a blanket 403 was read as “login enforced” → now INCONCLUSIVE (#1)</a:t>
            </a:r>
          </a:p>
          <a:p>
            <a:pPr algn="l">
              <a:lnSpc>
                <a:spcPct val="103000"/>
              </a:lnSpc>
              <a:spcAft>
                <a:spcPts val="300"/>
              </a:spcAft>
            </a:pPr>
            <a:r>
              <a:rPr sz="1200" b="0" i="0">
                <a:solidFill>
                  <a:srgbClr val="1B2A3A"/>
                </a:solidFill>
                <a:latin typeface="Calibri"/>
              </a:rPr>
              <a:t>• metadata probed only at the bare domain → now builds the exact spec path (#4)</a:t>
            </a:r>
          </a:p>
          <a:p>
            <a:pPr algn="l">
              <a:lnSpc>
                <a:spcPct val="103000"/>
              </a:lnSpc>
            </a:pPr>
            <a:r>
              <a:rPr sz="1200" b="0" i="0">
                <a:solidFill>
                  <a:srgbClr val="1B2A3A"/>
                </a:solidFill>
                <a:latin typeface="Calibri"/>
              </a:rPr>
              <a:t>• a 403 alone counted as Origin validation → now needs a passing control (#7)</a:t>
            </a:r>
          </a:p>
        </p:txBody>
      </p:sp>
      <p:sp>
        <p:nvSpPr>
          <p:cNvPr id="7" name="Rounded Rectangle 6"/>
          <p:cNvSpPr/>
          <p:nvPr/>
        </p:nvSpPr>
        <p:spPr>
          <a:xfrm>
            <a:off x="7040880" y="1828800"/>
            <a:ext cx="4617720" cy="36576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69480" y="2057400"/>
            <a:ext cx="4160520" cy="3291840"/>
          </a:xfrm>
          <a:prstGeom prst="rect">
            <a:avLst/>
          </a:prstGeom>
          <a:noFill/>
        </p:spPr>
        <p:txBody>
          <a:bodyPr wrap="square" anchor="ctr" lIns="0" rIns="0" tIns="0" bIns="0">
            <a:spAutoFit/>
          </a:bodyPr>
          <a:lstStyle/>
          <a:p>
            <a:pPr algn="ctr">
              <a:lnSpc>
                <a:spcPct val="105000"/>
              </a:lnSpc>
              <a:spcAft>
                <a:spcPts val="200"/>
              </a:spcAft>
            </a:pPr>
            <a:r>
              <a:rPr sz="5400" b="1" i="0">
                <a:solidFill>
                  <a:srgbClr val="02C39A"/>
                </a:solidFill>
                <a:latin typeface="Calibri"/>
              </a:rPr>
              <a:t>213</a:t>
            </a:r>
          </a:p>
          <a:p>
            <a:pPr algn="ctr">
              <a:lnSpc>
                <a:spcPct val="105000"/>
              </a:lnSpc>
              <a:spcAft>
                <a:spcPts val="1400"/>
              </a:spcAft>
            </a:pPr>
            <a:r>
              <a:rPr sz="1400" b="0" i="0">
                <a:solidFill>
                  <a:srgbClr val="CADCFC"/>
                </a:solidFill>
                <a:latin typeface="Calibri"/>
              </a:rPr>
              <a:t>automated tests, all passing</a:t>
            </a:r>
          </a:p>
          <a:p>
            <a:pPr algn="l">
              <a:lnSpc>
                <a:spcPct val="105000"/>
              </a:lnSpc>
              <a:spcAft>
                <a:spcPts val="600"/>
              </a:spcAft>
            </a:pPr>
            <a:r>
              <a:rPr sz="1400" b="0" i="0">
                <a:solidFill>
                  <a:srgbClr val="FFFFFF"/>
                </a:solidFill>
                <a:latin typeface="Calibri"/>
              </a:rPr>
              <a:t>38  live - boot a server and scan it</a:t>
            </a:r>
          </a:p>
          <a:p>
            <a:pPr algn="l">
              <a:lnSpc>
                <a:spcPct val="105000"/>
              </a:lnSpc>
              <a:spcAft>
                <a:spcPts val="600"/>
              </a:spcAft>
            </a:pPr>
            <a:r>
              <a:rPr sz="1400" b="0" i="0">
                <a:solidFill>
                  <a:srgbClr val="FFFFFF"/>
                </a:solidFill>
                <a:latin typeface="Calibri"/>
              </a:rPr>
              <a:t>111  unit - individual judgements</a:t>
            </a:r>
          </a:p>
          <a:p>
            <a:pPr algn="l">
              <a:lnSpc>
                <a:spcPct val="105000"/>
              </a:lnSpc>
            </a:pPr>
            <a:r>
              <a:rPr sz="1400" b="0" i="0">
                <a:solidFill>
                  <a:srgbClr val="FFFFFF"/>
                </a:solidFill>
                <a:latin typeface="Calibri"/>
              </a:rPr>
              <a:t>64  regression - pin bugs we fixed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640080"/>
            <a:ext cx="11091672" cy="365760"/>
          </a:xfrm>
          <a:prstGeom prst="rect">
            <a:avLst/>
          </a:prstGeom>
          <a:noFill/>
        </p:spPr>
        <p:txBody>
          <a:bodyPr wrap="square" anchor="t" lIns="0" rIns="0" tIns="0" bIns="0">
            <a:spAutoFit/>
          </a:bodyPr>
          <a:lstStyle/>
          <a:p>
            <a:pPr algn="l"/>
            <a:r>
              <a:rPr sz="1300" b="1" i="0">
                <a:solidFill>
                  <a:srgbClr val="02C39A"/>
                </a:solidFill>
                <a:latin typeface="Calibri"/>
              </a:rPr>
              <a:t>SCOPE</a:t>
            </a:r>
          </a:p>
        </p:txBody>
      </p:sp>
      <p:sp>
        <p:nvSpPr>
          <p:cNvPr id="3" name="TextBox 2"/>
          <p:cNvSpPr txBox="1"/>
          <p:nvPr/>
        </p:nvSpPr>
        <p:spPr>
          <a:xfrm>
            <a:off x="548640" y="1051560"/>
            <a:ext cx="11091672" cy="1188720"/>
          </a:xfrm>
          <a:prstGeom prst="rect">
            <a:avLst/>
          </a:prstGeom>
          <a:noFill/>
        </p:spPr>
        <p:txBody>
          <a:bodyPr wrap="square" anchor="t" lIns="0" rIns="0" tIns="0" bIns="0">
            <a:spAutoFit/>
          </a:bodyPr>
          <a:lstStyle/>
          <a:p>
            <a:pPr algn="l">
              <a:lnSpc>
                <a:spcPct val="105000"/>
              </a:lnSpc>
            </a:pPr>
            <a:r>
              <a:rPr sz="2500" b="1" i="0">
                <a:solidFill>
                  <a:srgbClr val="FFFFFF"/>
                </a:solidFill>
                <a:latin typeface="Calibri"/>
              </a:rPr>
              <a:t>We measure whether a server advertises and enforces login. We do not measure whether that login is sound.</a:t>
            </a:r>
          </a:p>
        </p:txBody>
      </p:sp>
      <p:sp>
        <p:nvSpPr>
          <p:cNvPr id="4" name="TextBox 3"/>
          <p:cNvSpPr txBox="1"/>
          <p:nvPr/>
        </p:nvSpPr>
        <p:spPr>
          <a:xfrm>
            <a:off x="548640" y="2331720"/>
            <a:ext cx="11091672" cy="640080"/>
          </a:xfrm>
          <a:prstGeom prst="rect">
            <a:avLst/>
          </a:prstGeom>
          <a:noFill/>
        </p:spPr>
        <p:txBody>
          <a:bodyPr wrap="square" anchor="t" lIns="0" rIns="0" tIns="0" bIns="0">
            <a:spAutoFit/>
          </a:bodyPr>
          <a:lstStyle/>
          <a:p>
            <a:pPr algn="l"/>
            <a:r>
              <a:rPr sz="1600" b="0" i="0">
                <a:solidFill>
                  <a:srgbClr val="CADCFC"/>
                </a:solidFill>
                <a:latin typeface="Calibri"/>
              </a:rPr>
              <a:t>A server can pass all 14 checks and still accept a token meant for someone else, or leak one user's data to another.</a:t>
            </a:r>
          </a:p>
        </p:txBody>
      </p:sp>
      <p:sp>
        <p:nvSpPr>
          <p:cNvPr id="5" name="Rounded Rectangle 4"/>
          <p:cNvSpPr/>
          <p:nvPr/>
        </p:nvSpPr>
        <p:spPr>
          <a:xfrm>
            <a:off x="54864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291840"/>
            <a:ext cx="3017520" cy="868680"/>
          </a:xfrm>
          <a:prstGeom prst="rect">
            <a:avLst/>
          </a:prstGeom>
          <a:noFill/>
        </p:spPr>
        <p:txBody>
          <a:bodyPr wrap="square" anchor="ctr" lIns="0" rIns="0" tIns="0" bIns="0">
            <a:spAutoFit/>
          </a:bodyPr>
          <a:lstStyle/>
          <a:p>
            <a:pPr algn="ctr"/>
            <a:r>
              <a:rPr sz="1500" b="1" i="0">
                <a:solidFill>
                  <a:srgbClr val="FFFFFF"/>
                </a:solidFill>
                <a:latin typeface="Calibri"/>
              </a:rPr>
              <a:t>Client</a:t>
            </a:r>
          </a:p>
        </p:txBody>
      </p:sp>
      <p:sp>
        <p:nvSpPr>
          <p:cNvPr id="7" name="Rounded Rectangle 6"/>
          <p:cNvSpPr/>
          <p:nvPr/>
        </p:nvSpPr>
        <p:spPr>
          <a:xfrm>
            <a:off x="411480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3291840"/>
            <a:ext cx="3017520" cy="868680"/>
          </a:xfrm>
          <a:prstGeom prst="rect">
            <a:avLst/>
          </a:prstGeom>
          <a:noFill/>
        </p:spPr>
        <p:txBody>
          <a:bodyPr wrap="square" anchor="ctr" lIns="0" rIns="0" tIns="0" bIns="0">
            <a:spAutoFit/>
          </a:bodyPr>
          <a:lstStyle/>
          <a:p>
            <a:pPr algn="ctr"/>
            <a:r>
              <a:rPr sz="1500" b="1" i="0">
                <a:solidFill>
                  <a:srgbClr val="FFFFFF"/>
                </a:solidFill>
                <a:latin typeface="Calibri"/>
              </a:rPr>
              <a:t>MCP server</a:t>
            </a:r>
          </a:p>
        </p:txBody>
      </p:sp>
      <p:sp>
        <p:nvSpPr>
          <p:cNvPr id="9" name="Rounded Rectangle 8"/>
          <p:cNvSpPr/>
          <p:nvPr/>
        </p:nvSpPr>
        <p:spPr>
          <a:xfrm>
            <a:off x="7680960" y="3291840"/>
            <a:ext cx="3017520" cy="868680"/>
          </a:xfrm>
          <a:prstGeom prst="roundRect">
            <a:avLst>
              <a:gd name="adj" fmla="val 6000"/>
            </a:avLst>
          </a:prstGeom>
          <a:solidFill>
            <a:srgbClr val="2A2036"/>
          </a:solidFill>
          <a:ln w="1270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3291840"/>
            <a:ext cx="3017520" cy="868680"/>
          </a:xfrm>
          <a:prstGeom prst="rect">
            <a:avLst/>
          </a:prstGeom>
          <a:noFill/>
        </p:spPr>
        <p:txBody>
          <a:bodyPr wrap="square" anchor="ctr" lIns="0" rIns="0" tIns="0" bIns="0">
            <a:spAutoFit/>
          </a:bodyPr>
          <a:lstStyle/>
          <a:p>
            <a:pPr algn="ctr"/>
            <a:r>
              <a:rPr sz="1500" b="1" i="0">
                <a:solidFill>
                  <a:srgbClr val="F0C97A"/>
                </a:solidFill>
                <a:latin typeface="Calibri"/>
              </a:rPr>
              <a:t>true back-end</a:t>
            </a:r>
          </a:p>
        </p:txBody>
      </p:sp>
      <p:sp>
        <p:nvSpPr>
          <p:cNvPr id="11" name="Right Arrow 10"/>
          <p:cNvSpPr/>
          <p:nvPr/>
        </p:nvSpPr>
        <p:spPr>
          <a:xfrm>
            <a:off x="3566160" y="3584448"/>
            <a:ext cx="502920" cy="274320"/>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7132320" y="3584448"/>
            <a:ext cx="502920" cy="274320"/>
          </a:xfrm>
          <a:prstGeom prst="rightArrow">
            <a:avLst/>
          </a:prstGeom>
          <a:solidFill>
            <a:srgbClr val="B474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0" y="4251960"/>
            <a:ext cx="6583680" cy="365760"/>
          </a:xfrm>
          <a:prstGeom prst="rect">
            <a:avLst/>
          </a:prstGeom>
          <a:noFill/>
        </p:spPr>
        <p:txBody>
          <a:bodyPr wrap="square" anchor="t" lIns="0" rIns="0" tIns="0" bIns="0">
            <a:spAutoFit/>
          </a:bodyPr>
          <a:lstStyle/>
          <a:p>
            <a:pPr algn="l"/>
            <a:r>
              <a:rPr sz="1200" b="0" i="1">
                <a:solidFill>
                  <a:srgbClr val="8FA6C4"/>
                </a:solidFill>
                <a:latin typeface="Calibri"/>
              </a:rPr>
              <a:t>we can see this hop                       invisible from outside - even with a token</a:t>
            </a:r>
          </a:p>
        </p:txBody>
      </p:sp>
      <p:sp>
        <p:nvSpPr>
          <p:cNvPr id="14" name="TextBox 13"/>
          <p:cNvSpPr txBox="1"/>
          <p:nvPr/>
        </p:nvSpPr>
        <p:spPr>
          <a:xfrm>
            <a:off x="548640" y="5029200"/>
            <a:ext cx="11091672" cy="914400"/>
          </a:xfrm>
          <a:prstGeom prst="rect">
            <a:avLst/>
          </a:prstGeom>
          <a:noFill/>
        </p:spPr>
        <p:txBody>
          <a:bodyPr wrap="square" anchor="t" lIns="0" rIns="0" tIns="0" bIns="0">
            <a:spAutoFit/>
          </a:bodyPr>
          <a:lstStyle/>
          <a:p>
            <a:pPr algn="l">
              <a:lnSpc>
                <a:spcPct val="105000"/>
              </a:lnSpc>
            </a:pPr>
            <a:r>
              <a:rPr sz="1500" b="0" i="0">
                <a:solidFill>
                  <a:srgbClr val="CADCFC"/>
                </a:solidFill>
                <a:latin typeface="Calibri"/>
              </a:rPr>
              <a:t>We deliberately scoped the project to what a no-credential caller can observe. Some dangerous mistakes live on that second hop - a server passing your token to a back-end that shouldn't get it, or mixing up two users - which is not observable from outside in any case.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SCOPE</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rules moved ahead</a:t>
            </a:r>
          </a:p>
        </p:txBody>
      </p:sp>
      <p:sp>
        <p:nvSpPr>
          <p:cNvPr id="4" name="TextBox 3"/>
          <p:cNvSpPr txBox="1"/>
          <p:nvPr/>
        </p:nvSpPr>
        <p:spPr>
          <a:xfrm>
            <a:off x="548640" y="1600200"/>
            <a:ext cx="11091672" cy="457200"/>
          </a:xfrm>
          <a:prstGeom prst="rect">
            <a:avLst/>
          </a:prstGeom>
          <a:noFill/>
        </p:spPr>
        <p:txBody>
          <a:bodyPr wrap="square" anchor="t" lIns="0" rIns="0" tIns="0" bIns="0">
            <a:spAutoFit/>
          </a:bodyPr>
          <a:lstStyle/>
          <a:p>
            <a:pPr algn="l"/>
            <a:r>
              <a:rPr sz="1500" b="0" i="0">
                <a:solidFill>
                  <a:srgbClr val="1B2A3A"/>
                </a:solidFill>
                <a:latin typeface="Calibri"/>
              </a:rPr>
              <a:t>A newer revision, </a:t>
            </a:r>
            <a:r>
              <a:rPr sz="1500" b="1" i="0">
                <a:solidFill>
                  <a:srgbClr val="1C7293"/>
                </a:solidFill>
                <a:latin typeface="Calibri"/>
              </a:rPr>
              <a:t>2026-07-28</a:t>
            </a:r>
            <a:r>
              <a:rPr sz="1500" b="0" i="0">
                <a:solidFill>
                  <a:srgbClr val="1B2A3A"/>
                </a:solidFill>
                <a:latin typeface="Calibri"/>
              </a:rPr>
              <a:t>, was published during our work. Our tool targets 2025-06-18.</a:t>
            </a:r>
          </a:p>
        </p:txBody>
      </p:sp>
      <p:sp>
        <p:nvSpPr>
          <p:cNvPr id="5" name="Rounded Rectangle 4"/>
          <p:cNvSpPr/>
          <p:nvPr/>
        </p:nvSpPr>
        <p:spPr>
          <a:xfrm>
            <a:off x="548640" y="2103120"/>
            <a:ext cx="11091672" cy="9144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12848"/>
            <a:ext cx="10543032" cy="731520"/>
          </a:xfrm>
          <a:prstGeom prst="rect">
            <a:avLst/>
          </a:prstGeom>
          <a:noFill/>
        </p:spPr>
        <p:txBody>
          <a:bodyPr wrap="square" anchor="ctr" lIns="0" rIns="0" tIns="0" bIns="0">
            <a:spAutoFit/>
          </a:bodyPr>
          <a:lstStyle/>
          <a:p>
            <a:pPr algn="l">
              <a:lnSpc>
                <a:spcPct val="103000"/>
              </a:lnSpc>
            </a:pPr>
            <a:r>
              <a:rPr sz="1400" b="0" i="0">
                <a:solidFill>
                  <a:srgbClr val="1B2A3A"/>
                </a:solidFill>
                <a:latin typeface="Calibri"/>
              </a:rPr>
              <a:t>Servers declare which revision they follow in the handshake - and many still run older ones. So the earlier rules (sessions included) still describe real servers in our sample; a newer spec does not retroactively fix them.</a:t>
            </a:r>
          </a:p>
        </p:txBody>
      </p:sp>
      <p:sp>
        <p:nvSpPr>
          <p:cNvPr id="7" name="TextBox 6"/>
          <p:cNvSpPr txBox="1"/>
          <p:nvPr/>
        </p:nvSpPr>
        <p:spPr>
          <a:xfrm>
            <a:off x="548640" y="3246120"/>
            <a:ext cx="11091672" cy="2651760"/>
          </a:xfrm>
          <a:prstGeom prst="rect">
            <a:avLst/>
          </a:prstGeom>
          <a:noFill/>
        </p:spPr>
        <p:txBody>
          <a:bodyPr wrap="square" anchor="t" lIns="0" rIns="0" tIns="0" bIns="0">
            <a:spAutoFit/>
          </a:bodyPr>
          <a:lstStyle/>
          <a:p>
            <a:pPr algn="l">
              <a:lnSpc>
                <a:spcPct val="103000"/>
              </a:lnSpc>
              <a:spcAft>
                <a:spcPts val="1000"/>
              </a:spcAft>
            </a:pPr>
            <a:r>
              <a:rPr sz="1500" b="0" i="0">
                <a:solidFill>
                  <a:srgbClr val="1B2A3A"/>
                </a:solidFill>
                <a:latin typeface="Calibri"/>
              </a:rPr>
              <a:t>•  Sessions were removed entirely in 2026-07-28 - so #5 and #6 still apply to the older revisions many servers keep running.</a:t>
            </a:r>
          </a:p>
          <a:p>
            <a:pPr algn="l">
              <a:lnSpc>
                <a:spcPct val="103000"/>
              </a:lnSpc>
              <a:spcAft>
                <a:spcPts val="1000"/>
              </a:spcAft>
            </a:pPr>
            <a:r>
              <a:rPr sz="1500" b="0" i="0">
                <a:solidFill>
                  <a:srgbClr val="1B2A3A"/>
                </a:solidFill>
                <a:latin typeface="Calibri"/>
              </a:rPr>
              <a:t>•  New per-request headers are now required; a strict up-to-date server could reject requests our tool sends.</a:t>
            </a:r>
          </a:p>
          <a:p>
            <a:pPr algn="l">
              <a:lnSpc>
                <a:spcPct val="103000"/>
              </a:lnSpc>
              <a:spcAft>
                <a:spcPts val="1000"/>
              </a:spcAft>
            </a:pPr>
            <a:r>
              <a:rPr sz="1500" b="0" i="0">
                <a:solidFill>
                  <a:srgbClr val="1B2A3A"/>
                </a:solidFill>
                <a:latin typeface="Calibri"/>
              </a:rPr>
              <a:t>•  Publishing the login-info page is now unconditional - which makes check #4 stronger.</a:t>
            </a:r>
          </a:p>
          <a:p>
            <a:pPr algn="l">
              <a:lnSpc>
                <a:spcPct val="103000"/>
              </a:lnSpc>
              <a:spcAft>
                <a:spcPts val="0"/>
              </a:spcAft>
            </a:pPr>
            <a:r>
              <a:rPr sz="1500" b="0" i="0">
                <a:solidFill>
                  <a:srgbClr val="1B2A3A"/>
                </a:solidFill>
                <a:latin typeface="Calibri"/>
              </a:rPr>
              <a:t>•  Self-service registration is now deprecated - so #12's framing is already dated.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502920"/>
            <a:ext cx="11091672" cy="365760"/>
          </a:xfrm>
          <a:prstGeom prst="rect">
            <a:avLst/>
          </a:prstGeom>
          <a:noFill/>
        </p:spPr>
        <p:txBody>
          <a:bodyPr wrap="square" anchor="t" lIns="0" rIns="0" tIns="0" bIns="0">
            <a:spAutoFit/>
          </a:bodyPr>
          <a:lstStyle/>
          <a:p>
            <a:pPr algn="l"/>
            <a:r>
              <a:rPr sz="1300" b="1" i="0">
                <a:solidFill>
                  <a:srgbClr val="02C39A"/>
                </a:solidFill>
                <a:latin typeface="Calibri"/>
              </a:rPr>
              <a:t>CONCLUSION</a:t>
            </a:r>
          </a:p>
        </p:txBody>
      </p:sp>
      <p:sp>
        <p:nvSpPr>
          <p:cNvPr id="3" name="TextBox 2"/>
          <p:cNvSpPr txBox="1"/>
          <p:nvPr/>
        </p:nvSpPr>
        <p:spPr>
          <a:xfrm>
            <a:off x="548640" y="914400"/>
            <a:ext cx="11091672" cy="1188720"/>
          </a:xfrm>
          <a:prstGeom prst="rect">
            <a:avLst/>
          </a:prstGeom>
          <a:noFill/>
        </p:spPr>
        <p:txBody>
          <a:bodyPr wrap="square" anchor="t" lIns="0" rIns="0" tIns="0" bIns="0">
            <a:spAutoFit/>
          </a:bodyPr>
          <a:lstStyle/>
          <a:p>
            <a:pPr algn="l">
              <a:lnSpc>
                <a:spcPct val="105000"/>
              </a:lnSpc>
            </a:pPr>
            <a:r>
              <a:rPr sz="2400" b="1" i="0">
                <a:solidFill>
                  <a:srgbClr val="FFFFFF"/>
                </a:solidFill>
                <a:latin typeface="Calibri"/>
              </a:rPr>
              <a:t>MCP makes security optional - so the real question isn't whether it's secure, but which servers chose to be.</a:t>
            </a:r>
          </a:p>
        </p:txBody>
      </p:sp>
      <p:sp>
        <p:nvSpPr>
          <p:cNvPr id="4" name="TextBox 3"/>
          <p:cNvSpPr txBox="1"/>
          <p:nvPr/>
        </p:nvSpPr>
        <p:spPr>
          <a:xfrm>
            <a:off x="548640" y="2240280"/>
            <a:ext cx="11091672" cy="822960"/>
          </a:xfrm>
          <a:prstGeom prst="rect">
            <a:avLst/>
          </a:prstGeom>
          <a:noFill/>
        </p:spPr>
        <p:txBody>
          <a:bodyPr wrap="square" anchor="t" lIns="0" rIns="0" tIns="0" bIns="0">
            <a:spAutoFit/>
          </a:bodyPr>
          <a:lstStyle/>
          <a:p>
            <a:pPr algn="l">
              <a:lnSpc>
                <a:spcPct val="105000"/>
              </a:lnSpc>
            </a:pPr>
            <a:r>
              <a:rPr sz="1500" b="0" i="0">
                <a:solidFill>
                  <a:srgbClr val="CADCFC"/>
                </a:solidFill>
                <a:latin typeface="Calibri"/>
              </a:rPr>
              <a:t>The spec marks authorization </a:t>
            </a:r>
            <a:r>
              <a:rPr sz="1500" b="1" i="0">
                <a:solidFill>
                  <a:srgbClr val="F0C97A"/>
                </a:solidFill>
                <a:latin typeface="Calibri"/>
              </a:rPr>
              <a:t>OPTIONAL</a:t>
            </a:r>
            <a:r>
              <a:rPr sz="1500" b="0" i="0">
                <a:solidFill>
                  <a:srgbClr val="CADCFC"/>
                </a:solidFill>
                <a:latin typeface="Calibri"/>
              </a:rPr>
              <a:t>, and most quick-starts spin up a server in two minutes with auth left off. Vulnerability in the wild isn't an accident - it's the default.</a:t>
            </a:r>
          </a:p>
        </p:txBody>
      </p:sp>
      <p:sp>
        <p:nvSpPr>
          <p:cNvPr id="5" name="Rounded Rectangle 4"/>
          <p:cNvSpPr/>
          <p:nvPr/>
        </p:nvSpPr>
        <p:spPr>
          <a:xfrm>
            <a:off x="548640" y="3200400"/>
            <a:ext cx="5408676" cy="1874519"/>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3364992"/>
            <a:ext cx="4860036" cy="1554480"/>
          </a:xfrm>
          <a:prstGeom prst="rect">
            <a:avLst/>
          </a:prstGeom>
          <a:noFill/>
        </p:spPr>
        <p:txBody>
          <a:bodyPr wrap="square" anchor="t" lIns="0" rIns="0" tIns="0" bIns="0">
            <a:spAutoFit/>
          </a:bodyPr>
          <a:lstStyle/>
          <a:p>
            <a:pPr algn="l">
              <a:lnSpc>
                <a:spcPct val="104000"/>
              </a:lnSpc>
              <a:spcAft>
                <a:spcPts val="500"/>
              </a:spcAft>
            </a:pPr>
            <a:r>
              <a:rPr sz="1600" b="1" i="0">
                <a:solidFill>
                  <a:srgbClr val="02C39A"/>
                </a:solidFill>
                <a:latin typeface="Calibri"/>
              </a:rPr>
              <a:t>What we found</a:t>
            </a:r>
          </a:p>
          <a:p>
            <a:pPr algn="l">
              <a:lnSpc>
                <a:spcPct val="104000"/>
              </a:lnSpc>
            </a:pPr>
            <a:r>
              <a:rPr sz="1400" b="0" i="0">
                <a:solidFill>
                  <a:srgbClr val="E6EEF5"/>
                </a:solidFill>
                <a:latin typeface="Calibri"/>
              </a:rPr>
              <a:t>Every recognisable vendor gated its tools; the servers open to a stranger were the newer, lesser-known ones - exactly what optional security predicts.</a:t>
            </a:r>
          </a:p>
        </p:txBody>
      </p:sp>
      <p:sp>
        <p:nvSpPr>
          <p:cNvPr id="7" name="Rounded Rectangle 6"/>
          <p:cNvSpPr/>
          <p:nvPr/>
        </p:nvSpPr>
        <p:spPr>
          <a:xfrm>
            <a:off x="6231636" y="3200400"/>
            <a:ext cx="5408676" cy="1874519"/>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05955" y="3364992"/>
            <a:ext cx="4860036" cy="1554480"/>
          </a:xfrm>
          <a:prstGeom prst="rect">
            <a:avLst/>
          </a:prstGeom>
          <a:noFill/>
        </p:spPr>
        <p:txBody>
          <a:bodyPr wrap="square" anchor="t" lIns="0" rIns="0" tIns="0" bIns="0">
            <a:spAutoFit/>
          </a:bodyPr>
          <a:lstStyle/>
          <a:p>
            <a:pPr algn="l">
              <a:lnSpc>
                <a:spcPct val="104000"/>
              </a:lnSpc>
              <a:spcAft>
                <a:spcPts val="500"/>
              </a:spcAft>
            </a:pPr>
            <a:r>
              <a:rPr sz="1600" b="1" i="0">
                <a:solidFill>
                  <a:srgbClr val="02C39A"/>
                </a:solidFill>
                <a:latin typeface="Calibri"/>
              </a:rPr>
              <a:t>What we built</a:t>
            </a:r>
          </a:p>
          <a:p>
            <a:pPr algn="l">
              <a:lnSpc>
                <a:spcPct val="104000"/>
              </a:lnSpc>
            </a:pPr>
            <a:r>
              <a:rPr sz="1400" b="0" i="0">
                <a:solidFill>
                  <a:srgbClr val="E6EEF5"/>
                </a:solidFill>
                <a:latin typeface="Calibri"/>
              </a:rPr>
              <a:t>An instrument that turns anecdote into measurement: 14 rule-based checks, each carrying its request and reply, reproducible against any public server - no login required.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Method</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Isn't this just a port scanner?</a:t>
            </a:r>
          </a:p>
          <a:p>
            <a:pPr algn="l">
              <a:lnSpc>
                <a:spcPct val="103000"/>
              </a:lnSpc>
            </a:pPr>
            <a:r>
              <a:rPr sz="1350" b="0" i="0">
                <a:solidFill>
                  <a:srgbClr val="1B2A3A"/>
                </a:solidFill>
                <a:latin typeface="Calibri"/>
              </a:rPr>
              <a:t>No - every check cites a specific clause of a standard and returns the evidence for its verdict. The unit of output is a compliance judgement, not an open port.</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Did you attack anyone?</a:t>
            </a:r>
          </a:p>
          <a:p>
            <a:pPr algn="l">
              <a:lnSpc>
                <a:spcPct val="103000"/>
              </a:lnSpc>
            </a:pPr>
            <a:r>
              <a:rPr sz="1350" b="0" i="0">
                <a:solidFill>
                  <a:srgbClr val="1B2A3A"/>
                </a:solidFill>
                <a:latin typeface="Calibri"/>
              </a:rPr>
              <a:t>12 of 14 checks create nothing durable. The two write checks register a client and are off by default; see the ethics slide for what happened when we ran them and what we changed.</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not read the servers' source code?</a:t>
            </a:r>
          </a:p>
          <a:p>
            <a:pPr algn="l">
              <a:lnSpc>
                <a:spcPct val="103000"/>
              </a:lnSpc>
            </a:pPr>
            <a:r>
              <a:rPr sz="1350" b="0" i="0">
                <a:solidFill>
                  <a:srgbClr val="1B2A3A"/>
                </a:solidFill>
                <a:latin typeface="Calibri"/>
              </a:rPr>
              <a:t>They are other people's production servers. The point is measuring observable behaviour from outside - the position a real attacker is 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Results &amp; Rigour</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so many INCONCLUSIVE?</a:t>
            </a:r>
          </a:p>
          <a:p>
            <a:pPr algn="l">
              <a:lnSpc>
                <a:spcPct val="103000"/>
              </a:lnSpc>
            </a:pPr>
            <a:r>
              <a:rPr sz="1350" b="0" i="0">
                <a:solidFill>
                  <a:srgbClr val="1B2A3A"/>
                </a:solidFill>
                <a:latin typeface="Calibri"/>
              </a:rPr>
              <a:t>Because they're true. A refusal we can't attribute, or a reply we can't parse, is not evidence either way. Two checks improved by saying “unknown” more often.</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83 servers isn't many.</a:t>
            </a:r>
          </a:p>
          <a:p>
            <a:pPr algn="l">
              <a:lnSpc>
                <a:spcPct val="103000"/>
              </a:lnSpc>
            </a:pPr>
            <a:r>
              <a:rPr sz="1350" b="0" i="0">
                <a:solidFill>
                  <a:srgbClr val="1B2A3A"/>
                </a:solidFill>
                <a:latin typeface="Calibri"/>
              </a:rPr>
              <a:t>Agreed, and we say so. These are rates within one slice of the registry, not internet-wide rates; scaling is a matter of a longer list.</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How do you know your scanner is right?</a:t>
            </a:r>
          </a:p>
          <a:p>
            <a:pPr algn="l">
              <a:lnSpc>
                <a:spcPct val="103000"/>
              </a:lnSpc>
            </a:pPr>
            <a:r>
              <a:rPr sz="1350" b="0" i="0">
                <a:solidFill>
                  <a:srgbClr val="1B2A3A"/>
                </a:solidFill>
                <a:latin typeface="Calibri"/>
              </a:rPr>
              <a:t>Seven practice servers (one per posture) plus 213 tests - a check must pass against both a broken and a correct server.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Scope &amp; Next</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What's the single biggest limitation?</a:t>
            </a:r>
          </a:p>
          <a:p>
            <a:pPr algn="l">
              <a:lnSpc>
                <a:spcPct val="103000"/>
              </a:lnSpc>
            </a:pPr>
            <a:r>
              <a:rPr sz="1350" b="0" i="0">
                <a:solidFill>
                  <a:srgbClr val="1B2A3A"/>
                </a:solidFill>
                <a:latin typeface="Calibri"/>
              </a:rPr>
              <a:t>We never log in, so we measure advertisement and enforcement, not soundness. A server can pass all 14 checks and still mishandle tokens.</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present a check that found nothing (#14)?</a:t>
            </a:r>
          </a:p>
          <a:p>
            <a:pPr algn="l">
              <a:lnSpc>
                <a:spcPct val="103000"/>
              </a:lnSpc>
            </a:pPr>
            <a:r>
              <a:rPr sz="1350" b="0" i="0">
                <a:solidFill>
                  <a:srgbClr val="1B2A3A"/>
                </a:solidFill>
                <a:latin typeface="Calibri"/>
              </a:rPr>
              <a:t>Because the honest result and its cost - 76 registrations for zero findings - is the clearest measure of what write-class probing costs versus yields.</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If someone extended this, where would they start?</a:t>
            </a:r>
          </a:p>
          <a:p>
            <a:pPr algn="l">
              <a:lnSpc>
                <a:spcPct val="103000"/>
              </a:lnSpc>
            </a:pPr>
            <a:r>
              <a:rPr sz="1350" b="0" i="0">
                <a:solidFill>
                  <a:srgbClr val="1B2A3A"/>
                </a:solidFill>
                <a:latin typeface="Calibri"/>
              </a:rPr>
              <a:t>This is our final submission, so nothing is planned - but the natural extensions are the 2026-07-28 revision (new headers), automatic registry discovery to scale past 83, and rate-limit handling.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