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2" r:id="rId26"/>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203" autoAdjust="0"/>
  </p:normalViewPr>
  <p:slideViewPr>
    <p:cSldViewPr snapToGrid="0" snapToObjects="1">
      <p:cViewPr varScale="1">
        <p:scale>
          <a:sx n="91" d="100"/>
          <a:sy n="91" d="100"/>
        </p:scale>
        <p:origin x="131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60298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hyperlink" Target="https://github.com/yamitkfir/YamAmit-MCP-auth-public"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233F"/>
        </a:solidFill>
        <a:effectLst/>
      </p:bgPr>
    </p:bg>
    <p:spTree>
      <p:nvGrpSpPr>
        <p:cNvPr id="1" name=""/>
        <p:cNvGrpSpPr/>
        <p:nvPr/>
      </p:nvGrpSpPr>
      <p:grpSpPr>
        <a:xfrm>
          <a:off x="0" y="0"/>
          <a:ext cx="0" cy="0"/>
          <a:chOff x="0" y="0"/>
          <a:chExt cx="0" cy="0"/>
        </a:xfrm>
      </p:grpSpPr>
      <p:sp>
        <p:nvSpPr>
          <p:cNvPr id="2" name="TextBox 1"/>
          <p:cNvSpPr txBox="1"/>
          <p:nvPr/>
        </p:nvSpPr>
        <p:spPr>
          <a:xfrm>
            <a:off x="548640" y="1463040"/>
            <a:ext cx="11091672" cy="365760"/>
          </a:xfrm>
          <a:prstGeom prst="rect">
            <a:avLst/>
          </a:prstGeom>
          <a:noFill/>
        </p:spPr>
        <p:txBody>
          <a:bodyPr wrap="square" lIns="0" tIns="0" rIns="0" bIns="0" anchor="t">
            <a:spAutoFit/>
          </a:bodyPr>
          <a:lstStyle/>
          <a:p>
            <a:pPr algn="l"/>
            <a:r>
              <a:rPr sz="1400" b="1" i="0">
                <a:solidFill>
                  <a:srgbClr val="02C39A"/>
                </a:solidFill>
                <a:latin typeface="Calibri"/>
              </a:rPr>
              <a:t>MCP AUTHORIZATION IN THE WILD</a:t>
            </a:r>
          </a:p>
        </p:txBody>
      </p:sp>
      <p:sp>
        <p:nvSpPr>
          <p:cNvPr id="3" name="TextBox 2"/>
          <p:cNvSpPr txBox="1"/>
          <p:nvPr/>
        </p:nvSpPr>
        <p:spPr>
          <a:xfrm>
            <a:off x="548640" y="1874519"/>
            <a:ext cx="11091672" cy="1188720"/>
          </a:xfrm>
          <a:prstGeom prst="rect">
            <a:avLst/>
          </a:prstGeom>
          <a:noFill/>
        </p:spPr>
        <p:txBody>
          <a:bodyPr wrap="square" lIns="0" tIns="0" rIns="0" bIns="0" anchor="t">
            <a:spAutoFit/>
          </a:bodyPr>
          <a:lstStyle/>
          <a:p>
            <a:pPr algn="l">
              <a:lnSpc>
                <a:spcPct val="102000"/>
              </a:lnSpc>
            </a:pPr>
            <a:r>
              <a:rPr sz="3600" b="1" i="0">
                <a:solidFill>
                  <a:srgbClr val="FFFFFF"/>
                </a:solidFill>
                <a:latin typeface="Calibri"/>
              </a:rPr>
              <a:t>Do MCP servers protect their tools the way the rules require?</a:t>
            </a:r>
          </a:p>
        </p:txBody>
      </p:sp>
      <p:sp>
        <p:nvSpPr>
          <p:cNvPr id="4" name="TextBox 3"/>
          <p:cNvSpPr txBox="1"/>
          <p:nvPr/>
        </p:nvSpPr>
        <p:spPr>
          <a:xfrm>
            <a:off x="548640" y="3154680"/>
            <a:ext cx="11091672" cy="548640"/>
          </a:xfrm>
          <a:prstGeom prst="rect">
            <a:avLst/>
          </a:prstGeom>
          <a:noFill/>
        </p:spPr>
        <p:txBody>
          <a:bodyPr wrap="square" lIns="0" tIns="0" rIns="0" bIns="0" anchor="t">
            <a:spAutoFit/>
          </a:bodyPr>
          <a:lstStyle/>
          <a:p>
            <a:pPr algn="l"/>
            <a:r>
              <a:rPr sz="1800" b="0" i="0">
                <a:solidFill>
                  <a:srgbClr val="CADCFC"/>
                </a:solidFill>
                <a:latin typeface="Calibri"/>
              </a:rPr>
              <a:t>A scanner that measures a server's login setup from the outside - without ever logging in.</a:t>
            </a:r>
          </a:p>
        </p:txBody>
      </p:sp>
      <p:sp>
        <p:nvSpPr>
          <p:cNvPr id="7" name="TextBox 6"/>
          <p:cNvSpPr txBox="1"/>
          <p:nvPr/>
        </p:nvSpPr>
        <p:spPr>
          <a:xfrm>
            <a:off x="548640" y="6126480"/>
            <a:ext cx="11091672" cy="274320"/>
          </a:xfrm>
          <a:prstGeom prst="rect">
            <a:avLst/>
          </a:prstGeom>
          <a:noFill/>
        </p:spPr>
        <p:txBody>
          <a:bodyPr wrap="square" lIns="0" tIns="0" rIns="0" bIns="0" anchor="t">
            <a:spAutoFit/>
          </a:bodyPr>
          <a:lstStyle/>
          <a:p>
            <a:pPr algn="l"/>
            <a:r>
              <a:rPr sz="1200" b="0" i="0">
                <a:solidFill>
                  <a:srgbClr val="8FA6C4"/>
                </a:solidFill>
                <a:latin typeface="Calibri"/>
              </a:rPr>
              <a:t>Workshop project · Presenting: Amit Cohen &amp; Yamit Kfir ·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BACKGROUND</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MCP servers give an AI tools - and ship with no security</a:t>
            </a:r>
          </a:p>
        </p:txBody>
      </p:sp>
      <p:sp>
        <p:nvSpPr>
          <p:cNvPr id="4" name="TextBox 3"/>
          <p:cNvSpPr txBox="1"/>
          <p:nvPr/>
        </p:nvSpPr>
        <p:spPr>
          <a:xfrm>
            <a:off x="548640" y="1691640"/>
            <a:ext cx="6035040" cy="868680"/>
          </a:xfrm>
          <a:prstGeom prst="rect">
            <a:avLst/>
          </a:prstGeom>
          <a:noFill/>
        </p:spPr>
        <p:txBody>
          <a:bodyPr wrap="square" lIns="0" tIns="0" rIns="0" bIns="0" anchor="t">
            <a:spAutoFit/>
          </a:bodyPr>
          <a:lstStyle/>
          <a:p>
            <a:pPr algn="l">
              <a:lnSpc>
                <a:spcPct val="105000"/>
              </a:lnSpc>
            </a:pPr>
            <a:r>
              <a:rPr sz="1600" b="1" i="0">
                <a:solidFill>
                  <a:srgbClr val="1B2A3A"/>
                </a:solidFill>
                <a:latin typeface="Calibri"/>
              </a:rPr>
              <a:t>MCP (Model Context Protocol)</a:t>
            </a:r>
            <a:r>
              <a:rPr sz="1600" b="0" i="0">
                <a:solidFill>
                  <a:srgbClr val="1B2A3A"/>
                </a:solidFill>
                <a:latin typeface="Calibri"/>
              </a:rPr>
              <a:t> lets an AI assistant use outside tools (“search the docs”, “run this query”) over the internet. Published by Anthropic.</a:t>
            </a:r>
          </a:p>
        </p:txBody>
      </p:sp>
      <p:sp>
        <p:nvSpPr>
          <p:cNvPr id="5" name="TextBox 4"/>
          <p:cNvSpPr txBox="1"/>
          <p:nvPr/>
        </p:nvSpPr>
        <p:spPr>
          <a:xfrm>
            <a:off x="548640" y="2697480"/>
            <a:ext cx="6035040" cy="1737360"/>
          </a:xfrm>
          <a:prstGeom prst="rect">
            <a:avLst/>
          </a:prstGeom>
          <a:noFill/>
        </p:spPr>
        <p:txBody>
          <a:bodyPr wrap="square" lIns="0" tIns="0" rIns="0" bIns="0" anchor="t">
            <a:spAutoFit/>
          </a:bodyPr>
          <a:lstStyle/>
          <a:p>
            <a:pPr algn="l">
              <a:lnSpc>
                <a:spcPct val="103000"/>
              </a:lnSpc>
              <a:spcAft>
                <a:spcPts val="800"/>
              </a:spcAft>
            </a:pPr>
            <a:r>
              <a:rPr sz="1500" b="0" i="0">
                <a:solidFill>
                  <a:srgbClr val="1B2A3A"/>
                </a:solidFill>
                <a:latin typeface="Calibri"/>
              </a:rPr>
              <a:t>•  A tool call is just an HTTP request carrying a JSON-RPC message.</a:t>
            </a:r>
          </a:p>
          <a:p>
            <a:pPr algn="l">
              <a:lnSpc>
                <a:spcPct val="103000"/>
              </a:lnSpc>
              <a:spcAft>
                <a:spcPts val="800"/>
              </a:spcAft>
            </a:pPr>
            <a:r>
              <a:rPr sz="1500" b="0" i="0">
                <a:solidFill>
                  <a:srgbClr val="1B2A3A"/>
                </a:solidFill>
                <a:latin typeface="Calibri"/>
              </a:rPr>
              <a:t>•  The protocol standardises the menu of actions and the messages.</a:t>
            </a:r>
          </a:p>
          <a:p>
            <a:pPr algn="l">
              <a:lnSpc>
                <a:spcPct val="103000"/>
              </a:lnSpc>
              <a:spcAft>
                <a:spcPts val="0"/>
              </a:spcAft>
            </a:pPr>
            <a:r>
              <a:rPr sz="1500" b="0" i="0">
                <a:solidFill>
                  <a:srgbClr val="1B2A3A"/>
                </a:solidFill>
                <a:latin typeface="Calibri"/>
              </a:rPr>
              <a:t>•  Nothing forces a server to require a login, or to check what a caller may do - both are left to the implementer to enforce.</a:t>
            </a:r>
          </a:p>
        </p:txBody>
      </p:sp>
      <p:sp>
        <p:nvSpPr>
          <p:cNvPr id="6" name="Rounded Rectangle 5"/>
          <p:cNvSpPr/>
          <p:nvPr/>
        </p:nvSpPr>
        <p:spPr>
          <a:xfrm>
            <a:off x="7223760" y="2011680"/>
            <a:ext cx="1920240" cy="82296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223760" y="2011680"/>
            <a:ext cx="1920240" cy="822960"/>
          </a:xfrm>
          <a:prstGeom prst="rect">
            <a:avLst/>
          </a:prstGeom>
          <a:noFill/>
        </p:spPr>
        <p:txBody>
          <a:bodyPr wrap="square" lIns="0" tIns="0" rIns="0" bIns="0" anchor="ctr">
            <a:spAutoFit/>
          </a:bodyPr>
          <a:lstStyle/>
          <a:p>
            <a:pPr algn="ctr"/>
            <a:r>
              <a:rPr sz="1400" b="1" i="0">
                <a:solidFill>
                  <a:srgbClr val="12233F"/>
                </a:solidFill>
                <a:latin typeface="Calibri"/>
              </a:rPr>
              <a:t>AI assistant</a:t>
            </a:r>
          </a:p>
        </p:txBody>
      </p:sp>
      <p:sp>
        <p:nvSpPr>
          <p:cNvPr id="8" name="Rounded Rectangle 7"/>
          <p:cNvSpPr/>
          <p:nvPr/>
        </p:nvSpPr>
        <p:spPr>
          <a:xfrm>
            <a:off x="7223760" y="3429000"/>
            <a:ext cx="1920240" cy="822960"/>
          </a:xfrm>
          <a:prstGeom prst="roundRect">
            <a:avLst>
              <a:gd name="adj" fmla="val 6000"/>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223760" y="3429000"/>
            <a:ext cx="1920240" cy="822960"/>
          </a:xfrm>
          <a:prstGeom prst="rect">
            <a:avLst/>
          </a:prstGeom>
          <a:noFill/>
        </p:spPr>
        <p:txBody>
          <a:bodyPr wrap="square" lIns="0" tIns="0" rIns="0" bIns="0" anchor="ctr">
            <a:spAutoFit/>
          </a:bodyPr>
          <a:lstStyle/>
          <a:p>
            <a:pPr algn="ctr"/>
            <a:r>
              <a:rPr sz="1400" b="1" i="0">
                <a:solidFill>
                  <a:srgbClr val="FFFFFF"/>
                </a:solidFill>
                <a:latin typeface="Calibri"/>
              </a:rPr>
              <a:t>MCP server</a:t>
            </a:r>
          </a:p>
        </p:txBody>
      </p:sp>
      <p:sp>
        <p:nvSpPr>
          <p:cNvPr id="10" name="Rounded Rectangle 9"/>
          <p:cNvSpPr/>
          <p:nvPr/>
        </p:nvSpPr>
        <p:spPr>
          <a:xfrm>
            <a:off x="9738360" y="3291840"/>
            <a:ext cx="1600200" cy="109728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38360" y="3291840"/>
            <a:ext cx="1600200" cy="1097280"/>
          </a:xfrm>
          <a:prstGeom prst="rect">
            <a:avLst/>
          </a:prstGeom>
          <a:noFill/>
        </p:spPr>
        <p:txBody>
          <a:bodyPr wrap="square" lIns="0" tIns="0" rIns="0" bIns="0" anchor="ctr">
            <a:spAutoFit/>
          </a:bodyPr>
          <a:lstStyle/>
          <a:p>
            <a:pPr algn="ctr"/>
            <a:r>
              <a:rPr sz="1200" b="0" i="0">
                <a:solidFill>
                  <a:srgbClr val="1B2A3A"/>
                </a:solidFill>
                <a:latin typeface="Calibri"/>
              </a:rPr>
              <a:t>tools
(actions + data)</a:t>
            </a:r>
          </a:p>
        </p:txBody>
      </p:sp>
      <p:sp>
        <p:nvSpPr>
          <p:cNvPr id="12" name="Down Arrow 11"/>
          <p:cNvSpPr/>
          <p:nvPr/>
        </p:nvSpPr>
        <p:spPr>
          <a:xfrm>
            <a:off x="7973568" y="2852928"/>
            <a:ext cx="411480" cy="457200"/>
          </a:xfrm>
          <a:prstGeom prst="down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81928" y="3017520"/>
            <a:ext cx="1691640" cy="274320"/>
          </a:xfrm>
          <a:prstGeom prst="rect">
            <a:avLst/>
          </a:prstGeom>
          <a:noFill/>
        </p:spPr>
        <p:txBody>
          <a:bodyPr wrap="square" lIns="0" tIns="0" rIns="0" bIns="0" anchor="t">
            <a:spAutoFit/>
          </a:bodyPr>
          <a:lstStyle/>
          <a:p>
            <a:pPr algn="r"/>
            <a:r>
              <a:rPr sz="1000" b="0" i="0" dirty="0">
                <a:solidFill>
                  <a:srgbClr val="5C6B7A"/>
                </a:solidFill>
                <a:latin typeface="Courier New"/>
              </a:rPr>
              <a:t>HTTP + JSON-RPC</a:t>
            </a:r>
          </a:p>
        </p:txBody>
      </p:sp>
      <p:sp>
        <p:nvSpPr>
          <p:cNvPr id="14" name="Right Arrow 13"/>
          <p:cNvSpPr/>
          <p:nvPr/>
        </p:nvSpPr>
        <p:spPr>
          <a:xfrm>
            <a:off x="9162288" y="3657600"/>
            <a:ext cx="457200" cy="256032"/>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BACKGROUND</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The vocabulary: authentication, authorization, OAuth</a:t>
            </a:r>
          </a:p>
        </p:txBody>
      </p:sp>
      <p:sp>
        <p:nvSpPr>
          <p:cNvPr id="4" name="TextBox 3"/>
          <p:cNvSpPr txBox="1"/>
          <p:nvPr/>
        </p:nvSpPr>
        <p:spPr>
          <a:xfrm>
            <a:off x="548640" y="1737360"/>
            <a:ext cx="6126480" cy="822960"/>
          </a:xfrm>
          <a:prstGeom prst="rect">
            <a:avLst/>
          </a:prstGeom>
          <a:noFill/>
        </p:spPr>
        <p:txBody>
          <a:bodyPr wrap="square" lIns="0" tIns="0" rIns="0" bIns="0" anchor="t">
            <a:spAutoFit/>
          </a:bodyPr>
          <a:lstStyle/>
          <a:p>
            <a:pPr algn="l">
              <a:lnSpc>
                <a:spcPct val="103000"/>
              </a:lnSpc>
            </a:pPr>
            <a:r>
              <a:rPr sz="1500" b="1" i="0">
                <a:solidFill>
                  <a:srgbClr val="1C7293"/>
                </a:solidFill>
                <a:latin typeface="Calibri"/>
              </a:rPr>
              <a:t>Authentication  </a:t>
            </a:r>
            <a:r>
              <a:rPr sz="1500" b="0" i="0">
                <a:solidFill>
                  <a:srgbClr val="1B2A3A"/>
                </a:solidFill>
                <a:latin typeface="Calibri"/>
              </a:rPr>
              <a:t>proving who you are (showing your ticket).</a:t>
            </a:r>
          </a:p>
        </p:txBody>
      </p:sp>
      <p:sp>
        <p:nvSpPr>
          <p:cNvPr id="5" name="TextBox 4"/>
          <p:cNvSpPr txBox="1"/>
          <p:nvPr/>
        </p:nvSpPr>
        <p:spPr>
          <a:xfrm>
            <a:off x="548640" y="2395728"/>
            <a:ext cx="6126480" cy="822960"/>
          </a:xfrm>
          <a:prstGeom prst="rect">
            <a:avLst/>
          </a:prstGeom>
          <a:noFill/>
        </p:spPr>
        <p:txBody>
          <a:bodyPr wrap="square" lIns="0" tIns="0" rIns="0" bIns="0" anchor="t">
            <a:spAutoFit/>
          </a:bodyPr>
          <a:lstStyle/>
          <a:p>
            <a:pPr algn="l">
              <a:lnSpc>
                <a:spcPct val="103000"/>
              </a:lnSpc>
            </a:pPr>
            <a:r>
              <a:rPr sz="1500" b="1" i="0">
                <a:solidFill>
                  <a:srgbClr val="1C7293"/>
                </a:solidFill>
                <a:latin typeface="Calibri"/>
              </a:rPr>
              <a:t>Authorization  </a:t>
            </a:r>
            <a:r>
              <a:rPr sz="1500" b="0" i="0">
                <a:solidFill>
                  <a:srgbClr val="1B2A3A"/>
                </a:solidFill>
                <a:latin typeface="Calibri"/>
              </a:rPr>
              <a:t>deciding what you may do once you're known.</a:t>
            </a:r>
          </a:p>
        </p:txBody>
      </p:sp>
      <p:sp>
        <p:nvSpPr>
          <p:cNvPr id="6" name="TextBox 5"/>
          <p:cNvSpPr txBox="1"/>
          <p:nvPr/>
        </p:nvSpPr>
        <p:spPr>
          <a:xfrm>
            <a:off x="548640" y="3054096"/>
            <a:ext cx="6126480" cy="822960"/>
          </a:xfrm>
          <a:prstGeom prst="rect">
            <a:avLst/>
          </a:prstGeom>
          <a:noFill/>
        </p:spPr>
        <p:txBody>
          <a:bodyPr wrap="square" lIns="0" tIns="0" rIns="0" bIns="0" anchor="t">
            <a:spAutoFit/>
          </a:bodyPr>
          <a:lstStyle/>
          <a:p>
            <a:pPr algn="l">
              <a:lnSpc>
                <a:spcPct val="103000"/>
              </a:lnSpc>
            </a:pPr>
            <a:r>
              <a:rPr sz="1500" b="1" i="0">
                <a:solidFill>
                  <a:srgbClr val="1C7293"/>
                </a:solidFill>
                <a:latin typeface="Calibri"/>
              </a:rPr>
              <a:t>OAuth 2.1  </a:t>
            </a:r>
            <a:r>
              <a:rPr sz="1500" b="0" i="0">
                <a:solidFill>
                  <a:srgbClr val="1B2A3A"/>
                </a:solidFill>
                <a:latin typeface="Calibri"/>
              </a:rPr>
              <a:t>the login system MCP adopted. You log in at a separate authorization server, which hands the app a token.</a:t>
            </a:r>
          </a:p>
        </p:txBody>
      </p:sp>
      <p:sp>
        <p:nvSpPr>
          <p:cNvPr id="7" name="TextBox 6"/>
          <p:cNvSpPr txBox="1"/>
          <p:nvPr/>
        </p:nvSpPr>
        <p:spPr>
          <a:xfrm>
            <a:off x="548640" y="3922776"/>
            <a:ext cx="6126480" cy="822960"/>
          </a:xfrm>
          <a:prstGeom prst="rect">
            <a:avLst/>
          </a:prstGeom>
          <a:noFill/>
        </p:spPr>
        <p:txBody>
          <a:bodyPr wrap="square" lIns="0" tIns="0" rIns="0" bIns="0" anchor="t">
            <a:spAutoFit/>
          </a:bodyPr>
          <a:lstStyle/>
          <a:p>
            <a:pPr algn="l">
              <a:lnSpc>
                <a:spcPct val="103000"/>
              </a:lnSpc>
            </a:pPr>
            <a:r>
              <a:rPr sz="1500" b="1" i="0">
                <a:solidFill>
                  <a:srgbClr val="1C7293"/>
                </a:solidFill>
                <a:latin typeface="Calibri"/>
              </a:rPr>
              <a:t>Token  </a:t>
            </a:r>
            <a:r>
              <a:rPr sz="1500" b="0" i="0">
                <a:solidFill>
                  <a:srgbClr val="1B2A3A"/>
                </a:solidFill>
                <a:latin typeface="Calibri"/>
              </a:rPr>
              <a:t>a digital ticket - whoever holds it gets in, so a stolen one is as good as the original.</a:t>
            </a:r>
          </a:p>
        </p:txBody>
      </p:sp>
      <p:sp>
        <p:nvSpPr>
          <p:cNvPr id="8" name="Rounded Rectangle 7"/>
          <p:cNvSpPr/>
          <p:nvPr/>
        </p:nvSpPr>
        <p:spPr>
          <a:xfrm>
            <a:off x="7040880" y="1783080"/>
            <a:ext cx="4480560" cy="658368"/>
          </a:xfrm>
          <a:prstGeom prst="roundRect">
            <a:avLst>
              <a:gd name="adj" fmla="val 6000"/>
            </a:avLst>
          </a:prstGeom>
          <a:solidFill>
            <a:srgbClr val="1B305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223760" y="1783080"/>
            <a:ext cx="4114800" cy="658368"/>
          </a:xfrm>
          <a:prstGeom prst="rect">
            <a:avLst/>
          </a:prstGeom>
          <a:noFill/>
        </p:spPr>
        <p:txBody>
          <a:bodyPr wrap="square" lIns="0" tIns="0" rIns="0" bIns="0" anchor="ctr">
            <a:spAutoFit/>
          </a:bodyPr>
          <a:lstStyle/>
          <a:p>
            <a:pPr algn="l"/>
            <a:r>
              <a:rPr sz="1400" b="1" i="0">
                <a:solidFill>
                  <a:srgbClr val="FFFFFF"/>
                </a:solidFill>
                <a:latin typeface="Calibri"/>
              </a:rPr>
              <a:t>User</a:t>
            </a:r>
          </a:p>
        </p:txBody>
      </p:sp>
      <p:sp>
        <p:nvSpPr>
          <p:cNvPr id="10" name="Rounded Rectangle 9"/>
          <p:cNvSpPr/>
          <p:nvPr/>
        </p:nvSpPr>
        <p:spPr>
          <a:xfrm>
            <a:off x="7040880" y="2624328"/>
            <a:ext cx="4480560" cy="658368"/>
          </a:xfrm>
          <a:prstGeom prst="roundRect">
            <a:avLst>
              <a:gd name="adj" fmla="val 6000"/>
            </a:avLst>
          </a:prstGeom>
          <a:solidFill>
            <a:srgbClr val="13405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223760" y="2624328"/>
            <a:ext cx="4114800" cy="658368"/>
          </a:xfrm>
          <a:prstGeom prst="rect">
            <a:avLst/>
          </a:prstGeom>
          <a:noFill/>
        </p:spPr>
        <p:txBody>
          <a:bodyPr wrap="square" lIns="0" tIns="0" rIns="0" bIns="0" anchor="ctr">
            <a:spAutoFit/>
          </a:bodyPr>
          <a:lstStyle/>
          <a:p>
            <a:pPr algn="l"/>
            <a:r>
              <a:rPr sz="1400" b="1" i="0">
                <a:solidFill>
                  <a:srgbClr val="FFFFFF"/>
                </a:solidFill>
                <a:latin typeface="Calibri"/>
              </a:rPr>
              <a:t>Client (the app)</a:t>
            </a:r>
          </a:p>
        </p:txBody>
      </p:sp>
      <p:sp>
        <p:nvSpPr>
          <p:cNvPr id="12" name="Rounded Rectangle 11"/>
          <p:cNvSpPr/>
          <p:nvPr/>
        </p:nvSpPr>
        <p:spPr>
          <a:xfrm>
            <a:off x="7040880" y="3465576"/>
            <a:ext cx="4480560" cy="658368"/>
          </a:xfrm>
          <a:prstGeom prst="roundRect">
            <a:avLst>
              <a:gd name="adj" fmla="val 6000"/>
            </a:avLst>
          </a:prstGeom>
          <a:solidFill>
            <a:srgbClr val="13405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223760" y="3465576"/>
            <a:ext cx="4114800" cy="658368"/>
          </a:xfrm>
          <a:prstGeom prst="rect">
            <a:avLst/>
          </a:prstGeom>
          <a:noFill/>
        </p:spPr>
        <p:txBody>
          <a:bodyPr wrap="square" lIns="0" tIns="0" rIns="0" bIns="0" anchor="ctr">
            <a:spAutoFit/>
          </a:bodyPr>
          <a:lstStyle/>
          <a:p>
            <a:pPr algn="l"/>
            <a:r>
              <a:rPr sz="1400" b="1" i="0">
                <a:solidFill>
                  <a:srgbClr val="FFFFFF"/>
                </a:solidFill>
                <a:latin typeface="Calibri"/>
              </a:rPr>
              <a:t>MCP server (tools)</a:t>
            </a:r>
          </a:p>
        </p:txBody>
      </p:sp>
      <p:sp>
        <p:nvSpPr>
          <p:cNvPr id="14" name="Rounded Rectangle 13"/>
          <p:cNvSpPr/>
          <p:nvPr/>
        </p:nvSpPr>
        <p:spPr>
          <a:xfrm>
            <a:off x="7040880" y="4306824"/>
            <a:ext cx="4480560" cy="658368"/>
          </a:xfrm>
          <a:prstGeom prst="roundRect">
            <a:avLst>
              <a:gd name="adj" fmla="val 6000"/>
            </a:avLst>
          </a:prstGeom>
          <a:solidFill>
            <a:srgbClr val="0E4E4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223760" y="4306824"/>
            <a:ext cx="4114800" cy="658368"/>
          </a:xfrm>
          <a:prstGeom prst="rect">
            <a:avLst/>
          </a:prstGeom>
          <a:noFill/>
        </p:spPr>
        <p:txBody>
          <a:bodyPr wrap="square" lIns="0" tIns="0" rIns="0" bIns="0" anchor="ctr">
            <a:spAutoFit/>
          </a:bodyPr>
          <a:lstStyle/>
          <a:p>
            <a:pPr algn="l"/>
            <a:r>
              <a:rPr sz="1400" b="1" i="0">
                <a:solidFill>
                  <a:srgbClr val="FFFFFF"/>
                </a:solidFill>
                <a:latin typeface="Calibri"/>
              </a:rPr>
              <a:t>Auth server (login)</a:t>
            </a:r>
          </a:p>
        </p:txBody>
      </p:sp>
      <p:sp>
        <p:nvSpPr>
          <p:cNvPr id="16" name="TextBox 15"/>
          <p:cNvSpPr txBox="1"/>
          <p:nvPr/>
        </p:nvSpPr>
        <p:spPr>
          <a:xfrm>
            <a:off x="7040880" y="5166359"/>
            <a:ext cx="4480560" cy="548640"/>
          </a:xfrm>
          <a:prstGeom prst="rect">
            <a:avLst/>
          </a:prstGeom>
          <a:noFill/>
        </p:spPr>
        <p:txBody>
          <a:bodyPr wrap="square" lIns="0" tIns="0" rIns="0" bIns="0" anchor="t">
            <a:spAutoFit/>
          </a:bodyPr>
          <a:lstStyle/>
          <a:p>
            <a:pPr algn="l"/>
            <a:r>
              <a:rPr sz="1200" b="0" i="1">
                <a:solidFill>
                  <a:srgbClr val="5C6B7A"/>
                </a:solidFill>
                <a:latin typeface="Calibri"/>
              </a:rPr>
              <a:t>The MCP server and the login server are often different companies.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RESEARCH QUESTION</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The one question we answer</a:t>
            </a:r>
          </a:p>
        </p:txBody>
      </p:sp>
      <p:sp>
        <p:nvSpPr>
          <p:cNvPr id="4" name="TextBox 3"/>
          <p:cNvSpPr txBox="1"/>
          <p:nvPr/>
        </p:nvSpPr>
        <p:spPr>
          <a:xfrm>
            <a:off x="548640" y="1691640"/>
            <a:ext cx="11091672" cy="457200"/>
          </a:xfrm>
          <a:prstGeom prst="rect">
            <a:avLst/>
          </a:prstGeom>
          <a:noFill/>
        </p:spPr>
        <p:txBody>
          <a:bodyPr wrap="square" lIns="0" tIns="0" rIns="0" bIns="0" anchor="t">
            <a:spAutoFit/>
          </a:bodyPr>
          <a:lstStyle/>
          <a:p>
            <a:pPr algn="l"/>
            <a:r>
              <a:rPr sz="1600" b="0" i="0">
                <a:solidFill>
                  <a:srgbClr val="1B2A3A"/>
                </a:solidFill>
                <a:latin typeface="Calibri"/>
              </a:rPr>
              <a:t>Project goal: map the gap between what the MCP spec </a:t>
            </a:r>
            <a:r>
              <a:rPr sz="1600" b="1" i="0">
                <a:solidFill>
                  <a:srgbClr val="1B2A3A"/>
                </a:solidFill>
                <a:latin typeface="Calibri"/>
              </a:rPr>
              <a:t>requires and recommends</a:t>
            </a:r>
            <a:r>
              <a:rPr sz="1600" b="0" i="0">
                <a:solidFill>
                  <a:srgbClr val="1B2A3A"/>
                </a:solidFill>
                <a:latin typeface="Calibri"/>
              </a:rPr>
              <a:t> and what real servers </a:t>
            </a:r>
            <a:r>
              <a:rPr sz="1600" b="1" i="0">
                <a:solidFill>
                  <a:srgbClr val="1B2A3A"/>
                </a:solidFill>
                <a:latin typeface="Calibri"/>
              </a:rPr>
              <a:t>do</a:t>
            </a:r>
            <a:r>
              <a:rPr sz="1600" b="0" i="0">
                <a:solidFill>
                  <a:srgbClr val="1B2A3A"/>
                </a:solidFill>
                <a:latin typeface="Calibri"/>
              </a:rPr>
              <a:t>.</a:t>
            </a:r>
          </a:p>
        </p:txBody>
      </p:sp>
      <p:sp>
        <p:nvSpPr>
          <p:cNvPr id="5" name="Rounded Rectangle 4"/>
          <p:cNvSpPr/>
          <p:nvPr/>
        </p:nvSpPr>
        <p:spPr>
          <a:xfrm>
            <a:off x="548640" y="2240280"/>
            <a:ext cx="11091672" cy="1280160"/>
          </a:xfrm>
          <a:prstGeom prst="roundRect">
            <a:avLst>
              <a:gd name="adj" fmla="val 6000"/>
            </a:avLst>
          </a:prstGeom>
          <a:solidFill>
            <a:srgbClr val="EEF3F8"/>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59" y="2286000"/>
            <a:ext cx="10543032" cy="1188720"/>
          </a:xfrm>
          <a:prstGeom prst="rect">
            <a:avLst/>
          </a:prstGeom>
          <a:noFill/>
        </p:spPr>
        <p:txBody>
          <a:bodyPr wrap="square" lIns="0" tIns="0" rIns="0" bIns="0" anchor="ctr">
            <a:spAutoFit/>
          </a:bodyPr>
          <a:lstStyle/>
          <a:p>
            <a:pPr algn="l">
              <a:lnSpc>
                <a:spcPct val="104000"/>
              </a:lnSpc>
            </a:pPr>
            <a:r>
              <a:rPr sz="1900" b="1" i="0">
                <a:solidFill>
                  <a:srgbClr val="1C7293"/>
                </a:solidFill>
                <a:latin typeface="Calibri"/>
              </a:rPr>
              <a:t>Our question:  </a:t>
            </a:r>
            <a:r>
              <a:rPr sz="1900" b="0" i="0">
                <a:solidFill>
                  <a:srgbClr val="1B2A3A"/>
                </a:solidFill>
                <a:latin typeface="Calibri"/>
              </a:rPr>
              <a:t>Do real MCP servers implement MCP's authorization rules correctly - and can an outside caller with no account verify it, with evidence?</a:t>
            </a:r>
          </a:p>
        </p:txBody>
      </p:sp>
      <p:sp>
        <p:nvSpPr>
          <p:cNvPr id="7" name="TextBox 6"/>
          <p:cNvSpPr txBox="1"/>
          <p:nvPr/>
        </p:nvSpPr>
        <p:spPr>
          <a:xfrm>
            <a:off x="548640" y="3794760"/>
            <a:ext cx="11091672" cy="1371600"/>
          </a:xfrm>
          <a:prstGeom prst="rect">
            <a:avLst/>
          </a:prstGeom>
          <a:noFill/>
        </p:spPr>
        <p:txBody>
          <a:bodyPr wrap="square" lIns="0" tIns="0" rIns="0" bIns="0" anchor="t">
            <a:spAutoFit/>
          </a:bodyPr>
          <a:lstStyle/>
          <a:p>
            <a:pPr algn="l">
              <a:lnSpc>
                <a:spcPct val="104000"/>
              </a:lnSpc>
              <a:spcAft>
                <a:spcPts val="1000"/>
              </a:spcAft>
            </a:pPr>
            <a:r>
              <a:rPr sz="1600" b="1" i="0">
                <a:solidFill>
                  <a:srgbClr val="1C7293"/>
                </a:solidFill>
                <a:latin typeface="Calibri"/>
              </a:rPr>
              <a:t>Concretely - </a:t>
            </a:r>
            <a:r>
              <a:rPr sz="1600" b="0" i="0">
                <a:solidFill>
                  <a:srgbClr val="1B2A3A"/>
                </a:solidFill>
                <a:latin typeface="Calibri"/>
              </a:rPr>
              <a:t>each check maps to a specific rule: is the traffic encrypted, is the login advertised, is it enforced, is OAuth configured safely.</a:t>
            </a:r>
          </a:p>
          <a:p>
            <a:pPr algn="l">
              <a:lnSpc>
                <a:spcPct val="104000"/>
              </a:lnSpc>
            </a:pPr>
            <a:r>
              <a:rPr sz="1600" b="1" i="0">
                <a:solidFill>
                  <a:srgbClr val="1C7293"/>
                </a:solidFill>
                <a:latin typeface="Calibri"/>
              </a:rPr>
              <a:t>From the outside - </a:t>
            </a:r>
            <a:r>
              <a:rPr sz="1600" b="0" i="0">
                <a:solidFill>
                  <a:srgbClr val="1B2A3A"/>
                </a:solidFill>
                <a:latin typeface="Calibri"/>
              </a:rPr>
              <a:t>every check works with no credentials, so it runs today against real public servers.</a:t>
            </a:r>
          </a:p>
        </p:txBody>
      </p:sp>
      <p:sp>
        <p:nvSpPr>
          <p:cNvPr id="8" name="TextBox 7"/>
          <p:cNvSpPr txBox="1"/>
          <p:nvPr/>
        </p:nvSpPr>
        <p:spPr>
          <a:xfrm>
            <a:off x="548640" y="5349240"/>
            <a:ext cx="11091672" cy="640080"/>
          </a:xfrm>
          <a:prstGeom prst="rect">
            <a:avLst/>
          </a:prstGeom>
          <a:noFill/>
        </p:spPr>
        <p:txBody>
          <a:bodyPr wrap="square" lIns="0" tIns="0" rIns="0" bIns="0" anchor="t">
            <a:spAutoFit/>
          </a:bodyPr>
          <a:lstStyle/>
          <a:p>
            <a:pPr algn="l">
              <a:lnSpc>
                <a:spcPct val="104000"/>
              </a:lnSpc>
            </a:pPr>
            <a:r>
              <a:rPr sz="1400" b="0" i="1">
                <a:solidFill>
                  <a:srgbClr val="5C6B7A"/>
                </a:solidFill>
                <a:latin typeface="Calibri"/>
              </a:rPr>
              <a:t>The boundary: we measure what a server </a:t>
            </a:r>
            <a:r>
              <a:rPr sz="1400" b="1" i="1">
                <a:solidFill>
                  <a:srgbClr val="12233F"/>
                </a:solidFill>
                <a:latin typeface="Calibri"/>
              </a:rPr>
              <a:t>advertises and enforces at its front door</a:t>
            </a:r>
            <a:r>
              <a:rPr sz="1400" b="0" i="1">
                <a:solidFill>
                  <a:srgbClr val="5C6B7A"/>
                </a:solidFill>
                <a:latin typeface="Calibri"/>
              </a:rPr>
              <a:t> - not whether the login is sound once you are through 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METHOD</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How login works - and where the scanner stops</a:t>
            </a:r>
          </a:p>
        </p:txBody>
      </p:sp>
      <p:sp>
        <p:nvSpPr>
          <p:cNvPr id="4" name="Rounded Rectangle 3"/>
          <p:cNvSpPr/>
          <p:nvPr/>
        </p:nvSpPr>
        <p:spPr>
          <a:xfrm>
            <a:off x="548640" y="1783080"/>
            <a:ext cx="6583680" cy="1051560"/>
          </a:xfrm>
          <a:prstGeom prst="roundRect">
            <a:avLst>
              <a:gd name="adj" fmla="val 6000"/>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783080"/>
            <a:ext cx="731520" cy="1051560"/>
          </a:xfrm>
          <a:prstGeom prst="rect">
            <a:avLst/>
          </a:prstGeom>
          <a:noFill/>
        </p:spPr>
        <p:txBody>
          <a:bodyPr wrap="square" lIns="0" tIns="0" rIns="0" bIns="0" anchor="ctr">
            <a:spAutoFit/>
          </a:bodyPr>
          <a:lstStyle/>
          <a:p>
            <a:pPr algn="ctr"/>
            <a:r>
              <a:rPr sz="3400" b="1" i="0">
                <a:solidFill>
                  <a:srgbClr val="FFFFFF"/>
                </a:solidFill>
                <a:latin typeface="Calibri"/>
              </a:rPr>
              <a:t>1</a:t>
            </a:r>
          </a:p>
        </p:txBody>
      </p:sp>
      <p:sp>
        <p:nvSpPr>
          <p:cNvPr id="6" name="TextBox 5"/>
          <p:cNvSpPr txBox="1"/>
          <p:nvPr/>
        </p:nvSpPr>
        <p:spPr>
          <a:xfrm>
            <a:off x="1554480" y="1874519"/>
            <a:ext cx="5486400" cy="868680"/>
          </a:xfrm>
          <a:prstGeom prst="rect">
            <a:avLst/>
          </a:prstGeom>
          <a:noFill/>
        </p:spPr>
        <p:txBody>
          <a:bodyPr wrap="square" lIns="0" tIns="0" rIns="0" bIns="0" anchor="ctr">
            <a:spAutoFit/>
          </a:bodyPr>
          <a:lstStyle/>
          <a:p>
            <a:pPr algn="l">
              <a:spcAft>
                <a:spcPts val="300"/>
              </a:spcAft>
            </a:pPr>
            <a:r>
              <a:rPr sz="1500" b="1" i="0">
                <a:solidFill>
                  <a:srgbClr val="FFFFFF"/>
                </a:solidFill>
                <a:latin typeface="Calibri"/>
              </a:rPr>
              <a:t>Ask with no token</a:t>
            </a:r>
          </a:p>
          <a:p>
            <a:pPr algn="l"/>
            <a:r>
              <a:rPr sz="1250" b="0" i="0">
                <a:solidFill>
                  <a:srgbClr val="E6EEF5"/>
                </a:solidFill>
                <a:latin typeface="Calibri"/>
              </a:rPr>
              <a:t>A protected server answers 401 “log in first” and points at its login-info page.</a:t>
            </a:r>
          </a:p>
        </p:txBody>
      </p:sp>
      <p:sp>
        <p:nvSpPr>
          <p:cNvPr id="7" name="Rounded Rectangle 6"/>
          <p:cNvSpPr/>
          <p:nvPr/>
        </p:nvSpPr>
        <p:spPr>
          <a:xfrm>
            <a:off x="548640" y="3017520"/>
            <a:ext cx="6583680" cy="1051560"/>
          </a:xfrm>
          <a:prstGeom prst="roundRect">
            <a:avLst>
              <a:gd name="adj" fmla="val 6000"/>
            </a:avLst>
          </a:prstGeom>
          <a:solidFill>
            <a:srgbClr val="13405A"/>
          </a:solidFill>
          <a:ln w="12700">
            <a:solidFill>
              <a:srgbClr val="1340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3017520"/>
            <a:ext cx="731520" cy="1051560"/>
          </a:xfrm>
          <a:prstGeom prst="rect">
            <a:avLst/>
          </a:prstGeom>
          <a:noFill/>
        </p:spPr>
        <p:txBody>
          <a:bodyPr wrap="square" lIns="0" tIns="0" rIns="0" bIns="0" anchor="ctr">
            <a:spAutoFit/>
          </a:bodyPr>
          <a:lstStyle/>
          <a:p>
            <a:pPr algn="ctr"/>
            <a:r>
              <a:rPr sz="3400" b="1" i="0">
                <a:solidFill>
                  <a:srgbClr val="FFFFFF"/>
                </a:solidFill>
                <a:latin typeface="Calibri"/>
              </a:rPr>
              <a:t>2</a:t>
            </a:r>
          </a:p>
        </p:txBody>
      </p:sp>
      <p:sp>
        <p:nvSpPr>
          <p:cNvPr id="9" name="TextBox 8"/>
          <p:cNvSpPr txBox="1"/>
          <p:nvPr/>
        </p:nvSpPr>
        <p:spPr>
          <a:xfrm>
            <a:off x="1554480" y="3108960"/>
            <a:ext cx="5486400" cy="868680"/>
          </a:xfrm>
          <a:prstGeom prst="rect">
            <a:avLst/>
          </a:prstGeom>
          <a:noFill/>
        </p:spPr>
        <p:txBody>
          <a:bodyPr wrap="square" lIns="0" tIns="0" rIns="0" bIns="0" anchor="ctr">
            <a:spAutoFit/>
          </a:bodyPr>
          <a:lstStyle/>
          <a:p>
            <a:pPr algn="l">
              <a:spcAft>
                <a:spcPts val="300"/>
              </a:spcAft>
            </a:pPr>
            <a:r>
              <a:rPr sz="1500" b="1" i="0">
                <a:solidFill>
                  <a:srgbClr val="FFFFFF"/>
                </a:solidFill>
                <a:latin typeface="Calibri"/>
              </a:rPr>
              <a:t>Get a token</a:t>
            </a:r>
          </a:p>
          <a:p>
            <a:pPr algn="l"/>
            <a:r>
              <a:rPr sz="1250" b="0" i="0">
                <a:solidFill>
                  <a:srgbClr val="E6EEF5"/>
                </a:solidFill>
                <a:latin typeface="Calibri"/>
              </a:rPr>
              <a:t>Read the public login pages, send the user to log in, receive a token.</a:t>
            </a:r>
          </a:p>
        </p:txBody>
      </p:sp>
      <p:sp>
        <p:nvSpPr>
          <p:cNvPr id="10" name="Rounded Rectangle 9"/>
          <p:cNvSpPr/>
          <p:nvPr/>
        </p:nvSpPr>
        <p:spPr>
          <a:xfrm>
            <a:off x="548640" y="4251960"/>
            <a:ext cx="6583680" cy="105156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4251960"/>
            <a:ext cx="731520" cy="1051560"/>
          </a:xfrm>
          <a:prstGeom prst="rect">
            <a:avLst/>
          </a:prstGeom>
          <a:noFill/>
        </p:spPr>
        <p:txBody>
          <a:bodyPr wrap="square" lIns="0" tIns="0" rIns="0" bIns="0" anchor="ctr">
            <a:spAutoFit/>
          </a:bodyPr>
          <a:lstStyle/>
          <a:p>
            <a:pPr algn="ctr"/>
            <a:r>
              <a:rPr sz="3400" b="1" i="0">
                <a:solidFill>
                  <a:srgbClr val="5C6B7A"/>
                </a:solidFill>
                <a:latin typeface="Calibri"/>
              </a:rPr>
              <a:t>3</a:t>
            </a:r>
          </a:p>
        </p:txBody>
      </p:sp>
      <p:sp>
        <p:nvSpPr>
          <p:cNvPr id="12" name="TextBox 11"/>
          <p:cNvSpPr txBox="1"/>
          <p:nvPr/>
        </p:nvSpPr>
        <p:spPr>
          <a:xfrm>
            <a:off x="1554480" y="4343400"/>
            <a:ext cx="5486400" cy="868680"/>
          </a:xfrm>
          <a:prstGeom prst="rect">
            <a:avLst/>
          </a:prstGeom>
          <a:noFill/>
        </p:spPr>
        <p:txBody>
          <a:bodyPr wrap="square" lIns="0" tIns="0" rIns="0" bIns="0" anchor="ctr">
            <a:spAutoFit/>
          </a:bodyPr>
          <a:lstStyle/>
          <a:p>
            <a:pPr algn="l">
              <a:spcAft>
                <a:spcPts val="300"/>
              </a:spcAft>
            </a:pPr>
            <a:r>
              <a:rPr sz="1500" b="1" i="0">
                <a:solidFill>
                  <a:srgbClr val="5C6B7A"/>
                </a:solidFill>
                <a:latin typeface="Calibri"/>
              </a:rPr>
              <a:t>Ask again, now with the token</a:t>
            </a:r>
          </a:p>
          <a:p>
            <a:pPr algn="l"/>
            <a:r>
              <a:rPr sz="1250" b="0" i="0">
                <a:solidFill>
                  <a:srgbClr val="5C6B7A"/>
                </a:solidFill>
                <a:latin typeface="Calibri"/>
              </a:rPr>
              <a:t>Only now does the conversation actually open.</a:t>
            </a:r>
          </a:p>
        </p:txBody>
      </p:sp>
      <p:sp>
        <p:nvSpPr>
          <p:cNvPr id="13" name="Rounded Rectangle 12"/>
          <p:cNvSpPr/>
          <p:nvPr/>
        </p:nvSpPr>
        <p:spPr>
          <a:xfrm>
            <a:off x="7498079" y="1783080"/>
            <a:ext cx="4160520" cy="4160520"/>
          </a:xfrm>
          <a:prstGeom prst="roundRect">
            <a:avLst>
              <a:gd name="adj" fmla="val 6000"/>
            </a:avLst>
          </a:prstGeom>
          <a:solidFill>
            <a:srgbClr val="1B305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0" y="2011680"/>
            <a:ext cx="3657600" cy="3749039"/>
          </a:xfrm>
          <a:prstGeom prst="rect">
            <a:avLst/>
          </a:prstGeom>
          <a:noFill/>
        </p:spPr>
        <p:txBody>
          <a:bodyPr wrap="square" lIns="0" tIns="0" rIns="0" bIns="0" anchor="ctr">
            <a:spAutoFit/>
          </a:bodyPr>
          <a:lstStyle/>
          <a:p>
            <a:pPr algn="l">
              <a:lnSpc>
                <a:spcPct val="106000"/>
              </a:lnSpc>
              <a:spcAft>
                <a:spcPts val="200"/>
              </a:spcAft>
            </a:pPr>
            <a:r>
              <a:rPr sz="2000" b="1" i="0">
                <a:solidFill>
                  <a:srgbClr val="FFFFFF"/>
                </a:solidFill>
                <a:latin typeface="Calibri"/>
              </a:rPr>
              <a:t>We do step 1,</a:t>
            </a:r>
          </a:p>
          <a:p>
            <a:pPr algn="l">
              <a:lnSpc>
                <a:spcPct val="106000"/>
              </a:lnSpc>
              <a:spcAft>
                <a:spcPts val="1200"/>
              </a:spcAft>
            </a:pPr>
            <a:r>
              <a:rPr sz="2000" b="1" i="0">
                <a:solidFill>
                  <a:srgbClr val="02C39A"/>
                </a:solidFill>
                <a:latin typeface="Calibri"/>
              </a:rPr>
              <a:t>and the read-only half of step 2.</a:t>
            </a:r>
          </a:p>
          <a:p>
            <a:pPr algn="l">
              <a:lnSpc>
                <a:spcPct val="106000"/>
              </a:lnSpc>
              <a:spcAft>
                <a:spcPts val="1000"/>
              </a:spcAft>
            </a:pPr>
            <a:r>
              <a:rPr sz="1400" b="0" i="0">
                <a:solidFill>
                  <a:srgbClr val="CADCFC"/>
                </a:solidFill>
                <a:latin typeface="Calibri"/>
              </a:rPr>
              <a:t>The login pages are public and need no token - that is what makes half the checks possible.</a:t>
            </a:r>
          </a:p>
          <a:p>
            <a:pPr algn="l">
              <a:lnSpc>
                <a:spcPct val="106000"/>
              </a:lnSpc>
            </a:pPr>
            <a:r>
              <a:rPr sz="1400" b="0" i="0">
                <a:solidFill>
                  <a:srgbClr val="CADCFC"/>
                </a:solidFill>
                <a:latin typeface="Calibri"/>
              </a:rPr>
              <a:t>We never obtain a token and never reach step 3. So every verdict describes what a server does for a caller holding nothing.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METHOD</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One scan, start to finish</a:t>
            </a:r>
          </a:p>
        </p:txBody>
      </p:sp>
      <p:sp>
        <p:nvSpPr>
          <p:cNvPr id="4" name="Rounded Rectangle 3"/>
          <p:cNvSpPr/>
          <p:nvPr/>
        </p:nvSpPr>
        <p:spPr>
          <a:xfrm>
            <a:off x="548640" y="2011680"/>
            <a:ext cx="1965960" cy="105156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011680"/>
            <a:ext cx="1965960" cy="1051560"/>
          </a:xfrm>
          <a:prstGeom prst="rect">
            <a:avLst/>
          </a:prstGeom>
          <a:noFill/>
        </p:spPr>
        <p:txBody>
          <a:bodyPr wrap="square" lIns="0" tIns="0" rIns="0" bIns="0" anchor="ctr">
            <a:spAutoFit/>
          </a:bodyPr>
          <a:lstStyle/>
          <a:p>
            <a:pPr algn="ctr"/>
            <a:r>
              <a:rPr sz="1300" b="1" i="0">
                <a:solidFill>
                  <a:srgbClr val="12233F"/>
                </a:solidFill>
                <a:latin typeface="Calibri"/>
              </a:rPr>
              <a:t>Validate
the target</a:t>
            </a:r>
          </a:p>
        </p:txBody>
      </p:sp>
      <p:sp>
        <p:nvSpPr>
          <p:cNvPr id="6" name="Right Arrow 5"/>
          <p:cNvSpPr/>
          <p:nvPr/>
        </p:nvSpPr>
        <p:spPr>
          <a:xfrm>
            <a:off x="2532888" y="2441448"/>
            <a:ext cx="256032" cy="201168"/>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807208" y="2011680"/>
            <a:ext cx="1965960" cy="105156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07208" y="2011680"/>
            <a:ext cx="1965960" cy="1051560"/>
          </a:xfrm>
          <a:prstGeom prst="rect">
            <a:avLst/>
          </a:prstGeom>
          <a:noFill/>
        </p:spPr>
        <p:txBody>
          <a:bodyPr wrap="square" lIns="0" tIns="0" rIns="0" bIns="0" anchor="ctr">
            <a:spAutoFit/>
          </a:bodyPr>
          <a:lstStyle/>
          <a:p>
            <a:pPr algn="ctr"/>
            <a:r>
              <a:rPr sz="1300" b="1" i="0">
                <a:solidFill>
                  <a:srgbClr val="12233F"/>
                </a:solidFill>
                <a:latin typeface="Calibri"/>
              </a:rPr>
              <a:t>Handshake
(once)</a:t>
            </a:r>
          </a:p>
        </p:txBody>
      </p:sp>
      <p:sp>
        <p:nvSpPr>
          <p:cNvPr id="9" name="Right Arrow 8"/>
          <p:cNvSpPr/>
          <p:nvPr/>
        </p:nvSpPr>
        <p:spPr>
          <a:xfrm>
            <a:off x="4791455" y="2441448"/>
            <a:ext cx="256032" cy="201168"/>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065775" y="2011680"/>
            <a:ext cx="1965960" cy="105156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65775" y="2011680"/>
            <a:ext cx="1965960" cy="1051560"/>
          </a:xfrm>
          <a:prstGeom prst="rect">
            <a:avLst/>
          </a:prstGeom>
          <a:noFill/>
        </p:spPr>
        <p:txBody>
          <a:bodyPr wrap="square" lIns="0" tIns="0" rIns="0" bIns="0" anchor="ctr">
            <a:spAutoFit/>
          </a:bodyPr>
          <a:lstStyle/>
          <a:p>
            <a:pPr algn="ctr"/>
            <a:r>
              <a:rPr sz="1300" b="1" i="0">
                <a:solidFill>
                  <a:srgbClr val="12233F"/>
                </a:solidFill>
                <a:latin typeface="Calibri"/>
              </a:rPr>
              <a:t>Find the login
pages (once)</a:t>
            </a:r>
          </a:p>
        </p:txBody>
      </p:sp>
      <p:sp>
        <p:nvSpPr>
          <p:cNvPr id="12" name="Right Arrow 11"/>
          <p:cNvSpPr/>
          <p:nvPr/>
        </p:nvSpPr>
        <p:spPr>
          <a:xfrm>
            <a:off x="7050023" y="2441448"/>
            <a:ext cx="256032" cy="201168"/>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324344" y="2011680"/>
            <a:ext cx="1965960" cy="1051560"/>
          </a:xfrm>
          <a:prstGeom prst="roundRect">
            <a:avLst>
              <a:gd name="adj" fmla="val 6000"/>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24344" y="2011680"/>
            <a:ext cx="1965960" cy="1051560"/>
          </a:xfrm>
          <a:prstGeom prst="rect">
            <a:avLst/>
          </a:prstGeom>
          <a:noFill/>
        </p:spPr>
        <p:txBody>
          <a:bodyPr wrap="square" lIns="0" tIns="0" rIns="0" bIns="0" anchor="ctr">
            <a:spAutoFit/>
          </a:bodyPr>
          <a:lstStyle/>
          <a:p>
            <a:pPr algn="ctr"/>
            <a:r>
              <a:rPr sz="1300" b="1" i="0">
                <a:solidFill>
                  <a:srgbClr val="FFFFFF"/>
                </a:solidFill>
                <a:latin typeface="Calibri"/>
              </a:rPr>
              <a:t>Run all checks
concurrently</a:t>
            </a:r>
          </a:p>
        </p:txBody>
      </p:sp>
      <p:sp>
        <p:nvSpPr>
          <p:cNvPr id="15" name="Right Arrow 14"/>
          <p:cNvSpPr/>
          <p:nvPr/>
        </p:nvSpPr>
        <p:spPr>
          <a:xfrm>
            <a:off x="9308592" y="2441448"/>
            <a:ext cx="256032" cy="201168"/>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9582911" y="2011680"/>
            <a:ext cx="1965960" cy="105156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582911" y="2011680"/>
            <a:ext cx="1965960" cy="1051560"/>
          </a:xfrm>
          <a:prstGeom prst="rect">
            <a:avLst/>
          </a:prstGeom>
          <a:noFill/>
        </p:spPr>
        <p:txBody>
          <a:bodyPr wrap="square" lIns="0" tIns="0" rIns="0" bIns="0" anchor="ctr">
            <a:spAutoFit/>
          </a:bodyPr>
          <a:lstStyle/>
          <a:p>
            <a:pPr algn="ctr"/>
            <a:r>
              <a:rPr sz="1300" b="1" i="0">
                <a:solidFill>
                  <a:srgbClr val="12233F"/>
                </a:solidFill>
                <a:latin typeface="Calibri"/>
              </a:rPr>
              <a:t>Release +
build report</a:t>
            </a:r>
          </a:p>
        </p:txBody>
      </p:sp>
      <p:sp>
        <p:nvSpPr>
          <p:cNvPr id="18" name="TextBox 17"/>
          <p:cNvSpPr txBox="1"/>
          <p:nvPr/>
        </p:nvSpPr>
        <p:spPr>
          <a:xfrm>
            <a:off x="548640" y="3291840"/>
            <a:ext cx="11091672" cy="2651760"/>
          </a:xfrm>
          <a:prstGeom prst="rect">
            <a:avLst/>
          </a:prstGeom>
          <a:noFill/>
        </p:spPr>
        <p:txBody>
          <a:bodyPr wrap="square" lIns="0" tIns="0" rIns="0" bIns="0" anchor="t">
            <a:spAutoFit/>
          </a:bodyPr>
          <a:lstStyle/>
          <a:p>
            <a:pPr algn="l">
              <a:lnSpc>
                <a:spcPct val="103000"/>
              </a:lnSpc>
              <a:spcAft>
                <a:spcPts val="800"/>
              </a:spcAft>
            </a:pPr>
            <a:r>
              <a:rPr sz="1400" b="0" i="0">
                <a:solidFill>
                  <a:srgbClr val="1B2A3A"/>
                </a:solidFill>
                <a:latin typeface="Calibri"/>
              </a:rPr>
              <a:t>•  Validate the target: confirm the URL is well-formed and safe to contact - the containment check (slide 9) - before any traffic is sent.</a:t>
            </a:r>
          </a:p>
          <a:p>
            <a:pPr algn="l">
              <a:lnSpc>
                <a:spcPct val="103000"/>
              </a:lnSpc>
              <a:spcAft>
                <a:spcPts val="800"/>
              </a:spcAft>
            </a:pPr>
            <a:r>
              <a:rPr sz="1400" b="0" i="0">
                <a:solidFill>
                  <a:srgbClr val="1B2A3A"/>
                </a:solidFill>
                <a:latin typeface="Calibri"/>
              </a:rPr>
              <a:t>•  Handshake: the opening MCP “initialize” exchange. The server may hand back a session id - a temporary “same conversation” label, not a password. We replay it so a server that merely wants one is not mistaken for secured.</a:t>
            </a:r>
          </a:p>
          <a:p>
            <a:pPr algn="l">
              <a:lnSpc>
                <a:spcPct val="103000"/>
              </a:lnSpc>
              <a:spcAft>
                <a:spcPts val="800"/>
              </a:spcAft>
            </a:pPr>
            <a:r>
              <a:rPr sz="1400" b="0" i="0">
                <a:solidFill>
                  <a:srgbClr val="1B2A3A"/>
                </a:solidFill>
                <a:latin typeface="Calibri"/>
              </a:rPr>
              <a:t>•  Find the login pages: two public pages - where to log in, and the login server's own description. Two, because the MCP server and login server are often different companies. Fetched once and shared by every check that needs them.</a:t>
            </a:r>
          </a:p>
          <a:p>
            <a:pPr algn="l">
              <a:lnSpc>
                <a:spcPct val="103000"/>
              </a:lnSpc>
              <a:spcAft>
                <a:spcPts val="0"/>
              </a:spcAft>
            </a:pPr>
            <a:r>
              <a:rPr sz="1400" b="0" i="0">
                <a:solidFill>
                  <a:srgbClr val="1B2A3A"/>
                </a:solidFill>
                <a:latin typeface="Calibri"/>
              </a:rPr>
              <a:t>•  Checks run concurrently; none reads another's answer, so order never changes a result. A crash becomes an ERROR verdict, not a crashed scan. A full read-only scan is about 19 requests.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METHOD</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Five possible answers - including an honest “I don't know”</a:t>
            </a:r>
          </a:p>
        </p:txBody>
      </p:sp>
      <p:sp>
        <p:nvSpPr>
          <p:cNvPr id="4" name="Rounded Rectangle 3"/>
          <p:cNvSpPr/>
          <p:nvPr/>
        </p:nvSpPr>
        <p:spPr>
          <a:xfrm>
            <a:off x="548640" y="1874519"/>
            <a:ext cx="2468880" cy="566928"/>
          </a:xfrm>
          <a:prstGeom prst="roundRect">
            <a:avLst>
              <a:gd name="adj" fmla="val 6000"/>
            </a:avLst>
          </a:prstGeom>
          <a:solidFill>
            <a:srgbClr val="FFFFFF"/>
          </a:solidFill>
          <a:ln w="1905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874519"/>
            <a:ext cx="2468880" cy="566928"/>
          </a:xfrm>
          <a:prstGeom prst="rect">
            <a:avLst/>
          </a:prstGeom>
          <a:noFill/>
        </p:spPr>
        <p:txBody>
          <a:bodyPr wrap="square" lIns="0" tIns="0" rIns="0" bIns="0" anchor="ctr">
            <a:spAutoFit/>
          </a:bodyPr>
          <a:lstStyle/>
          <a:p>
            <a:pPr algn="ctr"/>
            <a:r>
              <a:rPr sz="1300" b="1" i="0">
                <a:solidFill>
                  <a:srgbClr val="B23A3A"/>
                </a:solidFill>
                <a:latin typeface="Courier New"/>
              </a:rPr>
              <a:t>HAS_GAP</a:t>
            </a:r>
          </a:p>
        </p:txBody>
      </p:sp>
      <p:sp>
        <p:nvSpPr>
          <p:cNvPr id="6" name="TextBox 5"/>
          <p:cNvSpPr txBox="1"/>
          <p:nvPr/>
        </p:nvSpPr>
        <p:spPr>
          <a:xfrm>
            <a:off x="3246120" y="1874519"/>
            <a:ext cx="3931920" cy="566928"/>
          </a:xfrm>
          <a:prstGeom prst="rect">
            <a:avLst/>
          </a:prstGeom>
          <a:noFill/>
        </p:spPr>
        <p:txBody>
          <a:bodyPr wrap="square" lIns="0" tIns="0" rIns="0" bIns="0" anchor="ctr">
            <a:spAutoFit/>
          </a:bodyPr>
          <a:lstStyle/>
          <a:p>
            <a:pPr algn="l"/>
            <a:r>
              <a:rPr sz="1400" b="0" i="0">
                <a:solidFill>
                  <a:srgbClr val="1B2A3A"/>
                </a:solidFill>
                <a:latin typeface="Calibri"/>
              </a:rPr>
              <a:t>the weakness is really there</a:t>
            </a:r>
          </a:p>
        </p:txBody>
      </p:sp>
      <p:sp>
        <p:nvSpPr>
          <p:cNvPr id="7" name="Rounded Rectangle 6"/>
          <p:cNvSpPr/>
          <p:nvPr/>
        </p:nvSpPr>
        <p:spPr>
          <a:xfrm>
            <a:off x="548640" y="2587752"/>
            <a:ext cx="2468880" cy="566928"/>
          </a:xfrm>
          <a:prstGeom prst="roundRect">
            <a:avLst>
              <a:gd name="adj" fmla="val 6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2587752"/>
            <a:ext cx="2468880" cy="566928"/>
          </a:xfrm>
          <a:prstGeom prst="rect">
            <a:avLst/>
          </a:prstGeom>
          <a:noFill/>
        </p:spPr>
        <p:txBody>
          <a:bodyPr wrap="square" lIns="0" tIns="0" rIns="0" bIns="0" anchor="ctr">
            <a:spAutoFit/>
          </a:bodyPr>
          <a:lstStyle/>
          <a:p>
            <a:pPr algn="ctr"/>
            <a:r>
              <a:rPr sz="1300" b="1" i="0">
                <a:solidFill>
                  <a:srgbClr val="2E7D32"/>
                </a:solidFill>
                <a:latin typeface="Courier New"/>
              </a:rPr>
              <a:t>NO_GAP</a:t>
            </a:r>
          </a:p>
        </p:txBody>
      </p:sp>
      <p:sp>
        <p:nvSpPr>
          <p:cNvPr id="9" name="TextBox 8"/>
          <p:cNvSpPr txBox="1"/>
          <p:nvPr/>
        </p:nvSpPr>
        <p:spPr>
          <a:xfrm>
            <a:off x="3246120" y="2587752"/>
            <a:ext cx="3931920" cy="566928"/>
          </a:xfrm>
          <a:prstGeom prst="rect">
            <a:avLst/>
          </a:prstGeom>
          <a:noFill/>
        </p:spPr>
        <p:txBody>
          <a:bodyPr wrap="square" lIns="0" tIns="0" rIns="0" bIns="0" anchor="ctr">
            <a:spAutoFit/>
          </a:bodyPr>
          <a:lstStyle/>
          <a:p>
            <a:pPr algn="l"/>
            <a:r>
              <a:rPr sz="1400" b="0" i="0">
                <a:solidFill>
                  <a:srgbClr val="1B2A3A"/>
                </a:solidFill>
                <a:latin typeface="Calibri"/>
              </a:rPr>
              <a:t>the server handles it correctly</a:t>
            </a:r>
          </a:p>
        </p:txBody>
      </p:sp>
      <p:sp>
        <p:nvSpPr>
          <p:cNvPr id="10" name="Rounded Rectangle 9"/>
          <p:cNvSpPr/>
          <p:nvPr/>
        </p:nvSpPr>
        <p:spPr>
          <a:xfrm>
            <a:off x="548640" y="3300984"/>
            <a:ext cx="2468880" cy="566928"/>
          </a:xfrm>
          <a:prstGeom prst="roundRect">
            <a:avLst>
              <a:gd name="adj" fmla="val 6000"/>
            </a:avLst>
          </a:prstGeom>
          <a:solidFill>
            <a:srgbClr val="FFFFFF"/>
          </a:solidFill>
          <a:ln w="19050">
            <a:solidFill>
              <a:srgbClr val="5C6B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3300984"/>
            <a:ext cx="2468880" cy="566928"/>
          </a:xfrm>
          <a:prstGeom prst="rect">
            <a:avLst/>
          </a:prstGeom>
          <a:noFill/>
        </p:spPr>
        <p:txBody>
          <a:bodyPr wrap="square" lIns="0" tIns="0" rIns="0" bIns="0" anchor="ctr">
            <a:spAutoFit/>
          </a:bodyPr>
          <a:lstStyle/>
          <a:p>
            <a:pPr algn="ctr"/>
            <a:r>
              <a:rPr sz="1300" b="1" i="0">
                <a:solidFill>
                  <a:srgbClr val="5C6B7A"/>
                </a:solidFill>
                <a:latin typeface="Courier New"/>
              </a:rPr>
              <a:t>NOT_APPLICABLE</a:t>
            </a:r>
          </a:p>
        </p:txBody>
      </p:sp>
      <p:sp>
        <p:nvSpPr>
          <p:cNvPr id="12" name="TextBox 11"/>
          <p:cNvSpPr txBox="1"/>
          <p:nvPr/>
        </p:nvSpPr>
        <p:spPr>
          <a:xfrm>
            <a:off x="3246120" y="3300984"/>
            <a:ext cx="3931920" cy="566928"/>
          </a:xfrm>
          <a:prstGeom prst="rect">
            <a:avLst/>
          </a:prstGeom>
          <a:noFill/>
        </p:spPr>
        <p:txBody>
          <a:bodyPr wrap="square" lIns="0" tIns="0" rIns="0" bIns="0" anchor="ctr">
            <a:spAutoFit/>
          </a:bodyPr>
          <a:lstStyle/>
          <a:p>
            <a:pPr algn="l"/>
            <a:r>
              <a:rPr sz="1400" b="0" i="0">
                <a:solidFill>
                  <a:srgbClr val="1B2A3A"/>
                </a:solidFill>
                <a:latin typeface="Calibri"/>
              </a:rPr>
              <a:t>the check cannot apply here</a:t>
            </a:r>
          </a:p>
        </p:txBody>
      </p:sp>
      <p:sp>
        <p:nvSpPr>
          <p:cNvPr id="13" name="Rounded Rectangle 12"/>
          <p:cNvSpPr/>
          <p:nvPr/>
        </p:nvSpPr>
        <p:spPr>
          <a:xfrm>
            <a:off x="548640" y="4014216"/>
            <a:ext cx="2468880" cy="566928"/>
          </a:xfrm>
          <a:prstGeom prst="roundRect">
            <a:avLst>
              <a:gd name="adj" fmla="val 6000"/>
            </a:avLst>
          </a:prstGeom>
          <a:solidFill>
            <a:srgbClr val="FFFFFF"/>
          </a:solidFill>
          <a:ln w="19050">
            <a:solidFill>
              <a:srgbClr val="B47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4014216"/>
            <a:ext cx="2468880" cy="566928"/>
          </a:xfrm>
          <a:prstGeom prst="rect">
            <a:avLst/>
          </a:prstGeom>
          <a:noFill/>
        </p:spPr>
        <p:txBody>
          <a:bodyPr wrap="square" lIns="0" tIns="0" rIns="0" bIns="0" anchor="ctr">
            <a:spAutoFit/>
          </a:bodyPr>
          <a:lstStyle/>
          <a:p>
            <a:pPr algn="ctr"/>
            <a:r>
              <a:rPr sz="1300" b="1" i="0">
                <a:solidFill>
                  <a:srgbClr val="B4740A"/>
                </a:solidFill>
                <a:latin typeface="Courier New"/>
              </a:rPr>
              <a:t>INCONCLUSIVE</a:t>
            </a:r>
          </a:p>
        </p:txBody>
      </p:sp>
      <p:sp>
        <p:nvSpPr>
          <p:cNvPr id="15" name="TextBox 14"/>
          <p:cNvSpPr txBox="1"/>
          <p:nvPr/>
        </p:nvSpPr>
        <p:spPr>
          <a:xfrm>
            <a:off x="3246120" y="4014216"/>
            <a:ext cx="3931920" cy="566928"/>
          </a:xfrm>
          <a:prstGeom prst="rect">
            <a:avLst/>
          </a:prstGeom>
          <a:noFill/>
        </p:spPr>
        <p:txBody>
          <a:bodyPr wrap="square" lIns="0" tIns="0" rIns="0" bIns="0" anchor="ctr">
            <a:spAutoFit/>
          </a:bodyPr>
          <a:lstStyle/>
          <a:p>
            <a:pPr algn="l"/>
            <a:r>
              <a:rPr sz="1400" b="0" i="0">
                <a:solidFill>
                  <a:srgbClr val="1B2A3A"/>
                </a:solidFill>
                <a:latin typeface="Calibri"/>
              </a:rPr>
              <a:t>we tried; the reply didn't let us decide</a:t>
            </a:r>
          </a:p>
        </p:txBody>
      </p:sp>
      <p:sp>
        <p:nvSpPr>
          <p:cNvPr id="16" name="Rounded Rectangle 15"/>
          <p:cNvSpPr/>
          <p:nvPr/>
        </p:nvSpPr>
        <p:spPr>
          <a:xfrm>
            <a:off x="548640" y="4727448"/>
            <a:ext cx="2468880" cy="566928"/>
          </a:xfrm>
          <a:prstGeom prst="roundRect">
            <a:avLst>
              <a:gd name="adj" fmla="val 6000"/>
            </a:avLst>
          </a:prstGeom>
          <a:solidFill>
            <a:srgbClr val="FFFFFF"/>
          </a:solidFill>
          <a:ln w="19050">
            <a:solidFill>
              <a:srgbClr val="5C6B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8640" y="4727448"/>
            <a:ext cx="2468880" cy="566928"/>
          </a:xfrm>
          <a:prstGeom prst="rect">
            <a:avLst/>
          </a:prstGeom>
          <a:noFill/>
        </p:spPr>
        <p:txBody>
          <a:bodyPr wrap="square" lIns="0" tIns="0" rIns="0" bIns="0" anchor="ctr">
            <a:spAutoFit/>
          </a:bodyPr>
          <a:lstStyle/>
          <a:p>
            <a:pPr algn="ctr"/>
            <a:r>
              <a:rPr sz="1300" b="1" i="0">
                <a:solidFill>
                  <a:srgbClr val="5C6B7A"/>
                </a:solidFill>
                <a:latin typeface="Courier New"/>
              </a:rPr>
              <a:t>ERROR</a:t>
            </a:r>
          </a:p>
        </p:txBody>
      </p:sp>
      <p:sp>
        <p:nvSpPr>
          <p:cNvPr id="18" name="TextBox 17"/>
          <p:cNvSpPr txBox="1"/>
          <p:nvPr/>
        </p:nvSpPr>
        <p:spPr>
          <a:xfrm>
            <a:off x="3246120" y="4727448"/>
            <a:ext cx="3931920" cy="566928"/>
          </a:xfrm>
          <a:prstGeom prst="rect">
            <a:avLst/>
          </a:prstGeom>
          <a:noFill/>
        </p:spPr>
        <p:txBody>
          <a:bodyPr wrap="square" lIns="0" tIns="0" rIns="0" bIns="0" anchor="ctr">
            <a:spAutoFit/>
          </a:bodyPr>
          <a:lstStyle/>
          <a:p>
            <a:pPr algn="l"/>
            <a:r>
              <a:rPr sz="1400" b="0" i="0">
                <a:solidFill>
                  <a:srgbClr val="1B2A3A"/>
                </a:solidFill>
                <a:latin typeface="Calibri"/>
              </a:rPr>
              <a:t>the check itself could not run</a:t>
            </a:r>
          </a:p>
        </p:txBody>
      </p:sp>
      <p:sp>
        <p:nvSpPr>
          <p:cNvPr id="19" name="Rounded Rectangle 18"/>
          <p:cNvSpPr/>
          <p:nvPr/>
        </p:nvSpPr>
        <p:spPr>
          <a:xfrm>
            <a:off x="7452360" y="1874519"/>
            <a:ext cx="4206240" cy="356616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26679" y="2103120"/>
            <a:ext cx="3703320" cy="3200400"/>
          </a:xfrm>
          <a:prstGeom prst="rect">
            <a:avLst/>
          </a:prstGeom>
          <a:noFill/>
        </p:spPr>
        <p:txBody>
          <a:bodyPr wrap="square" lIns="0" tIns="0" rIns="0" bIns="0" anchor="t">
            <a:spAutoFit/>
          </a:bodyPr>
          <a:lstStyle/>
          <a:p>
            <a:pPr algn="l">
              <a:lnSpc>
                <a:spcPct val="104000"/>
              </a:lnSpc>
              <a:spcAft>
                <a:spcPts val="1000"/>
              </a:spcAft>
            </a:pPr>
            <a:r>
              <a:rPr sz="1700" b="1" i="0">
                <a:solidFill>
                  <a:srgbClr val="12233F"/>
                </a:solidFill>
                <a:latin typeface="Calibri"/>
              </a:rPr>
              <a:t>INCONCLUSIVE is a real result - not a failure.</a:t>
            </a:r>
          </a:p>
          <a:p>
            <a:pPr algn="l">
              <a:lnSpc>
                <a:spcPct val="104000"/>
              </a:lnSpc>
              <a:spcAft>
                <a:spcPts val="1000"/>
              </a:spcAft>
            </a:pPr>
            <a:r>
              <a:rPr sz="1400" b="0" i="0">
                <a:solidFill>
                  <a:srgbClr val="1B2A3A"/>
                </a:solidFill>
                <a:latin typeface="Calibri"/>
              </a:rPr>
              <a:t>We refuse to guess: when a reply doesn't let us decide, saying so beats a false pass or a false alarm.</a:t>
            </a:r>
          </a:p>
          <a:p>
            <a:pPr algn="l">
              <a:lnSpc>
                <a:spcPct val="104000"/>
              </a:lnSpc>
            </a:pPr>
            <a:r>
              <a:rPr sz="1350" b="0" i="0">
                <a:solidFill>
                  <a:srgbClr val="1B2A3A"/>
                </a:solidFill>
                <a:latin typeface="Calibri"/>
              </a:rPr>
              <a:t>Example - check #14 asks the login server to send the user back to an </a:t>
            </a:r>
            <a:r>
              <a:rPr sz="1350" b="0" i="1">
                <a:solidFill>
                  <a:srgbClr val="1B2A3A"/>
                </a:solidFill>
                <a:latin typeface="Calibri"/>
              </a:rPr>
              <a:t>unregistered</a:t>
            </a:r>
            <a:r>
              <a:rPr sz="1350" b="0" i="0">
                <a:solidFill>
                  <a:srgbClr val="1B2A3A"/>
                </a:solidFill>
                <a:latin typeface="Calibri"/>
              </a:rPr>
              <a:t> address. A correct server refuses; a broken one obeys. But many just answer 200 with a login page - and since we never log in, we can't see which way it resolves. Not a pass, not a gap: INCONCLUSIVE.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METHOD</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Every answer carries its evidence</a:t>
            </a:r>
          </a:p>
        </p:txBody>
      </p:sp>
      <p:sp>
        <p:nvSpPr>
          <p:cNvPr id="4" name="TextBox 3"/>
          <p:cNvSpPr txBox="1"/>
          <p:nvPr/>
        </p:nvSpPr>
        <p:spPr>
          <a:xfrm>
            <a:off x="548640" y="1737360"/>
            <a:ext cx="5943600" cy="1463040"/>
          </a:xfrm>
          <a:prstGeom prst="rect">
            <a:avLst/>
          </a:prstGeom>
          <a:noFill/>
        </p:spPr>
        <p:txBody>
          <a:bodyPr wrap="square" lIns="0" tIns="0" rIns="0" bIns="0" anchor="t">
            <a:spAutoFit/>
          </a:bodyPr>
          <a:lstStyle/>
          <a:p>
            <a:pPr algn="l">
              <a:lnSpc>
                <a:spcPct val="105000"/>
              </a:lnSpc>
              <a:spcAft>
                <a:spcPts val="1000"/>
              </a:spcAft>
            </a:pPr>
            <a:r>
              <a:rPr sz="1600" b="0" i="0">
                <a:solidFill>
                  <a:srgbClr val="1B2A3A"/>
                </a:solidFill>
                <a:latin typeface="Calibri"/>
              </a:rPr>
              <a:t>Each finding records the exact request we sent and the reply we got - the URL, the method, which headers we chose (an Authorization header is never present), and the response body.</a:t>
            </a:r>
          </a:p>
          <a:p>
            <a:pPr algn="l">
              <a:lnSpc>
                <a:spcPct val="105000"/>
              </a:lnSpc>
            </a:pPr>
            <a:r>
              <a:rPr sz="1600" b="0" i="0">
                <a:solidFill>
                  <a:srgbClr val="1B2A3A"/>
                </a:solidFill>
                <a:latin typeface="Calibri"/>
              </a:rPr>
              <a:t>A verdict is only trustworthy if the report also shows what was asked. All 83 servers' raw output is committed, so any claim in this talk is re-checkable.</a:t>
            </a:r>
          </a:p>
        </p:txBody>
      </p:sp>
      <p:sp>
        <p:nvSpPr>
          <p:cNvPr id="5" name="Rounded Rectangle 4"/>
          <p:cNvSpPr/>
          <p:nvPr/>
        </p:nvSpPr>
        <p:spPr>
          <a:xfrm>
            <a:off x="6858000" y="1783080"/>
            <a:ext cx="4800600" cy="3749039"/>
          </a:xfrm>
          <a:prstGeom prst="roundRect">
            <a:avLst>
              <a:gd name="adj" fmla="val 6000"/>
            </a:avLst>
          </a:prstGeom>
          <a:solidFill>
            <a:srgbClr val="0E1B2E"/>
          </a:solidFill>
          <a:ln w="12700">
            <a:solidFill>
              <a:srgbClr val="122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0" y="2011680"/>
            <a:ext cx="4297680" cy="3383280"/>
          </a:xfrm>
          <a:prstGeom prst="rect">
            <a:avLst/>
          </a:prstGeom>
          <a:noFill/>
        </p:spPr>
        <p:txBody>
          <a:bodyPr wrap="square" lIns="0" tIns="0" rIns="0" bIns="0" anchor="t">
            <a:spAutoFit/>
          </a:bodyPr>
          <a:lstStyle/>
          <a:p>
            <a:pPr algn="l">
              <a:lnSpc>
                <a:spcPct val="115000"/>
              </a:lnSpc>
              <a:spcAft>
                <a:spcPts val="800"/>
              </a:spcAft>
            </a:pPr>
            <a:r>
              <a:rPr sz="1300" b="1" i="0">
                <a:solidFill>
                  <a:srgbClr val="02C39A"/>
                </a:solidFill>
                <a:latin typeface="Courier New"/>
              </a:rPr>
              <a:t>one finding (shape)</a:t>
            </a:r>
          </a:p>
          <a:p>
            <a:pPr algn="l">
              <a:lnSpc>
                <a:spcPct val="115000"/>
              </a:lnSpc>
            </a:pPr>
            <a:r>
              <a:rPr sz="1250" b="0" i="0">
                <a:solidFill>
                  <a:srgbClr val="CADCFC"/>
                </a:solidFill>
                <a:latin typeface="Courier New"/>
              </a:rPr>
              <a:t>gap:      no-authentication-remote</a:t>
            </a:r>
          </a:p>
          <a:p>
            <a:pPr algn="l">
              <a:lnSpc>
                <a:spcPct val="115000"/>
              </a:lnSpc>
            </a:pPr>
            <a:r>
              <a:rPr sz="1250" b="0" i="0">
                <a:solidFill>
                  <a:srgbClr val="8FE3C9"/>
                </a:solidFill>
                <a:latin typeface="Courier New"/>
              </a:rPr>
              <a:t>verdict:  HAS_GAP</a:t>
            </a:r>
          </a:p>
          <a:p>
            <a:pPr algn="l">
              <a:lnSpc>
                <a:spcPct val="115000"/>
              </a:lnSpc>
            </a:pPr>
            <a:r>
              <a:rPr sz="1250" b="0" i="0">
                <a:solidFill>
                  <a:srgbClr val="CADCFC"/>
                </a:solidFill>
                <a:latin typeface="Courier New"/>
              </a:rPr>
              <a:t>severity: medium</a:t>
            </a:r>
          </a:p>
          <a:p>
            <a:pPr algn="l">
              <a:lnSpc>
                <a:spcPct val="115000"/>
              </a:lnSpc>
            </a:pPr>
            <a:r>
              <a:rPr sz="1250" b="0" i="0">
                <a:solidFill>
                  <a:srgbClr val="CADCFC"/>
                </a:solidFill>
                <a:latin typeface="Courier New"/>
              </a:rPr>
              <a:t>request:  POST /mcp  tools/list</a:t>
            </a:r>
          </a:p>
          <a:p>
            <a:pPr algn="l">
              <a:lnSpc>
                <a:spcPct val="115000"/>
              </a:lnSpc>
            </a:pPr>
            <a:r>
              <a:rPr sz="1250" b="0" i="0">
                <a:solidFill>
                  <a:srgbClr val="CADCFC"/>
                </a:solidFill>
                <a:latin typeface="Courier New"/>
              </a:rPr>
              <a:t>          (NO Authorization header)</a:t>
            </a:r>
          </a:p>
          <a:p>
            <a:pPr algn="l">
              <a:lnSpc>
                <a:spcPct val="115000"/>
              </a:lnSpc>
            </a:pPr>
            <a:r>
              <a:rPr sz="1250" b="0" i="0">
                <a:solidFill>
                  <a:srgbClr val="8FE3C9"/>
                </a:solidFill>
                <a:latin typeface="Courier New"/>
              </a:rPr>
              <a:t>response: HTTP 200  { 71 tools }</a:t>
            </a:r>
          </a:p>
          <a:p>
            <a:pPr algn="l">
              <a:lnSpc>
                <a:spcPct val="115000"/>
              </a:lnSpc>
            </a:pPr>
            <a:r>
              <a:rPr sz="1250" b="0" i="0">
                <a:solidFill>
                  <a:srgbClr val="CADCFC"/>
                </a:solidFill>
                <a:latin typeface="Courier New"/>
              </a:rPr>
              <a:t>rule:     MCP Transports §Security</a:t>
            </a:r>
          </a:p>
        </p:txBody>
      </p:sp>
      <p:sp>
        <p:nvSpPr>
          <p:cNvPr id="7" name="TextBox 6"/>
          <p:cNvSpPr txBox="1"/>
          <p:nvPr/>
        </p:nvSpPr>
        <p:spPr>
          <a:xfrm>
            <a:off x="548640" y="3749039"/>
            <a:ext cx="5943600" cy="1280160"/>
          </a:xfrm>
          <a:prstGeom prst="rect">
            <a:avLst/>
          </a:prstGeom>
          <a:noFill/>
        </p:spPr>
        <p:txBody>
          <a:bodyPr wrap="square" lIns="0" tIns="0" rIns="0" bIns="0" anchor="t">
            <a:spAutoFit/>
          </a:bodyPr>
          <a:lstStyle/>
          <a:p>
            <a:pPr algn="l">
              <a:lnSpc>
                <a:spcPct val="105000"/>
              </a:lnSpc>
            </a:pPr>
            <a:r>
              <a:rPr sz="1400" b="0" i="1">
                <a:solidFill>
                  <a:srgbClr val="5C6B7A"/>
                </a:solidFill>
                <a:latin typeface="Calibri"/>
              </a:rPr>
              <a:t>When a reply contains a secret - a token or client secret - we blank its value before writing to disk (client_secret: &lt;redacted&gt;), but keep the field name so the evidence still shows what the server returned.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METHOD</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A safety problem we had to solve: containment</a:t>
            </a:r>
          </a:p>
        </p:txBody>
      </p:sp>
      <p:sp>
        <p:nvSpPr>
          <p:cNvPr id="4" name="TextBox 3"/>
          <p:cNvSpPr txBox="1"/>
          <p:nvPr/>
        </p:nvSpPr>
        <p:spPr>
          <a:xfrm>
            <a:off x="548640" y="1691640"/>
            <a:ext cx="6126480" cy="1280160"/>
          </a:xfrm>
          <a:prstGeom prst="rect">
            <a:avLst/>
          </a:prstGeom>
          <a:noFill/>
        </p:spPr>
        <p:txBody>
          <a:bodyPr wrap="square" lIns="0" tIns="0" rIns="0" bIns="0" anchor="t">
            <a:spAutoFit/>
          </a:bodyPr>
          <a:lstStyle/>
          <a:p>
            <a:pPr algn="l">
              <a:lnSpc>
                <a:spcPct val="105000"/>
              </a:lnSpc>
            </a:pPr>
            <a:r>
              <a:rPr sz="1500" b="0" i="0">
                <a:solidFill>
                  <a:srgbClr val="1B2A3A"/>
                </a:solidFill>
                <a:latin typeface="Calibri"/>
              </a:rPr>
              <a:t>After the first request, almost every address the scanner visits is one the scanned server chose - where to log in, where to register. If we followed those blindly, a malicious server could aim our scanner at a victim of its choosing, and our tool would do the hitting for it.</a:t>
            </a:r>
          </a:p>
        </p:txBody>
      </p:sp>
      <p:sp>
        <p:nvSpPr>
          <p:cNvPr id="5" name="TextBox 4"/>
          <p:cNvSpPr txBox="1"/>
          <p:nvPr/>
        </p:nvSpPr>
        <p:spPr>
          <a:xfrm>
            <a:off x="548640" y="3063240"/>
            <a:ext cx="6126480" cy="1371600"/>
          </a:xfrm>
          <a:prstGeom prst="rect">
            <a:avLst/>
          </a:prstGeom>
          <a:noFill/>
        </p:spPr>
        <p:txBody>
          <a:bodyPr wrap="square" lIns="0" tIns="0" rIns="0" bIns="0" anchor="t">
            <a:spAutoFit/>
          </a:bodyPr>
          <a:lstStyle/>
          <a:p>
            <a:pPr algn="l">
              <a:lnSpc>
                <a:spcPct val="103000"/>
              </a:lnSpc>
              <a:spcAft>
                <a:spcPts val="1000"/>
              </a:spcAft>
            </a:pPr>
            <a:r>
              <a:rPr sz="1400" b="0" i="0">
                <a:solidFill>
                  <a:srgbClr val="1B2A3A"/>
                </a:solidFill>
                <a:latin typeface="Calibri"/>
              </a:rPr>
              <a:t>•  Each target-chosen address is checked twice: as written, and again at the IP it actually resolves to (blocks a name pointed at 127.0.0.1, an internal network, or a cloud metadata service).</a:t>
            </a:r>
          </a:p>
          <a:p>
            <a:pPr algn="l">
              <a:lnSpc>
                <a:spcPct val="103000"/>
              </a:lnSpc>
              <a:spcAft>
                <a:spcPts val="0"/>
              </a:spcAft>
            </a:pPr>
            <a:r>
              <a:rPr sz="1400" b="0" i="0">
                <a:solidFill>
                  <a:srgbClr val="1B2A3A"/>
                </a:solidFill>
                <a:latin typeface="Calibri"/>
              </a:rPr>
              <a:t>•  The only writes we make (registering a client) may reach the scanned server itself or a sibling on the same registered domain - never an unrelated third party.</a:t>
            </a:r>
          </a:p>
        </p:txBody>
      </p:sp>
      <p:sp>
        <p:nvSpPr>
          <p:cNvPr id="6" name="Rounded Rectangle 5"/>
          <p:cNvSpPr/>
          <p:nvPr/>
        </p:nvSpPr>
        <p:spPr>
          <a:xfrm>
            <a:off x="548640" y="4709160"/>
            <a:ext cx="6126480" cy="1280160"/>
          </a:xfrm>
          <a:prstGeom prst="roundRect">
            <a:avLst>
              <a:gd name="adj" fmla="val 6000"/>
            </a:avLst>
          </a:prstGeom>
          <a:solidFill>
            <a:srgbClr val="FBEFD8"/>
          </a:solidFill>
          <a:ln w="19050">
            <a:solidFill>
              <a:srgbClr val="B47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4828032"/>
            <a:ext cx="5669280" cy="1051560"/>
          </a:xfrm>
          <a:prstGeom prst="rect">
            <a:avLst/>
          </a:prstGeom>
          <a:noFill/>
        </p:spPr>
        <p:txBody>
          <a:bodyPr wrap="square" lIns="0" tIns="0" rIns="0" bIns="0" anchor="ctr">
            <a:spAutoFit/>
          </a:bodyPr>
          <a:lstStyle/>
          <a:p>
            <a:pPr algn="l">
              <a:lnSpc>
                <a:spcPct val="104000"/>
              </a:lnSpc>
            </a:pPr>
            <a:r>
              <a:rPr sz="1300" b="0" i="0">
                <a:solidFill>
                  <a:srgbClr val="1B2A3A"/>
                </a:solidFill>
                <a:latin typeface="Calibri"/>
              </a:rPr>
              <a:t>Real incident: while scanning api.serff.ai, an early version followed that server's own metadata to a registration endpoint on api.llow.io - a different company we never listed - and registered a client there. We added containment in response; it has since blocked one such cross-domain write (to login.semgrep.dev).</a:t>
            </a:r>
          </a:p>
        </p:txBody>
      </p:sp>
      <p:sp>
        <p:nvSpPr>
          <p:cNvPr id="8" name="Rounded Rectangle 7"/>
          <p:cNvSpPr/>
          <p:nvPr/>
        </p:nvSpPr>
        <p:spPr>
          <a:xfrm>
            <a:off x="7086600" y="2194560"/>
            <a:ext cx="2011680" cy="868680"/>
          </a:xfrm>
          <a:prstGeom prst="roundRect">
            <a:avLst>
              <a:gd name="adj" fmla="val 6000"/>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086600" y="2194560"/>
            <a:ext cx="2011680" cy="868680"/>
          </a:xfrm>
          <a:prstGeom prst="rect">
            <a:avLst/>
          </a:prstGeom>
          <a:noFill/>
        </p:spPr>
        <p:txBody>
          <a:bodyPr wrap="square" lIns="0" tIns="0" rIns="0" bIns="0" anchor="ctr">
            <a:spAutoFit/>
          </a:bodyPr>
          <a:lstStyle/>
          <a:p>
            <a:pPr algn="ctr"/>
            <a:r>
              <a:rPr sz="1300" b="1" i="0">
                <a:solidFill>
                  <a:srgbClr val="FFFFFF"/>
                </a:solidFill>
                <a:latin typeface="Calibri"/>
              </a:rPr>
              <a:t>Scanned
server</a:t>
            </a:r>
          </a:p>
        </p:txBody>
      </p:sp>
      <p:sp>
        <p:nvSpPr>
          <p:cNvPr id="10" name="Rounded Rectangle 9"/>
          <p:cNvSpPr/>
          <p:nvPr/>
        </p:nvSpPr>
        <p:spPr>
          <a:xfrm>
            <a:off x="9601200" y="2194560"/>
            <a:ext cx="2011680" cy="868680"/>
          </a:xfrm>
          <a:prstGeom prst="roundRect">
            <a:avLst>
              <a:gd name="adj" fmla="val 6000"/>
            </a:avLst>
          </a:prstGeom>
          <a:solidFill>
            <a:srgbClr val="F3D9D9"/>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0" y="2194560"/>
            <a:ext cx="2011680" cy="868680"/>
          </a:xfrm>
          <a:prstGeom prst="rect">
            <a:avLst/>
          </a:prstGeom>
          <a:noFill/>
        </p:spPr>
        <p:txBody>
          <a:bodyPr wrap="square" lIns="0" tIns="0" rIns="0" bIns="0" anchor="ctr">
            <a:spAutoFit/>
          </a:bodyPr>
          <a:lstStyle/>
          <a:p>
            <a:pPr algn="ctr"/>
            <a:r>
              <a:rPr sz="1300" b="1" i="0">
                <a:solidFill>
                  <a:srgbClr val="B23A3A"/>
                </a:solidFill>
                <a:latin typeface="Calibri"/>
              </a:rPr>
              <a:t>Unrelated
third party</a:t>
            </a:r>
          </a:p>
        </p:txBody>
      </p:sp>
      <p:sp>
        <p:nvSpPr>
          <p:cNvPr id="12" name="Right Arrow 11"/>
          <p:cNvSpPr/>
          <p:nvPr/>
        </p:nvSpPr>
        <p:spPr>
          <a:xfrm>
            <a:off x="9116568" y="2487168"/>
            <a:ext cx="457200" cy="274320"/>
          </a:xfrm>
          <a:prstGeom prst="rightArrow">
            <a:avLst/>
          </a:pr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41080" y="2788920"/>
            <a:ext cx="2194560" cy="274320"/>
          </a:xfrm>
          <a:prstGeom prst="rect">
            <a:avLst/>
          </a:prstGeom>
          <a:noFill/>
        </p:spPr>
        <p:txBody>
          <a:bodyPr wrap="square" lIns="0" tIns="0" rIns="0" bIns="0" anchor="t">
            <a:spAutoFit/>
          </a:bodyPr>
          <a:lstStyle/>
          <a:p>
            <a:pPr algn="ctr"/>
            <a:r>
              <a:rPr sz="1000" b="0" i="1">
                <a:solidFill>
                  <a:srgbClr val="B23A3A"/>
                </a:solidFill>
                <a:latin typeface="Calibri"/>
              </a:rPr>
              <a:t>“register over there →”</a:t>
            </a:r>
          </a:p>
        </p:txBody>
      </p:sp>
      <p:sp>
        <p:nvSpPr>
          <p:cNvPr id="14" name="Rounded Rectangle 13"/>
          <p:cNvSpPr/>
          <p:nvPr/>
        </p:nvSpPr>
        <p:spPr>
          <a:xfrm>
            <a:off x="8092440" y="3520440"/>
            <a:ext cx="2560320" cy="640080"/>
          </a:xfrm>
          <a:prstGeom prst="roundRect">
            <a:avLst>
              <a:gd name="adj" fmla="val 6000"/>
            </a:avLst>
          </a:prstGeom>
          <a:solidFill>
            <a:srgbClr val="12233F"/>
          </a:solidFill>
          <a:ln w="12700">
            <a:solidFill>
              <a:srgbClr val="122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92440" y="3520440"/>
            <a:ext cx="2560320" cy="640080"/>
          </a:xfrm>
          <a:prstGeom prst="rect">
            <a:avLst/>
          </a:prstGeom>
          <a:noFill/>
        </p:spPr>
        <p:txBody>
          <a:bodyPr wrap="square" lIns="0" tIns="0" rIns="0" bIns="0" anchor="ctr">
            <a:spAutoFit/>
          </a:bodyPr>
          <a:lstStyle/>
          <a:p>
            <a:pPr algn="ctr"/>
            <a:r>
              <a:rPr sz="1400" b="1" i="0">
                <a:solidFill>
                  <a:srgbClr val="02C39A"/>
                </a:solidFill>
                <a:latin typeface="Calibri"/>
              </a:rPr>
              <a:t>✕  guard blocks it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THE CHECKS</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The 14 checks</a:t>
            </a:r>
          </a:p>
        </p:txBody>
      </p:sp>
      <p:sp>
        <p:nvSpPr>
          <p:cNvPr id="4" name="TextBox 3"/>
          <p:cNvSpPr txBox="1"/>
          <p:nvPr/>
        </p:nvSpPr>
        <p:spPr>
          <a:xfrm>
            <a:off x="548640" y="1371600"/>
            <a:ext cx="11091672" cy="365760"/>
          </a:xfrm>
          <a:prstGeom prst="rect">
            <a:avLst/>
          </a:prstGeom>
          <a:noFill/>
        </p:spPr>
        <p:txBody>
          <a:bodyPr wrap="square" lIns="0" tIns="0" rIns="0" bIns="0" anchor="t">
            <a:spAutoFit/>
          </a:bodyPr>
          <a:lstStyle/>
          <a:p>
            <a:pPr algn="l"/>
            <a:r>
              <a:rPr sz="1400" b="0" i="1">
                <a:solidFill>
                  <a:srgbClr val="5C6B7A"/>
                </a:solidFill>
                <a:latin typeface="Calibri"/>
              </a:rPr>
              <a:t>One check per known weakness, each anchored to a MUST or SHOULD in the spec. Twelve are read-only; two register a client and are off by default.</a:t>
            </a:r>
          </a:p>
        </p:txBody>
      </p:sp>
      <p:graphicFrame>
        <p:nvGraphicFramePr>
          <p:cNvPr id="5" name="Table 4"/>
          <p:cNvGraphicFramePr>
            <a:graphicFrameLocks noGrp="1"/>
          </p:cNvGraphicFramePr>
          <p:nvPr/>
        </p:nvGraphicFramePr>
        <p:xfrm>
          <a:off x="548640" y="1828800"/>
          <a:ext cx="11064239" cy="4526280"/>
        </p:xfrm>
        <a:graphic>
          <a:graphicData uri="http://schemas.openxmlformats.org/drawingml/2006/table">
            <a:tbl>
              <a:tblPr>
                <a:tableStyleId>{5C22544A-7EE6-4342-B048-85BDC9FD1C3A}</a:tableStyleId>
              </a:tblPr>
              <a:tblGrid>
                <a:gridCol w="502920">
                  <a:extLst>
                    <a:ext uri="{9D8B030D-6E8A-4147-A177-3AD203B41FA5}">
                      <a16:colId xmlns:a16="http://schemas.microsoft.com/office/drawing/2014/main" val="20000"/>
                    </a:ext>
                  </a:extLst>
                </a:gridCol>
                <a:gridCol w="3977639">
                  <a:extLst>
                    <a:ext uri="{9D8B030D-6E8A-4147-A177-3AD203B41FA5}">
                      <a16:colId xmlns:a16="http://schemas.microsoft.com/office/drawing/2014/main" val="20001"/>
                    </a:ext>
                  </a:extLst>
                </a:gridCol>
                <a:gridCol w="44348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tblGrid>
              <a:tr h="301752">
                <a:tc>
                  <a:txBody>
                    <a:bodyPr/>
                    <a:lstStyle/>
                    <a:p>
                      <a:pPr algn="ctr"/>
                      <a:r>
                        <a:rPr sz="1100" b="1">
                          <a:solidFill>
                            <a:srgbClr val="FFFFFF"/>
                          </a:solidFill>
                          <a:latin typeface="Calibri"/>
                        </a:rPr>
                        <a:t>#</a:t>
                      </a:r>
                    </a:p>
                  </a:txBody>
                  <a:tcPr anchor="ctr">
                    <a:solidFill>
                      <a:srgbClr val="12233F"/>
                    </a:solidFill>
                  </a:tcPr>
                </a:tc>
                <a:tc>
                  <a:txBody>
                    <a:bodyPr/>
                    <a:lstStyle/>
                    <a:p>
                      <a:pPr algn="l"/>
                      <a:r>
                        <a:rPr sz="1100" b="1">
                          <a:solidFill>
                            <a:srgbClr val="FFFFFF"/>
                          </a:solidFill>
                          <a:latin typeface="Calibri"/>
                        </a:rPr>
                        <a:t>Check</a:t>
                      </a:r>
                    </a:p>
                  </a:txBody>
                  <a:tcPr anchor="ctr">
                    <a:solidFill>
                      <a:srgbClr val="12233F"/>
                    </a:solidFill>
                  </a:tcPr>
                </a:tc>
                <a:tc>
                  <a:txBody>
                    <a:bodyPr/>
                    <a:lstStyle/>
                    <a:p>
                      <a:pPr algn="l"/>
                      <a:r>
                        <a:rPr sz="1100" b="1">
                          <a:solidFill>
                            <a:srgbClr val="FFFFFF"/>
                          </a:solidFill>
                          <a:latin typeface="Calibri"/>
                        </a:rPr>
                        <a:t>What it asks</a:t>
                      </a:r>
                    </a:p>
                  </a:txBody>
                  <a:tcPr anchor="ctr">
                    <a:solidFill>
                      <a:srgbClr val="12233F"/>
                    </a:solidFill>
                  </a:tcPr>
                </a:tc>
                <a:tc>
                  <a:txBody>
                    <a:bodyPr/>
                    <a:lstStyle/>
                    <a:p>
                      <a:pPr algn="ctr"/>
                      <a:r>
                        <a:rPr sz="1100" b="1">
                          <a:solidFill>
                            <a:srgbClr val="FFFFFF"/>
                          </a:solidFill>
                          <a:latin typeface="Calibri"/>
                        </a:rPr>
                        <a:t>Rule</a:t>
                      </a:r>
                    </a:p>
                  </a:txBody>
                  <a:tcPr anchor="ctr">
                    <a:solidFill>
                      <a:srgbClr val="12233F"/>
                    </a:solidFill>
                  </a:tcPr>
                </a:tc>
                <a:tc>
                  <a:txBody>
                    <a:bodyPr/>
                    <a:lstStyle/>
                    <a:p>
                      <a:pPr algn="ctr"/>
                      <a:r>
                        <a:rPr sz="1100" b="1">
                          <a:solidFill>
                            <a:srgbClr val="FFFFFF"/>
                          </a:solidFill>
                          <a:latin typeface="Calibri"/>
                        </a:rPr>
                        <a:t>Sev</a:t>
                      </a:r>
                    </a:p>
                  </a:txBody>
                  <a:tcPr anchor="ctr">
                    <a:solidFill>
                      <a:srgbClr val="12233F"/>
                    </a:solidFill>
                  </a:tcPr>
                </a:tc>
                <a:extLst>
                  <a:ext uri="{0D108BD9-81ED-4DB2-BD59-A6C34878D82A}">
                    <a16:rowId xmlns:a16="http://schemas.microsoft.com/office/drawing/2014/main" val="10000"/>
                  </a:ext>
                </a:extLst>
              </a:tr>
              <a:tr h="301752">
                <a:tc>
                  <a:txBody>
                    <a:bodyPr/>
                    <a:lstStyle/>
                    <a:p>
                      <a:pPr algn="ctr"/>
                      <a:r>
                        <a:rPr sz="1050" b="1">
                          <a:solidFill>
                            <a:srgbClr val="1C7293"/>
                          </a:solidFill>
                          <a:latin typeface="Calibri"/>
                        </a:rPr>
                        <a:t>1</a:t>
                      </a:r>
                    </a:p>
                  </a:txBody>
                  <a:tcPr marT="12700" marB="12700" anchor="ctr">
                    <a:solidFill>
                      <a:srgbClr val="FFFFFF"/>
                    </a:solidFill>
                  </a:tcPr>
                </a:tc>
                <a:tc>
                  <a:txBody>
                    <a:bodyPr/>
                    <a:lstStyle/>
                    <a:p>
                      <a:pPr algn="l"/>
                      <a:r>
                        <a:rPr sz="1050" b="0">
                          <a:solidFill>
                            <a:srgbClr val="1B2A3A"/>
                          </a:solidFill>
                          <a:latin typeface="Courier New"/>
                        </a:rPr>
                        <a:t>no-authentication-remote</a:t>
                      </a:r>
                    </a:p>
                  </a:txBody>
                  <a:tcPr marT="12700" marB="12700" anchor="ctr">
                    <a:solidFill>
                      <a:srgbClr val="FFFFFF"/>
                    </a:solidFill>
                  </a:tcPr>
                </a:tc>
                <a:tc>
                  <a:txBody>
                    <a:bodyPr/>
                    <a:lstStyle/>
                    <a:p>
                      <a:pPr algn="l"/>
                      <a:r>
                        <a:rPr sz="1050" b="0">
                          <a:solidFill>
                            <a:srgbClr val="1B2A3A"/>
                          </a:solidFill>
                          <a:latin typeface="Calibri"/>
                        </a:rPr>
                        <a:t>Can a stranger list the tools?</a:t>
                      </a:r>
                    </a:p>
                  </a:txBody>
                  <a:tcPr marT="12700" marB="12700" anchor="ctr">
                    <a:solidFill>
                      <a:srgbClr val="FFFFFF"/>
                    </a:solidFill>
                  </a:tcPr>
                </a:tc>
                <a:tc>
                  <a:txBody>
                    <a:bodyPr/>
                    <a:lstStyle/>
                    <a:p>
                      <a:pPr algn="ctr"/>
                      <a:r>
                        <a:rPr sz="1050" b="1">
                          <a:solidFill>
                            <a:srgbClr val="5C6B7A"/>
                          </a:solidFill>
                          <a:latin typeface="Calibri"/>
                        </a:rPr>
                        <a:t>SHOULD</a:t>
                      </a:r>
                    </a:p>
                  </a:txBody>
                  <a:tcPr marT="12700" marB="12700" anchor="ctr">
                    <a:solidFill>
                      <a:srgbClr val="FFFFFF"/>
                    </a:solidFill>
                  </a:tcPr>
                </a:tc>
                <a:tc>
                  <a:txBody>
                    <a:bodyPr/>
                    <a:lstStyle/>
                    <a:p>
                      <a:pPr algn="ctr"/>
                      <a:r>
                        <a:rPr sz="1050" b="0">
                          <a:solidFill>
                            <a:srgbClr val="1B2A3A"/>
                          </a:solidFill>
                          <a:latin typeface="Calibri"/>
                        </a:rPr>
                        <a:t>med</a:t>
                      </a:r>
                    </a:p>
                  </a:txBody>
                  <a:tcPr marT="12700" marB="12700" anchor="ctr">
                    <a:solidFill>
                      <a:srgbClr val="FFFFFF"/>
                    </a:solidFill>
                  </a:tcPr>
                </a:tc>
                <a:extLst>
                  <a:ext uri="{0D108BD9-81ED-4DB2-BD59-A6C34878D82A}">
                    <a16:rowId xmlns:a16="http://schemas.microsoft.com/office/drawing/2014/main" val="10001"/>
                  </a:ext>
                </a:extLst>
              </a:tr>
              <a:tr h="301752">
                <a:tc>
                  <a:txBody>
                    <a:bodyPr/>
                    <a:lstStyle/>
                    <a:p>
                      <a:pPr algn="ctr"/>
                      <a:r>
                        <a:rPr sz="1050" b="1">
                          <a:solidFill>
                            <a:srgbClr val="1C7293"/>
                          </a:solidFill>
                          <a:latin typeface="Calibri"/>
                        </a:rPr>
                        <a:t>13</a:t>
                      </a:r>
                    </a:p>
                  </a:txBody>
                  <a:tcPr marT="12700" marB="12700" anchor="ctr">
                    <a:solidFill>
                      <a:srgbClr val="F4F8FB"/>
                    </a:solidFill>
                  </a:tcPr>
                </a:tc>
                <a:tc>
                  <a:txBody>
                    <a:bodyPr/>
                    <a:lstStyle/>
                    <a:p>
                      <a:pPr algn="l"/>
                      <a:r>
                        <a:rPr sz="1050" b="0">
                          <a:solidFill>
                            <a:srgbClr val="1B2A3A"/>
                          </a:solidFill>
                          <a:latin typeface="Courier New"/>
                        </a:rPr>
                        <a:t>unauthenticated-tool-invocation</a:t>
                      </a:r>
                    </a:p>
                  </a:txBody>
                  <a:tcPr marT="12700" marB="12700" anchor="ctr">
                    <a:solidFill>
                      <a:srgbClr val="F4F8FB"/>
                    </a:solidFill>
                  </a:tcPr>
                </a:tc>
                <a:tc>
                  <a:txBody>
                    <a:bodyPr/>
                    <a:lstStyle/>
                    <a:p>
                      <a:pPr algn="l"/>
                      <a:r>
                        <a:rPr sz="1050" b="0">
                          <a:solidFill>
                            <a:srgbClr val="1B2A3A"/>
                          </a:solidFill>
                          <a:latin typeface="Calibri"/>
                        </a:rPr>
                        <a:t>Can a stranger run a tool?</a:t>
                      </a:r>
                    </a:p>
                  </a:txBody>
                  <a:tcPr marT="12700" marB="12700" anchor="ctr">
                    <a:solidFill>
                      <a:srgbClr val="F4F8FB"/>
                    </a:solidFill>
                  </a:tcPr>
                </a:tc>
                <a:tc>
                  <a:txBody>
                    <a:bodyPr/>
                    <a:lstStyle/>
                    <a:p>
                      <a:pPr algn="ctr"/>
                      <a:r>
                        <a:rPr sz="1050" b="1">
                          <a:solidFill>
                            <a:srgbClr val="1C7293"/>
                          </a:solidFill>
                          <a:latin typeface="Calibri"/>
                        </a:rPr>
                        <a:t>MUST</a:t>
                      </a:r>
                    </a:p>
                  </a:txBody>
                  <a:tcPr marT="12700" marB="12700" anchor="ctr">
                    <a:solidFill>
                      <a:srgbClr val="F4F8FB"/>
                    </a:solidFill>
                  </a:tcPr>
                </a:tc>
                <a:tc>
                  <a:txBody>
                    <a:bodyPr/>
                    <a:lstStyle/>
                    <a:p>
                      <a:pPr algn="ctr"/>
                      <a:r>
                        <a:rPr sz="1050" b="0">
                          <a:solidFill>
                            <a:srgbClr val="1B2A3A"/>
                          </a:solidFill>
                          <a:latin typeface="Calibri"/>
                        </a:rPr>
                        <a:t>high</a:t>
                      </a:r>
                    </a:p>
                  </a:txBody>
                  <a:tcPr marT="12700" marB="12700" anchor="ctr">
                    <a:solidFill>
                      <a:srgbClr val="F4F8FB"/>
                    </a:solidFill>
                  </a:tcPr>
                </a:tc>
                <a:extLst>
                  <a:ext uri="{0D108BD9-81ED-4DB2-BD59-A6C34878D82A}">
                    <a16:rowId xmlns:a16="http://schemas.microsoft.com/office/drawing/2014/main" val="10002"/>
                  </a:ext>
                </a:extLst>
              </a:tr>
              <a:tr h="301752">
                <a:tc>
                  <a:txBody>
                    <a:bodyPr/>
                    <a:lstStyle/>
                    <a:p>
                      <a:pPr algn="ctr"/>
                      <a:r>
                        <a:rPr sz="1050" b="1">
                          <a:solidFill>
                            <a:srgbClr val="1C7293"/>
                          </a:solidFill>
                          <a:latin typeface="Calibri"/>
                        </a:rPr>
                        <a:t>2</a:t>
                      </a:r>
                    </a:p>
                  </a:txBody>
                  <a:tcPr marT="12700" marB="12700" anchor="ctr">
                    <a:solidFill>
                      <a:srgbClr val="FFFFFF"/>
                    </a:solidFill>
                  </a:tcPr>
                </a:tc>
                <a:tc>
                  <a:txBody>
                    <a:bodyPr/>
                    <a:lstStyle/>
                    <a:p>
                      <a:pPr algn="l"/>
                      <a:r>
                        <a:rPr sz="1050" b="0">
                          <a:solidFill>
                            <a:srgbClr val="1B2A3A"/>
                          </a:solidFill>
                          <a:latin typeface="Courier New"/>
                        </a:rPr>
                        <a:t>no-tls-transport</a:t>
                      </a:r>
                    </a:p>
                  </a:txBody>
                  <a:tcPr marT="12700" marB="12700" anchor="ctr">
                    <a:solidFill>
                      <a:srgbClr val="FFFFFF"/>
                    </a:solidFill>
                  </a:tcPr>
                </a:tc>
                <a:tc>
                  <a:txBody>
                    <a:bodyPr/>
                    <a:lstStyle/>
                    <a:p>
                      <a:pPr algn="l"/>
                      <a:r>
                        <a:rPr sz="1050" b="0">
                          <a:solidFill>
                            <a:srgbClr val="1B2A3A"/>
                          </a:solidFill>
                          <a:latin typeface="Calibri"/>
                        </a:rPr>
                        <a:t>Is the traffic actually encrypted?</a:t>
                      </a:r>
                    </a:p>
                  </a:txBody>
                  <a:tcPr marT="12700" marB="12700" anchor="ctr">
                    <a:solidFill>
                      <a:srgbClr val="FFFFFF"/>
                    </a:solidFill>
                  </a:tcPr>
                </a:tc>
                <a:tc>
                  <a:txBody>
                    <a:bodyPr/>
                    <a:lstStyle/>
                    <a:p>
                      <a:pPr algn="ctr"/>
                      <a:r>
                        <a:rPr sz="1050" b="1">
                          <a:solidFill>
                            <a:srgbClr val="1C7293"/>
                          </a:solidFill>
                          <a:latin typeface="Calibri"/>
                        </a:rPr>
                        <a:t>MUST</a:t>
                      </a:r>
                    </a:p>
                  </a:txBody>
                  <a:tcPr marT="12700" marB="12700" anchor="ctr">
                    <a:solidFill>
                      <a:srgbClr val="FFFFFF"/>
                    </a:solidFill>
                  </a:tcPr>
                </a:tc>
                <a:tc>
                  <a:txBody>
                    <a:bodyPr/>
                    <a:lstStyle/>
                    <a:p>
                      <a:pPr algn="ctr"/>
                      <a:r>
                        <a:rPr sz="1050" b="0">
                          <a:solidFill>
                            <a:srgbClr val="1B2A3A"/>
                          </a:solidFill>
                          <a:latin typeface="Calibri"/>
                        </a:rPr>
                        <a:t>high</a:t>
                      </a:r>
                    </a:p>
                  </a:txBody>
                  <a:tcPr marT="12700" marB="12700" anchor="ctr">
                    <a:solidFill>
                      <a:srgbClr val="FFFFFF"/>
                    </a:solidFill>
                  </a:tcPr>
                </a:tc>
                <a:extLst>
                  <a:ext uri="{0D108BD9-81ED-4DB2-BD59-A6C34878D82A}">
                    <a16:rowId xmlns:a16="http://schemas.microsoft.com/office/drawing/2014/main" val="10003"/>
                  </a:ext>
                </a:extLst>
              </a:tr>
              <a:tr h="301752">
                <a:tc>
                  <a:txBody>
                    <a:bodyPr/>
                    <a:lstStyle/>
                    <a:p>
                      <a:pPr algn="ctr"/>
                      <a:r>
                        <a:rPr sz="1050" b="1">
                          <a:solidFill>
                            <a:srgbClr val="1C7293"/>
                          </a:solidFill>
                          <a:latin typeface="Calibri"/>
                        </a:rPr>
                        <a:t>3</a:t>
                      </a:r>
                    </a:p>
                  </a:txBody>
                  <a:tcPr marT="12700" marB="12700" anchor="ctr">
                    <a:solidFill>
                      <a:srgbClr val="F4F8FB"/>
                    </a:solidFill>
                  </a:tcPr>
                </a:tc>
                <a:tc>
                  <a:txBody>
                    <a:bodyPr/>
                    <a:lstStyle/>
                    <a:p>
                      <a:pPr algn="l"/>
                      <a:r>
                        <a:rPr sz="1050" b="0">
                          <a:solidFill>
                            <a:srgbClr val="1B2A3A"/>
                          </a:solidFill>
                          <a:latin typeface="Courier New"/>
                        </a:rPr>
                        <a:t>missing-www-authenticate</a:t>
                      </a:r>
                    </a:p>
                  </a:txBody>
                  <a:tcPr marT="12700" marB="12700" anchor="ctr">
                    <a:solidFill>
                      <a:srgbClr val="F4F8FB"/>
                    </a:solidFill>
                  </a:tcPr>
                </a:tc>
                <a:tc>
                  <a:txBody>
                    <a:bodyPr/>
                    <a:lstStyle/>
                    <a:p>
                      <a:pPr algn="l"/>
                      <a:r>
                        <a:rPr sz="1050" b="0">
                          <a:solidFill>
                            <a:srgbClr val="1B2A3A"/>
                          </a:solidFill>
                          <a:latin typeface="Calibri"/>
                        </a:rPr>
                        <a:t>Does the 401 say where to log in?</a:t>
                      </a:r>
                    </a:p>
                  </a:txBody>
                  <a:tcPr marT="12700" marB="12700" anchor="ctr">
                    <a:solidFill>
                      <a:srgbClr val="F4F8FB"/>
                    </a:solidFill>
                  </a:tcPr>
                </a:tc>
                <a:tc>
                  <a:txBody>
                    <a:bodyPr/>
                    <a:lstStyle/>
                    <a:p>
                      <a:pPr algn="ctr"/>
                      <a:r>
                        <a:rPr sz="1050" b="1">
                          <a:solidFill>
                            <a:srgbClr val="1C7293"/>
                          </a:solidFill>
                          <a:latin typeface="Calibri"/>
                        </a:rPr>
                        <a:t>MUST</a:t>
                      </a:r>
                    </a:p>
                  </a:txBody>
                  <a:tcPr marT="12700" marB="12700" anchor="ctr">
                    <a:solidFill>
                      <a:srgbClr val="F4F8FB"/>
                    </a:solidFill>
                  </a:tcPr>
                </a:tc>
                <a:tc>
                  <a:txBody>
                    <a:bodyPr/>
                    <a:lstStyle/>
                    <a:p>
                      <a:pPr algn="ctr"/>
                      <a:r>
                        <a:rPr sz="1050" b="0">
                          <a:solidFill>
                            <a:srgbClr val="1B2A3A"/>
                          </a:solidFill>
                          <a:latin typeface="Calibri"/>
                        </a:rPr>
                        <a:t>med</a:t>
                      </a:r>
                    </a:p>
                  </a:txBody>
                  <a:tcPr marT="12700" marB="12700" anchor="ctr">
                    <a:solidFill>
                      <a:srgbClr val="F4F8FB"/>
                    </a:solidFill>
                  </a:tcPr>
                </a:tc>
                <a:extLst>
                  <a:ext uri="{0D108BD9-81ED-4DB2-BD59-A6C34878D82A}">
                    <a16:rowId xmlns:a16="http://schemas.microsoft.com/office/drawing/2014/main" val="10004"/>
                  </a:ext>
                </a:extLst>
              </a:tr>
              <a:tr h="301752">
                <a:tc>
                  <a:txBody>
                    <a:bodyPr/>
                    <a:lstStyle/>
                    <a:p>
                      <a:pPr algn="ctr"/>
                      <a:r>
                        <a:rPr sz="1050" b="1">
                          <a:solidFill>
                            <a:srgbClr val="1C7293"/>
                          </a:solidFill>
                          <a:latin typeface="Calibri"/>
                        </a:rPr>
                        <a:t>4</a:t>
                      </a:r>
                    </a:p>
                  </a:txBody>
                  <a:tcPr marT="12700" marB="12700" anchor="ctr">
                    <a:solidFill>
                      <a:srgbClr val="FFFFFF"/>
                    </a:solidFill>
                  </a:tcPr>
                </a:tc>
                <a:tc>
                  <a:txBody>
                    <a:bodyPr/>
                    <a:lstStyle/>
                    <a:p>
                      <a:pPr algn="l"/>
                      <a:r>
                        <a:rPr sz="1050" b="0">
                          <a:solidFill>
                            <a:srgbClr val="1B2A3A"/>
                          </a:solidFill>
                          <a:latin typeface="Courier New"/>
                        </a:rPr>
                        <a:t>missing-protected-resource-metadata</a:t>
                      </a:r>
                    </a:p>
                  </a:txBody>
                  <a:tcPr marT="12700" marB="12700" anchor="ctr">
                    <a:solidFill>
                      <a:srgbClr val="FFFFFF"/>
                    </a:solidFill>
                  </a:tcPr>
                </a:tc>
                <a:tc>
                  <a:txBody>
                    <a:bodyPr/>
                    <a:lstStyle/>
                    <a:p>
                      <a:pPr algn="l"/>
                      <a:r>
                        <a:rPr sz="1050" b="0">
                          <a:solidFill>
                            <a:srgbClr val="1B2A3A"/>
                          </a:solidFill>
                          <a:latin typeface="Calibri"/>
                        </a:rPr>
                        <a:t>Is the login-info page published?</a:t>
                      </a:r>
                    </a:p>
                  </a:txBody>
                  <a:tcPr marT="12700" marB="12700" anchor="ctr">
                    <a:solidFill>
                      <a:srgbClr val="FFFFFF"/>
                    </a:solidFill>
                  </a:tcPr>
                </a:tc>
                <a:tc>
                  <a:txBody>
                    <a:bodyPr/>
                    <a:lstStyle/>
                    <a:p>
                      <a:pPr algn="ctr"/>
                      <a:r>
                        <a:rPr sz="1050" b="1">
                          <a:solidFill>
                            <a:srgbClr val="1C7293"/>
                          </a:solidFill>
                          <a:latin typeface="Calibri"/>
                        </a:rPr>
                        <a:t>MUST</a:t>
                      </a:r>
                    </a:p>
                  </a:txBody>
                  <a:tcPr marT="12700" marB="12700" anchor="ctr">
                    <a:solidFill>
                      <a:srgbClr val="FFFFFF"/>
                    </a:solidFill>
                  </a:tcPr>
                </a:tc>
                <a:tc>
                  <a:txBody>
                    <a:bodyPr/>
                    <a:lstStyle/>
                    <a:p>
                      <a:pPr algn="ctr"/>
                      <a:r>
                        <a:rPr sz="1050" b="0">
                          <a:solidFill>
                            <a:srgbClr val="1B2A3A"/>
                          </a:solidFill>
                          <a:latin typeface="Calibri"/>
                        </a:rPr>
                        <a:t>med</a:t>
                      </a:r>
                    </a:p>
                  </a:txBody>
                  <a:tcPr marT="12700" marB="12700" anchor="ctr">
                    <a:solidFill>
                      <a:srgbClr val="FFFFFF"/>
                    </a:solidFill>
                  </a:tcPr>
                </a:tc>
                <a:extLst>
                  <a:ext uri="{0D108BD9-81ED-4DB2-BD59-A6C34878D82A}">
                    <a16:rowId xmlns:a16="http://schemas.microsoft.com/office/drawing/2014/main" val="10005"/>
                  </a:ext>
                </a:extLst>
              </a:tr>
              <a:tr h="301752">
                <a:tc>
                  <a:txBody>
                    <a:bodyPr/>
                    <a:lstStyle/>
                    <a:p>
                      <a:pPr algn="ctr"/>
                      <a:r>
                        <a:rPr sz="1050" b="1">
                          <a:solidFill>
                            <a:srgbClr val="1C7293"/>
                          </a:solidFill>
                          <a:latin typeface="Calibri"/>
                        </a:rPr>
                        <a:t>5</a:t>
                      </a:r>
                    </a:p>
                  </a:txBody>
                  <a:tcPr marT="12700" marB="12700" anchor="ctr">
                    <a:solidFill>
                      <a:srgbClr val="F4F8FB"/>
                    </a:solidFill>
                  </a:tcPr>
                </a:tc>
                <a:tc>
                  <a:txBody>
                    <a:bodyPr/>
                    <a:lstStyle/>
                    <a:p>
                      <a:pPr algn="l"/>
                      <a:r>
                        <a:rPr sz="1050" b="0">
                          <a:solidFill>
                            <a:srgbClr val="1B2A3A"/>
                          </a:solidFill>
                          <a:latin typeface="Courier New"/>
                        </a:rPr>
                        <a:t>session-id-in-url</a:t>
                      </a:r>
                    </a:p>
                  </a:txBody>
                  <a:tcPr marT="12700" marB="12700" anchor="ctr">
                    <a:solidFill>
                      <a:srgbClr val="F4F8FB"/>
                    </a:solidFill>
                  </a:tcPr>
                </a:tc>
                <a:tc>
                  <a:txBody>
                    <a:bodyPr/>
                    <a:lstStyle/>
                    <a:p>
                      <a:pPr algn="l"/>
                      <a:r>
                        <a:rPr sz="1050" b="0">
                          <a:solidFill>
                            <a:srgbClr val="1B2A3A"/>
                          </a:solidFill>
                          <a:latin typeface="Calibri"/>
                        </a:rPr>
                        <a:t>Is the session tag leaking in the URL?</a:t>
                      </a:r>
                    </a:p>
                  </a:txBody>
                  <a:tcPr marT="12700" marB="12700" anchor="ctr">
                    <a:solidFill>
                      <a:srgbClr val="F4F8FB"/>
                    </a:solidFill>
                  </a:tcPr>
                </a:tc>
                <a:tc>
                  <a:txBody>
                    <a:bodyPr/>
                    <a:lstStyle/>
                    <a:p>
                      <a:pPr algn="ctr"/>
                      <a:r>
                        <a:rPr sz="1050" b="1">
                          <a:solidFill>
                            <a:srgbClr val="1C7293"/>
                          </a:solidFill>
                          <a:latin typeface="Calibri"/>
                        </a:rPr>
                        <a:t>MUST</a:t>
                      </a:r>
                    </a:p>
                  </a:txBody>
                  <a:tcPr marT="12700" marB="12700" anchor="ctr">
                    <a:solidFill>
                      <a:srgbClr val="F4F8FB"/>
                    </a:solidFill>
                  </a:tcPr>
                </a:tc>
                <a:tc>
                  <a:txBody>
                    <a:bodyPr/>
                    <a:lstStyle/>
                    <a:p>
                      <a:pPr algn="ctr"/>
                      <a:r>
                        <a:rPr sz="1050" b="0">
                          <a:solidFill>
                            <a:srgbClr val="1B2A3A"/>
                          </a:solidFill>
                          <a:latin typeface="Calibri"/>
                        </a:rPr>
                        <a:t>med</a:t>
                      </a:r>
                    </a:p>
                  </a:txBody>
                  <a:tcPr marT="12700" marB="12700" anchor="ctr">
                    <a:solidFill>
                      <a:srgbClr val="F4F8FB"/>
                    </a:solidFill>
                  </a:tcPr>
                </a:tc>
                <a:extLst>
                  <a:ext uri="{0D108BD9-81ED-4DB2-BD59-A6C34878D82A}">
                    <a16:rowId xmlns:a16="http://schemas.microsoft.com/office/drawing/2014/main" val="10006"/>
                  </a:ext>
                </a:extLst>
              </a:tr>
              <a:tr h="301752">
                <a:tc>
                  <a:txBody>
                    <a:bodyPr/>
                    <a:lstStyle/>
                    <a:p>
                      <a:pPr algn="ctr"/>
                      <a:r>
                        <a:rPr sz="1050" b="1">
                          <a:solidFill>
                            <a:srgbClr val="1C7293"/>
                          </a:solidFill>
                          <a:latin typeface="Calibri"/>
                        </a:rPr>
                        <a:t>6</a:t>
                      </a:r>
                    </a:p>
                  </a:txBody>
                  <a:tcPr marT="12700" marB="12700" anchor="ctr">
                    <a:solidFill>
                      <a:srgbClr val="FFFFFF"/>
                    </a:solidFill>
                  </a:tcPr>
                </a:tc>
                <a:tc>
                  <a:txBody>
                    <a:bodyPr/>
                    <a:lstStyle/>
                    <a:p>
                      <a:pPr algn="l"/>
                      <a:r>
                        <a:rPr sz="1050" b="0">
                          <a:solidFill>
                            <a:srgbClr val="1B2A3A"/>
                          </a:solidFill>
                          <a:latin typeface="Courier New"/>
                        </a:rPr>
                        <a:t>predictable-session-id</a:t>
                      </a:r>
                    </a:p>
                  </a:txBody>
                  <a:tcPr marT="12700" marB="12700" anchor="ctr">
                    <a:solidFill>
                      <a:srgbClr val="FFFFFF"/>
                    </a:solidFill>
                  </a:tcPr>
                </a:tc>
                <a:tc>
                  <a:txBody>
                    <a:bodyPr/>
                    <a:lstStyle/>
                    <a:p>
                      <a:pPr algn="l"/>
                      <a:r>
                        <a:rPr sz="1050" b="0">
                          <a:solidFill>
                            <a:srgbClr val="1B2A3A"/>
                          </a:solidFill>
                          <a:latin typeface="Calibri"/>
                        </a:rPr>
                        <a:t>Are session tags guessable?</a:t>
                      </a:r>
                    </a:p>
                  </a:txBody>
                  <a:tcPr marT="12700" marB="12700" anchor="ctr">
                    <a:solidFill>
                      <a:srgbClr val="FFFFFF"/>
                    </a:solidFill>
                  </a:tcPr>
                </a:tc>
                <a:tc>
                  <a:txBody>
                    <a:bodyPr/>
                    <a:lstStyle/>
                    <a:p>
                      <a:pPr algn="ctr"/>
                      <a:r>
                        <a:rPr sz="1050" b="1">
                          <a:solidFill>
                            <a:srgbClr val="5C6B7A"/>
                          </a:solidFill>
                          <a:latin typeface="Calibri"/>
                        </a:rPr>
                        <a:t>SHOULD</a:t>
                      </a:r>
                    </a:p>
                  </a:txBody>
                  <a:tcPr marT="12700" marB="12700" anchor="ctr">
                    <a:solidFill>
                      <a:srgbClr val="FFFFFF"/>
                    </a:solidFill>
                  </a:tcPr>
                </a:tc>
                <a:tc>
                  <a:txBody>
                    <a:bodyPr/>
                    <a:lstStyle/>
                    <a:p>
                      <a:pPr algn="ctr"/>
                      <a:r>
                        <a:rPr sz="1050" b="0">
                          <a:solidFill>
                            <a:srgbClr val="1B2A3A"/>
                          </a:solidFill>
                          <a:latin typeface="Calibri"/>
                        </a:rPr>
                        <a:t>med</a:t>
                      </a:r>
                    </a:p>
                  </a:txBody>
                  <a:tcPr marT="12700" marB="12700" anchor="ctr">
                    <a:solidFill>
                      <a:srgbClr val="FFFFFF"/>
                    </a:solidFill>
                  </a:tcPr>
                </a:tc>
                <a:extLst>
                  <a:ext uri="{0D108BD9-81ED-4DB2-BD59-A6C34878D82A}">
                    <a16:rowId xmlns:a16="http://schemas.microsoft.com/office/drawing/2014/main" val="10007"/>
                  </a:ext>
                </a:extLst>
              </a:tr>
              <a:tr h="301752">
                <a:tc>
                  <a:txBody>
                    <a:bodyPr/>
                    <a:lstStyle/>
                    <a:p>
                      <a:pPr algn="ctr"/>
                      <a:r>
                        <a:rPr sz="1050" b="1">
                          <a:solidFill>
                            <a:srgbClr val="1C7293"/>
                          </a:solidFill>
                          <a:latin typeface="Calibri"/>
                        </a:rPr>
                        <a:t>7</a:t>
                      </a:r>
                    </a:p>
                  </a:txBody>
                  <a:tcPr marT="12700" marB="12700" anchor="ctr">
                    <a:solidFill>
                      <a:srgbClr val="F4F8FB"/>
                    </a:solidFill>
                  </a:tcPr>
                </a:tc>
                <a:tc>
                  <a:txBody>
                    <a:bodyPr/>
                    <a:lstStyle/>
                    <a:p>
                      <a:pPr algn="l"/>
                      <a:r>
                        <a:rPr sz="1050" b="0">
                          <a:solidFill>
                            <a:srgbClr val="1B2A3A"/>
                          </a:solidFill>
                          <a:latin typeface="Courier New"/>
                        </a:rPr>
                        <a:t>origin-not-validated</a:t>
                      </a:r>
                    </a:p>
                  </a:txBody>
                  <a:tcPr marT="12700" marB="12700" anchor="ctr">
                    <a:solidFill>
                      <a:srgbClr val="F4F8FB"/>
                    </a:solidFill>
                  </a:tcPr>
                </a:tc>
                <a:tc>
                  <a:txBody>
                    <a:bodyPr/>
                    <a:lstStyle/>
                    <a:p>
                      <a:pPr algn="l"/>
                      <a:r>
                        <a:rPr sz="1050" b="0">
                          <a:solidFill>
                            <a:srgbClr val="1B2A3A"/>
                          </a:solidFill>
                          <a:latin typeface="Calibri"/>
                        </a:rPr>
                        <a:t>Is a forged Origin accepted?</a:t>
                      </a:r>
                    </a:p>
                  </a:txBody>
                  <a:tcPr marT="12700" marB="12700" anchor="ctr">
                    <a:solidFill>
                      <a:srgbClr val="F4F8FB"/>
                    </a:solidFill>
                  </a:tcPr>
                </a:tc>
                <a:tc>
                  <a:txBody>
                    <a:bodyPr/>
                    <a:lstStyle/>
                    <a:p>
                      <a:pPr algn="ctr"/>
                      <a:r>
                        <a:rPr sz="1050" b="1">
                          <a:solidFill>
                            <a:srgbClr val="1C7293"/>
                          </a:solidFill>
                          <a:latin typeface="Calibri"/>
                        </a:rPr>
                        <a:t>MUST</a:t>
                      </a:r>
                    </a:p>
                  </a:txBody>
                  <a:tcPr marT="12700" marB="12700" anchor="ctr">
                    <a:solidFill>
                      <a:srgbClr val="F4F8FB"/>
                    </a:solidFill>
                  </a:tcPr>
                </a:tc>
                <a:tc>
                  <a:txBody>
                    <a:bodyPr/>
                    <a:lstStyle/>
                    <a:p>
                      <a:pPr algn="ctr"/>
                      <a:r>
                        <a:rPr sz="1050" b="0">
                          <a:solidFill>
                            <a:srgbClr val="1B2A3A"/>
                          </a:solidFill>
                          <a:latin typeface="Calibri"/>
                        </a:rPr>
                        <a:t>high</a:t>
                      </a:r>
                    </a:p>
                  </a:txBody>
                  <a:tcPr marT="12700" marB="12700" anchor="ctr">
                    <a:solidFill>
                      <a:srgbClr val="F4F8FB"/>
                    </a:solidFill>
                  </a:tcPr>
                </a:tc>
                <a:extLst>
                  <a:ext uri="{0D108BD9-81ED-4DB2-BD59-A6C34878D82A}">
                    <a16:rowId xmlns:a16="http://schemas.microsoft.com/office/drawing/2014/main" val="10008"/>
                  </a:ext>
                </a:extLst>
              </a:tr>
              <a:tr h="301752">
                <a:tc>
                  <a:txBody>
                    <a:bodyPr/>
                    <a:lstStyle/>
                    <a:p>
                      <a:pPr algn="ctr"/>
                      <a:r>
                        <a:rPr sz="1050" b="1">
                          <a:solidFill>
                            <a:srgbClr val="1C7293"/>
                          </a:solidFill>
                          <a:latin typeface="Calibri"/>
                        </a:rPr>
                        <a:t>8</a:t>
                      </a:r>
                    </a:p>
                  </a:txBody>
                  <a:tcPr marT="12700" marB="12700" anchor="ctr">
                    <a:solidFill>
                      <a:srgbClr val="FFFFFF"/>
                    </a:solidFill>
                  </a:tcPr>
                </a:tc>
                <a:tc>
                  <a:txBody>
                    <a:bodyPr/>
                    <a:lstStyle/>
                    <a:p>
                      <a:pPr algn="l"/>
                      <a:r>
                        <a:rPr sz="1050" b="0">
                          <a:solidFill>
                            <a:srgbClr val="1B2A3A"/>
                          </a:solidFill>
                          <a:latin typeface="Courier New"/>
                        </a:rPr>
                        <a:t>cors-misconfiguration</a:t>
                      </a:r>
                    </a:p>
                  </a:txBody>
                  <a:tcPr marT="12700" marB="12700" anchor="ctr">
                    <a:solidFill>
                      <a:srgbClr val="FFFFFF"/>
                    </a:solidFill>
                  </a:tcPr>
                </a:tc>
                <a:tc>
                  <a:txBody>
                    <a:bodyPr/>
                    <a:lstStyle/>
                    <a:p>
                      <a:pPr algn="l"/>
                      <a:r>
                        <a:rPr sz="1050" b="0">
                          <a:solidFill>
                            <a:srgbClr val="1B2A3A"/>
                          </a:solidFill>
                          <a:latin typeface="Calibri"/>
                        </a:rPr>
                        <a:t>May any website call it with credentials?</a:t>
                      </a:r>
                    </a:p>
                  </a:txBody>
                  <a:tcPr marT="12700" marB="12700" anchor="ctr">
                    <a:solidFill>
                      <a:srgbClr val="FFFFFF"/>
                    </a:solidFill>
                  </a:tcPr>
                </a:tc>
                <a:tc>
                  <a:txBody>
                    <a:bodyPr/>
                    <a:lstStyle/>
                    <a:p>
                      <a:pPr algn="ctr"/>
                      <a:r>
                        <a:rPr sz="1050" b="1">
                          <a:solidFill>
                            <a:srgbClr val="5C6B7A"/>
                          </a:solidFill>
                          <a:latin typeface="Calibri"/>
                        </a:rPr>
                        <a:t>non-MCP</a:t>
                      </a:r>
                    </a:p>
                  </a:txBody>
                  <a:tcPr marT="12700" marB="12700" anchor="ctr">
                    <a:solidFill>
                      <a:srgbClr val="FFFFFF"/>
                    </a:solidFill>
                  </a:tcPr>
                </a:tc>
                <a:tc>
                  <a:txBody>
                    <a:bodyPr/>
                    <a:lstStyle/>
                    <a:p>
                      <a:pPr algn="ctr"/>
                      <a:r>
                        <a:rPr sz="1050" b="0">
                          <a:solidFill>
                            <a:srgbClr val="1B2A3A"/>
                          </a:solidFill>
                          <a:latin typeface="Calibri"/>
                        </a:rPr>
                        <a:t>med</a:t>
                      </a:r>
                    </a:p>
                  </a:txBody>
                  <a:tcPr marT="12700" marB="12700" anchor="ctr">
                    <a:solidFill>
                      <a:srgbClr val="FFFFFF"/>
                    </a:solidFill>
                  </a:tcPr>
                </a:tc>
                <a:extLst>
                  <a:ext uri="{0D108BD9-81ED-4DB2-BD59-A6C34878D82A}">
                    <a16:rowId xmlns:a16="http://schemas.microsoft.com/office/drawing/2014/main" val="10009"/>
                  </a:ext>
                </a:extLst>
              </a:tr>
              <a:tr h="301752">
                <a:tc>
                  <a:txBody>
                    <a:bodyPr/>
                    <a:lstStyle/>
                    <a:p>
                      <a:pPr algn="ctr"/>
                      <a:r>
                        <a:rPr sz="1050" b="1">
                          <a:solidFill>
                            <a:srgbClr val="1C7293"/>
                          </a:solidFill>
                          <a:latin typeface="Calibri"/>
                        </a:rPr>
                        <a:t>9</a:t>
                      </a:r>
                    </a:p>
                  </a:txBody>
                  <a:tcPr marT="12700" marB="12700" anchor="ctr">
                    <a:solidFill>
                      <a:srgbClr val="F4F8FB"/>
                    </a:solidFill>
                  </a:tcPr>
                </a:tc>
                <a:tc>
                  <a:txBody>
                    <a:bodyPr/>
                    <a:lstStyle/>
                    <a:p>
                      <a:pPr algn="l"/>
                      <a:r>
                        <a:rPr sz="1050" b="0">
                          <a:solidFill>
                            <a:srgbClr val="1B2A3A"/>
                          </a:solidFill>
                          <a:latin typeface="Courier New"/>
                        </a:rPr>
                        <a:t>auth-endpoints-not-https</a:t>
                      </a:r>
                    </a:p>
                  </a:txBody>
                  <a:tcPr marT="12700" marB="12700" anchor="ctr">
                    <a:solidFill>
                      <a:srgbClr val="F4F8FB"/>
                    </a:solidFill>
                  </a:tcPr>
                </a:tc>
                <a:tc>
                  <a:txBody>
                    <a:bodyPr/>
                    <a:lstStyle/>
                    <a:p>
                      <a:pPr algn="l"/>
                      <a:r>
                        <a:rPr sz="1050" b="0">
                          <a:solidFill>
                            <a:srgbClr val="1B2A3A"/>
                          </a:solidFill>
                          <a:latin typeface="Calibri"/>
                        </a:rPr>
                        <a:t>Any login address on plain http?</a:t>
                      </a:r>
                    </a:p>
                  </a:txBody>
                  <a:tcPr marT="12700" marB="12700" anchor="ctr">
                    <a:solidFill>
                      <a:srgbClr val="F4F8FB"/>
                    </a:solidFill>
                  </a:tcPr>
                </a:tc>
                <a:tc>
                  <a:txBody>
                    <a:bodyPr/>
                    <a:lstStyle/>
                    <a:p>
                      <a:pPr algn="ctr"/>
                      <a:r>
                        <a:rPr sz="1050" b="1">
                          <a:solidFill>
                            <a:srgbClr val="1C7293"/>
                          </a:solidFill>
                          <a:latin typeface="Calibri"/>
                        </a:rPr>
                        <a:t>MUST</a:t>
                      </a:r>
                    </a:p>
                  </a:txBody>
                  <a:tcPr marT="12700" marB="12700" anchor="ctr">
                    <a:solidFill>
                      <a:srgbClr val="F4F8FB"/>
                    </a:solidFill>
                  </a:tcPr>
                </a:tc>
                <a:tc>
                  <a:txBody>
                    <a:bodyPr/>
                    <a:lstStyle/>
                    <a:p>
                      <a:pPr algn="ctr"/>
                      <a:r>
                        <a:rPr sz="1050" b="0">
                          <a:solidFill>
                            <a:srgbClr val="1B2A3A"/>
                          </a:solidFill>
                          <a:latin typeface="Calibri"/>
                        </a:rPr>
                        <a:t>high</a:t>
                      </a:r>
                    </a:p>
                  </a:txBody>
                  <a:tcPr marT="12700" marB="12700" anchor="ctr">
                    <a:solidFill>
                      <a:srgbClr val="F4F8FB"/>
                    </a:solidFill>
                  </a:tcPr>
                </a:tc>
                <a:extLst>
                  <a:ext uri="{0D108BD9-81ED-4DB2-BD59-A6C34878D82A}">
                    <a16:rowId xmlns:a16="http://schemas.microsoft.com/office/drawing/2014/main" val="10010"/>
                  </a:ext>
                </a:extLst>
              </a:tr>
              <a:tr h="301752">
                <a:tc>
                  <a:txBody>
                    <a:bodyPr/>
                    <a:lstStyle/>
                    <a:p>
                      <a:pPr algn="ctr"/>
                      <a:r>
                        <a:rPr sz="1050" b="1">
                          <a:solidFill>
                            <a:srgbClr val="1C7293"/>
                          </a:solidFill>
                          <a:latin typeface="Calibri"/>
                        </a:rPr>
                        <a:t>10</a:t>
                      </a:r>
                    </a:p>
                  </a:txBody>
                  <a:tcPr marT="12700" marB="12700" anchor="ctr">
                    <a:solidFill>
                      <a:srgbClr val="FFFFFF"/>
                    </a:solidFill>
                  </a:tcPr>
                </a:tc>
                <a:tc>
                  <a:txBody>
                    <a:bodyPr/>
                    <a:lstStyle/>
                    <a:p>
                      <a:pPr algn="l"/>
                      <a:r>
                        <a:rPr sz="1050" b="0">
                          <a:solidFill>
                            <a:srgbClr val="1B2A3A"/>
                          </a:solidFill>
                          <a:latin typeface="Courier New"/>
                        </a:rPr>
                        <a:t>missing-as-metadata</a:t>
                      </a:r>
                    </a:p>
                  </a:txBody>
                  <a:tcPr marT="12700" marB="12700" anchor="ctr">
                    <a:solidFill>
                      <a:srgbClr val="FFFFFF"/>
                    </a:solidFill>
                  </a:tcPr>
                </a:tc>
                <a:tc>
                  <a:txBody>
                    <a:bodyPr/>
                    <a:lstStyle/>
                    <a:p>
                      <a:pPr algn="l"/>
                      <a:r>
                        <a:rPr sz="1050" b="0">
                          <a:solidFill>
                            <a:srgbClr val="1B2A3A"/>
                          </a:solidFill>
                          <a:latin typeface="Calibri"/>
                        </a:rPr>
                        <a:t>Does the login server describe itself?</a:t>
                      </a:r>
                    </a:p>
                  </a:txBody>
                  <a:tcPr marT="12700" marB="12700" anchor="ctr">
                    <a:solidFill>
                      <a:srgbClr val="FFFFFF"/>
                    </a:solidFill>
                  </a:tcPr>
                </a:tc>
                <a:tc>
                  <a:txBody>
                    <a:bodyPr/>
                    <a:lstStyle/>
                    <a:p>
                      <a:pPr algn="ctr"/>
                      <a:r>
                        <a:rPr sz="1050" b="1">
                          <a:solidFill>
                            <a:srgbClr val="1C7293"/>
                          </a:solidFill>
                          <a:latin typeface="Calibri"/>
                        </a:rPr>
                        <a:t>MUST</a:t>
                      </a:r>
                    </a:p>
                  </a:txBody>
                  <a:tcPr marT="12700" marB="12700" anchor="ctr">
                    <a:solidFill>
                      <a:srgbClr val="FFFFFF"/>
                    </a:solidFill>
                  </a:tcPr>
                </a:tc>
                <a:tc>
                  <a:txBody>
                    <a:bodyPr/>
                    <a:lstStyle/>
                    <a:p>
                      <a:pPr algn="ctr"/>
                      <a:r>
                        <a:rPr sz="1050" b="0">
                          <a:solidFill>
                            <a:srgbClr val="1B2A3A"/>
                          </a:solidFill>
                          <a:latin typeface="Calibri"/>
                        </a:rPr>
                        <a:t>med</a:t>
                      </a:r>
                    </a:p>
                  </a:txBody>
                  <a:tcPr marT="12700" marB="12700" anchor="ctr">
                    <a:solidFill>
                      <a:srgbClr val="FFFFFF"/>
                    </a:solidFill>
                  </a:tcPr>
                </a:tc>
                <a:extLst>
                  <a:ext uri="{0D108BD9-81ED-4DB2-BD59-A6C34878D82A}">
                    <a16:rowId xmlns:a16="http://schemas.microsoft.com/office/drawing/2014/main" val="10011"/>
                  </a:ext>
                </a:extLst>
              </a:tr>
              <a:tr h="301752">
                <a:tc>
                  <a:txBody>
                    <a:bodyPr/>
                    <a:lstStyle/>
                    <a:p>
                      <a:pPr algn="ctr"/>
                      <a:r>
                        <a:rPr sz="1050" b="1">
                          <a:solidFill>
                            <a:srgbClr val="1C7293"/>
                          </a:solidFill>
                          <a:latin typeface="Calibri"/>
                        </a:rPr>
                        <a:t>11</a:t>
                      </a:r>
                    </a:p>
                  </a:txBody>
                  <a:tcPr marT="12700" marB="12700" anchor="ctr">
                    <a:solidFill>
                      <a:srgbClr val="F4F8FB"/>
                    </a:solidFill>
                  </a:tcPr>
                </a:tc>
                <a:tc>
                  <a:txBody>
                    <a:bodyPr/>
                    <a:lstStyle/>
                    <a:p>
                      <a:pPr algn="l"/>
                      <a:r>
                        <a:rPr sz="1050" b="0">
                          <a:solidFill>
                            <a:srgbClr val="1B2A3A"/>
                          </a:solidFill>
                          <a:latin typeface="Courier New"/>
                        </a:rPr>
                        <a:t>implicit-flow-enabled</a:t>
                      </a:r>
                    </a:p>
                  </a:txBody>
                  <a:tcPr marT="12700" marB="12700" anchor="ctr">
                    <a:solidFill>
                      <a:srgbClr val="F4F8FB"/>
                    </a:solidFill>
                  </a:tcPr>
                </a:tc>
                <a:tc>
                  <a:txBody>
                    <a:bodyPr/>
                    <a:lstStyle/>
                    <a:p>
                      <a:pPr algn="l"/>
                      <a:r>
                        <a:rPr sz="1050" b="0">
                          <a:solidFill>
                            <a:srgbClr val="1B2A3A"/>
                          </a:solidFill>
                          <a:latin typeface="Calibri"/>
                        </a:rPr>
                        <a:t>Still offering the removed implicit flow?</a:t>
                      </a:r>
                    </a:p>
                  </a:txBody>
                  <a:tcPr marT="12700" marB="12700" anchor="ctr">
                    <a:solidFill>
                      <a:srgbClr val="F4F8FB"/>
                    </a:solidFill>
                  </a:tcPr>
                </a:tc>
                <a:tc>
                  <a:txBody>
                    <a:bodyPr/>
                    <a:lstStyle/>
                    <a:p>
                      <a:pPr algn="ctr"/>
                      <a:r>
                        <a:rPr sz="1050" b="1">
                          <a:solidFill>
                            <a:srgbClr val="1C7293"/>
                          </a:solidFill>
                          <a:latin typeface="Calibri"/>
                        </a:rPr>
                        <a:t>MUST NOT</a:t>
                      </a:r>
                    </a:p>
                  </a:txBody>
                  <a:tcPr marT="12700" marB="12700" anchor="ctr">
                    <a:solidFill>
                      <a:srgbClr val="F4F8FB"/>
                    </a:solidFill>
                  </a:tcPr>
                </a:tc>
                <a:tc>
                  <a:txBody>
                    <a:bodyPr/>
                    <a:lstStyle/>
                    <a:p>
                      <a:pPr algn="ctr"/>
                      <a:r>
                        <a:rPr sz="1050" b="0">
                          <a:solidFill>
                            <a:srgbClr val="1B2A3A"/>
                          </a:solidFill>
                          <a:latin typeface="Calibri"/>
                        </a:rPr>
                        <a:t>high</a:t>
                      </a:r>
                    </a:p>
                  </a:txBody>
                  <a:tcPr marT="12700" marB="12700" anchor="ctr">
                    <a:solidFill>
                      <a:srgbClr val="F4F8FB"/>
                    </a:solidFill>
                  </a:tcPr>
                </a:tc>
                <a:extLst>
                  <a:ext uri="{0D108BD9-81ED-4DB2-BD59-A6C34878D82A}">
                    <a16:rowId xmlns:a16="http://schemas.microsoft.com/office/drawing/2014/main" val="10012"/>
                  </a:ext>
                </a:extLst>
              </a:tr>
              <a:tr h="301752">
                <a:tc>
                  <a:txBody>
                    <a:bodyPr/>
                    <a:lstStyle/>
                    <a:p>
                      <a:pPr algn="ctr"/>
                      <a:r>
                        <a:rPr sz="1050" b="1">
                          <a:solidFill>
                            <a:srgbClr val="1C7293"/>
                          </a:solidFill>
                          <a:latin typeface="Calibri"/>
                        </a:rPr>
                        <a:t>12</a:t>
                      </a:r>
                    </a:p>
                  </a:txBody>
                  <a:tcPr marT="12700" marB="12700" anchor="ctr">
                    <a:solidFill>
                      <a:srgbClr val="FFFFFF"/>
                    </a:solidFill>
                  </a:tcPr>
                </a:tc>
                <a:tc>
                  <a:txBody>
                    <a:bodyPr/>
                    <a:lstStyle/>
                    <a:p>
                      <a:pPr algn="l"/>
                      <a:r>
                        <a:rPr sz="1050" b="0">
                          <a:solidFill>
                            <a:srgbClr val="1B2A3A"/>
                          </a:solidFill>
                          <a:latin typeface="Courier New"/>
                        </a:rPr>
                        <a:t>open-dcr  (write)</a:t>
                      </a:r>
                    </a:p>
                  </a:txBody>
                  <a:tcPr marT="12700" marB="12700" anchor="ctr">
                    <a:solidFill>
                      <a:srgbClr val="FFFFFF"/>
                    </a:solidFill>
                  </a:tcPr>
                </a:tc>
                <a:tc>
                  <a:txBody>
                    <a:bodyPr/>
                    <a:lstStyle/>
                    <a:p>
                      <a:pPr algn="l"/>
                      <a:r>
                        <a:rPr sz="1050" b="0">
                          <a:solidFill>
                            <a:srgbClr val="1B2A3A"/>
                          </a:solidFill>
                          <a:latin typeface="Calibri"/>
                        </a:rPr>
                        <a:t>Can anyone register a client?</a:t>
                      </a:r>
                    </a:p>
                  </a:txBody>
                  <a:tcPr marT="12700" marB="12700" anchor="ctr">
                    <a:solidFill>
                      <a:srgbClr val="FFFFFF"/>
                    </a:solidFill>
                  </a:tcPr>
                </a:tc>
                <a:tc>
                  <a:txBody>
                    <a:bodyPr/>
                    <a:lstStyle/>
                    <a:p>
                      <a:pPr algn="ctr"/>
                      <a:r>
                        <a:rPr sz="1050" b="1">
                          <a:solidFill>
                            <a:srgbClr val="5C6B7A"/>
                          </a:solidFill>
                          <a:latin typeface="Calibri"/>
                        </a:rPr>
                        <a:t>SHOULD</a:t>
                      </a:r>
                    </a:p>
                  </a:txBody>
                  <a:tcPr marT="12700" marB="12700" anchor="ctr">
                    <a:solidFill>
                      <a:srgbClr val="FFFFFF"/>
                    </a:solidFill>
                  </a:tcPr>
                </a:tc>
                <a:tc>
                  <a:txBody>
                    <a:bodyPr/>
                    <a:lstStyle/>
                    <a:p>
                      <a:pPr algn="ctr"/>
                      <a:r>
                        <a:rPr sz="1050" b="0">
                          <a:solidFill>
                            <a:srgbClr val="1B2A3A"/>
                          </a:solidFill>
                          <a:latin typeface="Calibri"/>
                        </a:rPr>
                        <a:t>high</a:t>
                      </a:r>
                    </a:p>
                  </a:txBody>
                  <a:tcPr marT="12700" marB="12700" anchor="ctr">
                    <a:solidFill>
                      <a:srgbClr val="FFFFFF"/>
                    </a:solidFill>
                  </a:tcPr>
                </a:tc>
                <a:extLst>
                  <a:ext uri="{0D108BD9-81ED-4DB2-BD59-A6C34878D82A}">
                    <a16:rowId xmlns:a16="http://schemas.microsoft.com/office/drawing/2014/main" val="10013"/>
                  </a:ext>
                </a:extLst>
              </a:tr>
              <a:tr h="301752">
                <a:tc>
                  <a:txBody>
                    <a:bodyPr/>
                    <a:lstStyle/>
                    <a:p>
                      <a:pPr algn="ctr"/>
                      <a:r>
                        <a:rPr sz="1050" b="1">
                          <a:solidFill>
                            <a:srgbClr val="1C7293"/>
                          </a:solidFill>
                          <a:latin typeface="Calibri"/>
                        </a:rPr>
                        <a:t>14</a:t>
                      </a:r>
                    </a:p>
                  </a:txBody>
                  <a:tcPr marT="12700" marB="12700" anchor="ctr">
                    <a:solidFill>
                      <a:srgbClr val="F4F8FB"/>
                    </a:solidFill>
                  </a:tcPr>
                </a:tc>
                <a:tc>
                  <a:txBody>
                    <a:bodyPr/>
                    <a:lstStyle/>
                    <a:p>
                      <a:pPr algn="l"/>
                      <a:r>
                        <a:rPr sz="1050" b="0">
                          <a:solidFill>
                            <a:srgbClr val="1B2A3A"/>
                          </a:solidFill>
                          <a:latin typeface="Courier New"/>
                        </a:rPr>
                        <a:t>improper-redirect-uri-validation  (write)</a:t>
                      </a:r>
                    </a:p>
                  </a:txBody>
                  <a:tcPr marT="12700" marB="12700" anchor="ctr">
                    <a:solidFill>
                      <a:srgbClr val="F4F8FB"/>
                    </a:solidFill>
                  </a:tcPr>
                </a:tc>
                <a:tc>
                  <a:txBody>
                    <a:bodyPr/>
                    <a:lstStyle/>
                    <a:p>
                      <a:pPr algn="l"/>
                      <a:r>
                        <a:rPr sz="1050" b="0">
                          <a:solidFill>
                            <a:srgbClr val="1B2A3A"/>
                          </a:solidFill>
                          <a:latin typeface="Calibri"/>
                        </a:rPr>
                        <a:t>Accepts an unregistered return address?</a:t>
                      </a:r>
                    </a:p>
                  </a:txBody>
                  <a:tcPr marT="12700" marB="12700" anchor="ctr">
                    <a:solidFill>
                      <a:srgbClr val="F4F8FB"/>
                    </a:solidFill>
                  </a:tcPr>
                </a:tc>
                <a:tc>
                  <a:txBody>
                    <a:bodyPr/>
                    <a:lstStyle/>
                    <a:p>
                      <a:pPr algn="ctr"/>
                      <a:r>
                        <a:rPr sz="1050" b="1">
                          <a:solidFill>
                            <a:srgbClr val="1C7293"/>
                          </a:solidFill>
                          <a:latin typeface="Calibri"/>
                        </a:rPr>
                        <a:t>MUST</a:t>
                      </a:r>
                    </a:p>
                  </a:txBody>
                  <a:tcPr marT="12700" marB="12700" anchor="ctr">
                    <a:solidFill>
                      <a:srgbClr val="F4F8FB"/>
                    </a:solidFill>
                  </a:tcPr>
                </a:tc>
                <a:tc>
                  <a:txBody>
                    <a:bodyPr/>
                    <a:lstStyle/>
                    <a:p>
                      <a:pPr algn="ctr"/>
                      <a:r>
                        <a:rPr sz="1050" b="0">
                          <a:solidFill>
                            <a:srgbClr val="1B2A3A"/>
                          </a:solidFill>
                          <a:latin typeface="Calibri"/>
                        </a:rPr>
                        <a:t>high</a:t>
                      </a:r>
                    </a:p>
                  </a:txBody>
                  <a:tcPr marT="12700" marB="12700" anchor="ctr">
                    <a:solidFill>
                      <a:srgbClr val="F4F8FB"/>
                    </a:solid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THE CHECKS · 1 OF 6</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Can a stranger reach the tools? (#1, #13)</a:t>
            </a:r>
          </a:p>
        </p:txBody>
      </p:sp>
      <p:sp>
        <p:nvSpPr>
          <p:cNvPr id="4" name="Rounded Rectangle 3"/>
          <p:cNvSpPr/>
          <p:nvPr/>
        </p:nvSpPr>
        <p:spPr>
          <a:xfrm>
            <a:off x="548640" y="1691640"/>
            <a:ext cx="11091672" cy="123444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764792"/>
            <a:ext cx="10725912" cy="1088136"/>
          </a:xfrm>
          <a:prstGeom prst="rect">
            <a:avLst/>
          </a:prstGeom>
          <a:noFill/>
        </p:spPr>
        <p:txBody>
          <a:bodyPr wrap="square" lIns="0" tIns="0" rIns="0" bIns="0" anchor="ctr">
            <a:spAutoFit/>
          </a:bodyPr>
          <a:lstStyle/>
          <a:p>
            <a:pPr algn="l">
              <a:lnSpc>
                <a:spcPct val="100000"/>
              </a:lnSpc>
              <a:spcAft>
                <a:spcPts val="200"/>
              </a:spcAft>
            </a:pPr>
            <a:r>
              <a:rPr sz="1500" b="1" i="0">
                <a:solidFill>
                  <a:srgbClr val="1C7293"/>
                </a:solidFill>
                <a:latin typeface="Calibri"/>
              </a:rPr>
              <a:t>#1  </a:t>
            </a:r>
            <a:r>
              <a:rPr sz="1500" b="1" i="0">
                <a:solidFill>
                  <a:srgbClr val="12233F"/>
                </a:solidFill>
                <a:latin typeface="Calibri"/>
              </a:rPr>
              <a:t>no-authentication-remote  -  can a stranger LIST the tools?</a:t>
            </a:r>
            <a:r>
              <a:rPr sz="1200" b="1" i="0">
                <a:solidFill>
                  <a:srgbClr val="5C6B7A"/>
                </a:solidFill>
                <a:latin typeface="Calibri"/>
              </a:rPr>
              <a:t>      SHOULD · Transports §Security</a:t>
            </a:r>
          </a:p>
          <a:p>
            <a:pPr algn="l">
              <a:lnSpc>
                <a:spcPct val="100000"/>
              </a:lnSpc>
            </a:pPr>
            <a:r>
              <a:rPr sz="1350" b="0" i="0">
                <a:solidFill>
                  <a:srgbClr val="1B2A3A"/>
                </a:solidFill>
                <a:latin typeface="Calibri"/>
              </a:rPr>
              <a:t>Send tools/list with no token. A JSON-RPC result back = the catalogue is readable without login (capability disclosure). Authenticating is only a SHOULD, so this is posture, not a broken rule.</a:t>
            </a:r>
          </a:p>
        </p:txBody>
      </p:sp>
      <p:sp>
        <p:nvSpPr>
          <p:cNvPr id="6" name="Rounded Rectangle 5"/>
          <p:cNvSpPr/>
          <p:nvPr/>
        </p:nvSpPr>
        <p:spPr>
          <a:xfrm>
            <a:off x="548640" y="3200400"/>
            <a:ext cx="11091672" cy="123444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273552"/>
            <a:ext cx="10725912" cy="1088136"/>
          </a:xfrm>
          <a:prstGeom prst="rect">
            <a:avLst/>
          </a:prstGeom>
          <a:noFill/>
        </p:spPr>
        <p:txBody>
          <a:bodyPr wrap="square" lIns="0" tIns="0" rIns="0" bIns="0" anchor="ctr">
            <a:spAutoFit/>
          </a:bodyPr>
          <a:lstStyle/>
          <a:p>
            <a:pPr algn="l">
              <a:lnSpc>
                <a:spcPct val="100000"/>
              </a:lnSpc>
              <a:spcAft>
                <a:spcPts val="200"/>
              </a:spcAft>
            </a:pPr>
            <a:r>
              <a:rPr sz="1500" b="1" i="0">
                <a:solidFill>
                  <a:srgbClr val="1C7293"/>
                </a:solidFill>
                <a:latin typeface="Calibri"/>
              </a:rPr>
              <a:t>#13  </a:t>
            </a:r>
            <a:r>
              <a:rPr sz="1500" b="1" i="0">
                <a:solidFill>
                  <a:srgbClr val="12233F"/>
                </a:solidFill>
                <a:latin typeface="Calibri"/>
              </a:rPr>
              <a:t>unauthenticated-tool-invocation  -  can a stranger RUN one?</a:t>
            </a:r>
            <a:r>
              <a:rPr sz="1200" b="1" i="0">
                <a:solidFill>
                  <a:srgbClr val="1C7293"/>
                </a:solidFill>
                <a:latin typeface="Calibri"/>
              </a:rPr>
              <a:t>      MUST · MCP Authorization</a:t>
            </a:r>
          </a:p>
          <a:p>
            <a:pPr algn="l">
              <a:lnSpc>
                <a:spcPct val="100000"/>
              </a:lnSpc>
            </a:pPr>
            <a:r>
              <a:rPr sz="1350" b="0" i="0">
                <a:solidFill>
                  <a:srgbClr val="1B2A3A"/>
                </a:solidFill>
                <a:latin typeface="Calibri"/>
              </a:rPr>
              <a:t>Send tools/call for a deliberately non-existent tool, no token - so nothing executes. A 401 means the call path is gated; any JSON-RPC reply means it reached the dispatch layer, i.e. invocation is open.</a:t>
            </a:r>
          </a:p>
        </p:txBody>
      </p:sp>
      <p:sp>
        <p:nvSpPr>
          <p:cNvPr id="8" name="Rounded Rectangle 7"/>
          <p:cNvSpPr/>
          <p:nvPr/>
        </p:nvSpPr>
        <p:spPr>
          <a:xfrm>
            <a:off x="548640" y="4663440"/>
            <a:ext cx="11091672" cy="1234440"/>
          </a:xfrm>
          <a:prstGeom prst="roundRect">
            <a:avLst>
              <a:gd name="adj" fmla="val 6000"/>
            </a:avLst>
          </a:prstGeom>
          <a:solidFill>
            <a:srgbClr val="EEF3F8"/>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59" y="4773168"/>
            <a:ext cx="10543032" cy="1051560"/>
          </a:xfrm>
          <a:prstGeom prst="rect">
            <a:avLst/>
          </a:prstGeom>
          <a:noFill/>
        </p:spPr>
        <p:txBody>
          <a:bodyPr wrap="square" lIns="0" tIns="0" rIns="0" bIns="0" anchor="ctr">
            <a:spAutoFit/>
          </a:bodyPr>
          <a:lstStyle/>
          <a:p>
            <a:pPr algn="l">
              <a:lnSpc>
                <a:spcPct val="105000"/>
              </a:lnSpc>
            </a:pPr>
            <a:r>
              <a:rPr sz="1500" b="1" i="0">
                <a:solidFill>
                  <a:srgbClr val="1C7293"/>
                </a:solidFill>
                <a:latin typeface="Calibri"/>
              </a:rPr>
              <a:t>Why both:  </a:t>
            </a:r>
            <a:r>
              <a:rPr sz="1500" b="0" i="0">
                <a:solidFill>
                  <a:srgbClr val="1B2A3A"/>
                </a:solidFill>
                <a:latin typeface="Calibri"/>
              </a:rPr>
              <a:t>reading a menu is not ordering from it. #1 shows the menu is readable by anyone; #13 shows whether a stranger can actually place an order. Plenty of servers hand out the menu but still require a login before they serve - only #13 separates the two.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THE CHECKS · 2 OF 6</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Is the connection itself safe? (#2, #5)</a:t>
            </a:r>
          </a:p>
        </p:txBody>
      </p:sp>
      <p:sp>
        <p:nvSpPr>
          <p:cNvPr id="4" name="Rounded Rectangle 3"/>
          <p:cNvSpPr/>
          <p:nvPr/>
        </p:nvSpPr>
        <p:spPr>
          <a:xfrm>
            <a:off x="548640" y="1737360"/>
            <a:ext cx="11091672" cy="137160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810512"/>
            <a:ext cx="10725912" cy="1225296"/>
          </a:xfrm>
          <a:prstGeom prst="rect">
            <a:avLst/>
          </a:prstGeom>
          <a:noFill/>
        </p:spPr>
        <p:txBody>
          <a:bodyPr wrap="square" lIns="0" tIns="0" rIns="0" bIns="0" anchor="ctr">
            <a:spAutoFit/>
          </a:bodyPr>
          <a:lstStyle/>
          <a:p>
            <a:pPr algn="l">
              <a:lnSpc>
                <a:spcPct val="100000"/>
              </a:lnSpc>
              <a:spcAft>
                <a:spcPts val="200"/>
              </a:spcAft>
            </a:pPr>
            <a:r>
              <a:rPr sz="1400" b="1" i="0">
                <a:solidFill>
                  <a:srgbClr val="1C7293"/>
                </a:solidFill>
                <a:latin typeface="Calibri"/>
              </a:rPr>
              <a:t>#2  </a:t>
            </a:r>
            <a:r>
              <a:rPr sz="1400" b="1" i="0">
                <a:solidFill>
                  <a:srgbClr val="12233F"/>
                </a:solidFill>
                <a:latin typeface="Calibri"/>
              </a:rPr>
              <a:t>no-tls-transport</a:t>
            </a:r>
            <a:r>
              <a:rPr sz="1100" b="1" i="0">
                <a:solidFill>
                  <a:srgbClr val="1C7293"/>
                </a:solidFill>
                <a:latin typeface="Calibri"/>
              </a:rPr>
              <a:t>      MUST · OAuth 2.1 §1.5</a:t>
            </a:r>
          </a:p>
          <a:p>
            <a:pPr algn="l">
              <a:lnSpc>
                <a:spcPct val="100000"/>
              </a:lnSpc>
            </a:pPr>
            <a:r>
              <a:rPr sz="1200" b="0" i="0">
                <a:solidFill>
                  <a:srgbClr val="1B2A3A"/>
                </a:solidFill>
                <a:latin typeface="Calibri"/>
              </a:rPr>
              <a:t>Plain http on a public host - or https whose certificate is expired, self-signed, or for the wrong name. Either way the traffic isn't really protected and a token would travel exposed.</a:t>
            </a:r>
          </a:p>
        </p:txBody>
      </p:sp>
      <p:sp>
        <p:nvSpPr>
          <p:cNvPr id="6" name="Rounded Rectangle 5"/>
          <p:cNvSpPr/>
          <p:nvPr/>
        </p:nvSpPr>
        <p:spPr>
          <a:xfrm>
            <a:off x="548640" y="3383280"/>
            <a:ext cx="11091672" cy="137160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456432"/>
            <a:ext cx="10725912" cy="1225296"/>
          </a:xfrm>
          <a:prstGeom prst="rect">
            <a:avLst/>
          </a:prstGeom>
          <a:noFill/>
        </p:spPr>
        <p:txBody>
          <a:bodyPr wrap="square" lIns="0" tIns="0" rIns="0" bIns="0" anchor="ctr">
            <a:spAutoFit/>
          </a:bodyPr>
          <a:lstStyle/>
          <a:p>
            <a:pPr algn="l">
              <a:lnSpc>
                <a:spcPct val="100000"/>
              </a:lnSpc>
              <a:spcAft>
                <a:spcPts val="200"/>
              </a:spcAft>
            </a:pPr>
            <a:r>
              <a:rPr sz="1400" b="1" i="0">
                <a:solidFill>
                  <a:srgbClr val="1C7293"/>
                </a:solidFill>
                <a:latin typeface="Calibri"/>
              </a:rPr>
              <a:t>#5  </a:t>
            </a:r>
            <a:r>
              <a:rPr sz="1400" b="1" i="0">
                <a:solidFill>
                  <a:srgbClr val="12233F"/>
                </a:solidFill>
                <a:latin typeface="Calibri"/>
              </a:rPr>
              <a:t>session-id-in-url</a:t>
            </a:r>
            <a:r>
              <a:rPr sz="1100" b="1" i="0">
                <a:solidFill>
                  <a:srgbClr val="1C7293"/>
                </a:solidFill>
                <a:latin typeface="Calibri"/>
              </a:rPr>
              <a:t>      MUST · OAuth 2.1 §5</a:t>
            </a:r>
          </a:p>
          <a:p>
            <a:pPr algn="l">
              <a:lnSpc>
                <a:spcPct val="100000"/>
              </a:lnSpc>
            </a:pPr>
            <a:r>
              <a:rPr sz="1200" b="0" i="0">
                <a:solidFill>
                  <a:srgbClr val="1B2A3A"/>
                </a:solidFill>
                <a:latin typeface="Calibri"/>
              </a:rPr>
              <a:t>Is the session tag placed in the web address instead of a header? URLs end up in server logs, browser history and the Referer header - so the tag leaks.</a:t>
            </a:r>
          </a:p>
        </p:txBody>
      </p:sp>
      <p:sp>
        <p:nvSpPr>
          <p:cNvPr id="8" name="Rounded Rectangle 7"/>
          <p:cNvSpPr/>
          <p:nvPr/>
        </p:nvSpPr>
        <p:spPr>
          <a:xfrm>
            <a:off x="548640" y="5074920"/>
            <a:ext cx="11091672" cy="914400"/>
          </a:xfrm>
          <a:prstGeom prst="roundRect">
            <a:avLst>
              <a:gd name="adj" fmla="val 6000"/>
            </a:avLst>
          </a:prstGeom>
          <a:solidFill>
            <a:srgbClr val="EEF3F8"/>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59" y="5074920"/>
            <a:ext cx="10543032" cy="914400"/>
          </a:xfrm>
          <a:prstGeom prst="rect">
            <a:avLst/>
          </a:prstGeom>
          <a:noFill/>
        </p:spPr>
        <p:txBody>
          <a:bodyPr wrap="square" lIns="0" tIns="0" rIns="0" bIns="0" anchor="ctr">
            <a:spAutoFit/>
          </a:bodyPr>
          <a:lstStyle/>
          <a:p>
            <a:pPr algn="l">
              <a:lnSpc>
                <a:spcPct val="105000"/>
              </a:lnSpc>
            </a:pPr>
            <a:r>
              <a:rPr sz="1500" b="1" i="0">
                <a:solidFill>
                  <a:srgbClr val="1C7293"/>
                </a:solidFill>
                <a:latin typeface="Calibri"/>
              </a:rPr>
              <a:t>Both are about the pipe, not the login: </a:t>
            </a:r>
            <a:r>
              <a:rPr sz="1500" b="0" i="0">
                <a:solidFill>
                  <a:srgbClr val="1B2A3A"/>
                </a:solidFill>
                <a:latin typeface="Calibri"/>
              </a:rPr>
              <a:t>is the channel encrypted (#2), and does the session tag stay out of the URL (#5)? A token or session id is only ever as safe as the channel it rides 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THE CHECKS · 3 OF 6</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Finding the login: how a client discovers it (#3, #4, #10)</a:t>
            </a:r>
          </a:p>
        </p:txBody>
      </p:sp>
      <p:sp>
        <p:nvSpPr>
          <p:cNvPr id="4" name="TextBox 3"/>
          <p:cNvSpPr txBox="1"/>
          <p:nvPr/>
        </p:nvSpPr>
        <p:spPr>
          <a:xfrm>
            <a:off x="548640" y="1508760"/>
            <a:ext cx="11091672" cy="594360"/>
          </a:xfrm>
          <a:prstGeom prst="rect">
            <a:avLst/>
          </a:prstGeom>
          <a:noFill/>
        </p:spPr>
        <p:txBody>
          <a:bodyPr wrap="square" lIns="0" tIns="0" rIns="0" bIns="0" anchor="t">
            <a:spAutoFit/>
          </a:bodyPr>
          <a:lstStyle/>
          <a:p>
            <a:pPr algn="l">
              <a:lnSpc>
                <a:spcPct val="104000"/>
              </a:lnSpc>
            </a:pPr>
            <a:r>
              <a:rPr sz="1400" b="0" i="0">
                <a:solidFill>
                  <a:srgbClr val="1B2A3A"/>
                </a:solidFill>
                <a:latin typeface="Calibri"/>
              </a:rPr>
              <a:t>A caller with no token must discover where to log in. Three steps: the 401 refusal </a:t>
            </a:r>
            <a:r>
              <a:rPr sz="1400" b="0" i="1">
                <a:solidFill>
                  <a:srgbClr val="1B2A3A"/>
                </a:solidFill>
                <a:latin typeface="Calibri"/>
              </a:rPr>
              <a:t>points the way</a:t>
            </a:r>
            <a:r>
              <a:rPr sz="1400" b="0" i="0">
                <a:solidFill>
                  <a:srgbClr val="1B2A3A"/>
                </a:solidFill>
                <a:latin typeface="Calibri"/>
              </a:rPr>
              <a:t> (#3), the MCP server's metadata </a:t>
            </a:r>
            <a:r>
              <a:rPr sz="1400" b="0" i="1">
                <a:solidFill>
                  <a:srgbClr val="1B2A3A"/>
                </a:solidFill>
                <a:latin typeface="Calibri"/>
              </a:rPr>
              <a:t>names its login server</a:t>
            </a:r>
            <a:r>
              <a:rPr sz="1400" b="0" i="0">
                <a:solidFill>
                  <a:srgbClr val="1B2A3A"/>
                </a:solidFill>
                <a:latin typeface="Calibri"/>
              </a:rPr>
              <a:t> (#4), and that login server </a:t>
            </a:r>
            <a:r>
              <a:rPr sz="1400" b="0" i="1">
                <a:solidFill>
                  <a:srgbClr val="1B2A3A"/>
                </a:solidFill>
                <a:latin typeface="Calibri"/>
              </a:rPr>
              <a:t>describes itself</a:t>
            </a:r>
            <a:r>
              <a:rPr sz="1400" b="0" i="0">
                <a:solidFill>
                  <a:srgbClr val="1B2A3A"/>
                </a:solidFill>
                <a:latin typeface="Calibri"/>
              </a:rPr>
              <a:t> (#10) - often across different companies.</a:t>
            </a:r>
          </a:p>
        </p:txBody>
      </p:sp>
      <p:sp>
        <p:nvSpPr>
          <p:cNvPr id="5" name="Rounded Rectangle 4"/>
          <p:cNvSpPr/>
          <p:nvPr/>
        </p:nvSpPr>
        <p:spPr>
          <a:xfrm>
            <a:off x="548640" y="2286000"/>
            <a:ext cx="11091672" cy="109728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359152"/>
            <a:ext cx="10725912" cy="950976"/>
          </a:xfrm>
          <a:prstGeom prst="rect">
            <a:avLst/>
          </a:prstGeom>
          <a:noFill/>
        </p:spPr>
        <p:txBody>
          <a:bodyPr wrap="square" lIns="0" tIns="0" rIns="0" bIns="0" anchor="ctr">
            <a:spAutoFit/>
          </a:bodyPr>
          <a:lstStyle/>
          <a:p>
            <a:pPr algn="l">
              <a:lnSpc>
                <a:spcPct val="100000"/>
              </a:lnSpc>
              <a:spcAft>
                <a:spcPts val="200"/>
              </a:spcAft>
            </a:pPr>
            <a:r>
              <a:rPr sz="1400" b="1" i="0">
                <a:solidFill>
                  <a:srgbClr val="1C7293"/>
                </a:solidFill>
                <a:latin typeface="Calibri"/>
              </a:rPr>
              <a:t>#3  </a:t>
            </a:r>
            <a:r>
              <a:rPr sz="1400" b="1" i="0">
                <a:solidFill>
                  <a:srgbClr val="12233F"/>
                </a:solidFill>
                <a:latin typeface="Calibri"/>
              </a:rPr>
              <a:t>missing-www-authenticate</a:t>
            </a:r>
            <a:r>
              <a:rPr sz="1100" b="1" i="0">
                <a:solidFill>
                  <a:srgbClr val="1C7293"/>
                </a:solidFill>
                <a:latin typeface="Calibri"/>
              </a:rPr>
              <a:t>      MUST · RFC 9728 §5.1</a:t>
            </a:r>
          </a:p>
          <a:p>
            <a:pPr algn="l">
              <a:lnSpc>
                <a:spcPct val="100000"/>
              </a:lnSpc>
            </a:pPr>
            <a:r>
              <a:rPr sz="1150" b="0" i="0">
                <a:solidFill>
                  <a:srgbClr val="1B2A3A"/>
                </a:solidFill>
                <a:latin typeface="Calibri"/>
              </a:rPr>
              <a:t>When a server correctly refuses with 401 “log in first”, it must also say WHERE - a WWW-Authenticate header pointing at its login-info page. Many just say “no” and leave the client stuck with nowhere to go.</a:t>
            </a:r>
          </a:p>
        </p:txBody>
      </p:sp>
      <p:sp>
        <p:nvSpPr>
          <p:cNvPr id="7" name="Rounded Rectangle 6"/>
          <p:cNvSpPr/>
          <p:nvPr/>
        </p:nvSpPr>
        <p:spPr>
          <a:xfrm>
            <a:off x="548640" y="3520439"/>
            <a:ext cx="11091672" cy="109728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3593591"/>
            <a:ext cx="10725912" cy="950976"/>
          </a:xfrm>
          <a:prstGeom prst="rect">
            <a:avLst/>
          </a:prstGeom>
          <a:noFill/>
        </p:spPr>
        <p:txBody>
          <a:bodyPr wrap="square" lIns="0" tIns="0" rIns="0" bIns="0" anchor="ctr">
            <a:spAutoFit/>
          </a:bodyPr>
          <a:lstStyle/>
          <a:p>
            <a:pPr algn="l">
              <a:lnSpc>
                <a:spcPct val="100000"/>
              </a:lnSpc>
              <a:spcAft>
                <a:spcPts val="200"/>
              </a:spcAft>
            </a:pPr>
            <a:r>
              <a:rPr sz="1400" b="1" i="0" dirty="0">
                <a:solidFill>
                  <a:srgbClr val="1C7293"/>
                </a:solidFill>
                <a:latin typeface="Calibri"/>
              </a:rPr>
              <a:t>#4  </a:t>
            </a:r>
            <a:r>
              <a:rPr sz="1400" b="1" i="0" dirty="0">
                <a:solidFill>
                  <a:srgbClr val="12233F"/>
                </a:solidFill>
                <a:latin typeface="Calibri"/>
              </a:rPr>
              <a:t>missing-protected-resource-metadata</a:t>
            </a:r>
            <a:r>
              <a:rPr sz="1100" b="1" i="0" dirty="0">
                <a:solidFill>
                  <a:srgbClr val="1C7293"/>
                </a:solidFill>
                <a:latin typeface="Calibri"/>
              </a:rPr>
              <a:t>      MUST · RFC 9728 §3.1</a:t>
            </a:r>
          </a:p>
          <a:p>
            <a:pPr algn="l">
              <a:lnSpc>
                <a:spcPct val="100000"/>
              </a:lnSpc>
            </a:pPr>
            <a:r>
              <a:rPr sz="1150" b="0" i="0" dirty="0">
                <a:solidFill>
                  <a:srgbClr val="1B2A3A"/>
                </a:solidFill>
                <a:latin typeface="Calibri"/>
              </a:rPr>
              <a:t>Does the MCP server publish the page naming its login server? Without it a client can't find where to authenticate. We query the exact spec address (a well-known path inserted before the server's path), not the bare domain - or we'd falsely accuse servers hosted under a path.</a:t>
            </a:r>
          </a:p>
        </p:txBody>
      </p:sp>
      <p:sp>
        <p:nvSpPr>
          <p:cNvPr id="9" name="Rounded Rectangle 8"/>
          <p:cNvSpPr/>
          <p:nvPr/>
        </p:nvSpPr>
        <p:spPr>
          <a:xfrm>
            <a:off x="548640" y="4754879"/>
            <a:ext cx="11091672" cy="109728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4828031"/>
            <a:ext cx="10725912" cy="950976"/>
          </a:xfrm>
          <a:prstGeom prst="rect">
            <a:avLst/>
          </a:prstGeom>
          <a:noFill/>
        </p:spPr>
        <p:txBody>
          <a:bodyPr wrap="square" lIns="0" tIns="0" rIns="0" bIns="0" anchor="ctr">
            <a:spAutoFit/>
          </a:bodyPr>
          <a:lstStyle/>
          <a:p>
            <a:pPr algn="l">
              <a:lnSpc>
                <a:spcPct val="100000"/>
              </a:lnSpc>
              <a:spcAft>
                <a:spcPts val="200"/>
              </a:spcAft>
            </a:pPr>
            <a:r>
              <a:rPr sz="1400" b="1" i="0">
                <a:solidFill>
                  <a:srgbClr val="1C7293"/>
                </a:solidFill>
                <a:latin typeface="Calibri"/>
              </a:rPr>
              <a:t>#10  </a:t>
            </a:r>
            <a:r>
              <a:rPr sz="1400" b="1" i="0">
                <a:solidFill>
                  <a:srgbClr val="12233F"/>
                </a:solidFill>
                <a:latin typeface="Calibri"/>
              </a:rPr>
              <a:t>missing-as-metadata</a:t>
            </a:r>
            <a:r>
              <a:rPr sz="1100" b="1" i="0">
                <a:solidFill>
                  <a:srgbClr val="1C7293"/>
                </a:solidFill>
                <a:latin typeface="Calibri"/>
              </a:rPr>
              <a:t>      MUST · RFC 8414</a:t>
            </a:r>
          </a:p>
          <a:p>
            <a:pPr algn="l">
              <a:lnSpc>
                <a:spcPct val="100000"/>
              </a:lnSpc>
            </a:pPr>
            <a:r>
              <a:rPr sz="1150" b="0" i="0">
                <a:solidFill>
                  <a:srgbClr val="1B2A3A"/>
                </a:solidFill>
                <a:latin typeface="Calibri"/>
              </a:rPr>
              <a:t>Does the login server publish its own description, and correctly name itself? A page claiming to belong to someone else must not be trusted.</a:t>
            </a:r>
          </a:p>
        </p:txBody>
      </p:sp>
      <p:sp>
        <p:nvSpPr>
          <p:cNvPr id="11" name="TextBox 10"/>
          <p:cNvSpPr txBox="1"/>
          <p:nvPr/>
        </p:nvSpPr>
        <p:spPr>
          <a:xfrm>
            <a:off x="548640" y="5943600"/>
            <a:ext cx="11091672" cy="320040"/>
          </a:xfrm>
          <a:prstGeom prst="rect">
            <a:avLst/>
          </a:prstGeom>
          <a:noFill/>
        </p:spPr>
        <p:txBody>
          <a:bodyPr wrap="square" lIns="0" tIns="0" rIns="0" bIns="0" anchor="t">
            <a:spAutoFit/>
          </a:bodyPr>
          <a:lstStyle/>
          <a:p>
            <a:pPr algn="l"/>
            <a:r>
              <a:rPr sz="1200" b="0" i="1">
                <a:solidFill>
                  <a:srgbClr val="5C6B7A"/>
                </a:solidFill>
                <a:latin typeface="Calibri"/>
              </a:rPr>
              <a:t>These share one lookup, fetched once at the start - so #4, #9, #10, #11 and #14 all reason about the same copy.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THE CHECKS · 4 OF 6</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Session and browser defences (#6, #7, #8)</a:t>
            </a:r>
          </a:p>
        </p:txBody>
      </p:sp>
      <p:sp>
        <p:nvSpPr>
          <p:cNvPr id="4" name="Rounded Rectangle 3"/>
          <p:cNvSpPr/>
          <p:nvPr/>
        </p:nvSpPr>
        <p:spPr>
          <a:xfrm>
            <a:off x="548640" y="1691640"/>
            <a:ext cx="11091672" cy="123444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764792"/>
            <a:ext cx="10725912" cy="1088136"/>
          </a:xfrm>
          <a:prstGeom prst="rect">
            <a:avLst/>
          </a:prstGeom>
          <a:noFill/>
        </p:spPr>
        <p:txBody>
          <a:bodyPr wrap="square" lIns="0" tIns="0" rIns="0" bIns="0" anchor="ctr">
            <a:spAutoFit/>
          </a:bodyPr>
          <a:lstStyle/>
          <a:p>
            <a:pPr algn="l">
              <a:lnSpc>
                <a:spcPct val="100000"/>
              </a:lnSpc>
              <a:spcAft>
                <a:spcPts val="200"/>
              </a:spcAft>
            </a:pPr>
            <a:r>
              <a:rPr sz="1400" b="1" i="0">
                <a:solidFill>
                  <a:srgbClr val="1C7293"/>
                </a:solidFill>
                <a:latin typeface="Calibri"/>
              </a:rPr>
              <a:t>#6  </a:t>
            </a:r>
            <a:r>
              <a:rPr sz="1400" b="1" i="0">
                <a:solidFill>
                  <a:srgbClr val="12233F"/>
                </a:solidFill>
                <a:latin typeface="Calibri"/>
              </a:rPr>
              <a:t>predictable-session-id</a:t>
            </a:r>
            <a:r>
              <a:rPr sz="1100" b="1" i="0">
                <a:solidFill>
                  <a:srgbClr val="5C6B7A"/>
                </a:solidFill>
                <a:latin typeface="Calibri"/>
              </a:rPr>
              <a:t>      SHOULD · Transports §Session Mgmt</a:t>
            </a:r>
          </a:p>
          <a:p>
            <a:pPr algn="l">
              <a:lnSpc>
                <a:spcPct val="100000"/>
              </a:lnSpc>
            </a:pPr>
            <a:r>
              <a:rPr sz="1200" b="0" i="0">
                <a:solidFill>
                  <a:srgbClr val="1B2A3A"/>
                </a:solidFill>
                <a:latin typeface="Calibri"/>
              </a:rPr>
              <a:t>Open several sessions and compare the tags. Counting up, identical, or too little randomness = guessable. Key idea: length is not entropy - a 15-char random token beats a 16-digit counter.</a:t>
            </a:r>
          </a:p>
        </p:txBody>
      </p:sp>
      <p:sp>
        <p:nvSpPr>
          <p:cNvPr id="6" name="Rounded Rectangle 5"/>
          <p:cNvSpPr/>
          <p:nvPr/>
        </p:nvSpPr>
        <p:spPr>
          <a:xfrm>
            <a:off x="548640" y="3127248"/>
            <a:ext cx="11091672" cy="123444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200400"/>
            <a:ext cx="10725912" cy="1088136"/>
          </a:xfrm>
          <a:prstGeom prst="rect">
            <a:avLst/>
          </a:prstGeom>
          <a:noFill/>
        </p:spPr>
        <p:txBody>
          <a:bodyPr wrap="square" lIns="0" tIns="0" rIns="0" bIns="0" anchor="ctr">
            <a:spAutoFit/>
          </a:bodyPr>
          <a:lstStyle/>
          <a:p>
            <a:pPr algn="l">
              <a:lnSpc>
                <a:spcPct val="100000"/>
              </a:lnSpc>
              <a:spcAft>
                <a:spcPts val="200"/>
              </a:spcAft>
            </a:pPr>
            <a:r>
              <a:rPr sz="1400" b="1" i="0">
                <a:solidFill>
                  <a:srgbClr val="1C7293"/>
                </a:solidFill>
                <a:latin typeface="Calibri"/>
              </a:rPr>
              <a:t>#7  </a:t>
            </a:r>
            <a:r>
              <a:rPr sz="1400" b="1" i="0">
                <a:solidFill>
                  <a:srgbClr val="12233F"/>
                </a:solidFill>
                <a:latin typeface="Calibri"/>
              </a:rPr>
              <a:t>origin-not-validated</a:t>
            </a:r>
            <a:r>
              <a:rPr sz="1100" b="1" i="0">
                <a:solidFill>
                  <a:srgbClr val="1C7293"/>
                </a:solidFill>
                <a:latin typeface="Calibri"/>
              </a:rPr>
              <a:t>      MUST · Transports §Security</a:t>
            </a:r>
          </a:p>
          <a:p>
            <a:pPr algn="l">
              <a:lnSpc>
                <a:spcPct val="100000"/>
              </a:lnSpc>
            </a:pPr>
            <a:r>
              <a:rPr sz="1200" b="0" i="0">
                <a:solidFill>
                  <a:srgbClr val="1B2A3A"/>
                </a:solidFill>
                <a:latin typeface="Calibri"/>
              </a:rPr>
              <a:t>Send a request with a forged Origin. A refusal only counts if a no-Origin control is accepted - otherwise the server just refuses everything. Guards against DNS-rebinding, mainly a threat to local servers.</a:t>
            </a:r>
          </a:p>
        </p:txBody>
      </p:sp>
      <p:sp>
        <p:nvSpPr>
          <p:cNvPr id="8" name="Rounded Rectangle 7"/>
          <p:cNvSpPr/>
          <p:nvPr/>
        </p:nvSpPr>
        <p:spPr>
          <a:xfrm>
            <a:off x="548640" y="4562856"/>
            <a:ext cx="11091672" cy="123444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4636008"/>
            <a:ext cx="10725912" cy="1088136"/>
          </a:xfrm>
          <a:prstGeom prst="rect">
            <a:avLst/>
          </a:prstGeom>
          <a:noFill/>
        </p:spPr>
        <p:txBody>
          <a:bodyPr wrap="square" lIns="0" tIns="0" rIns="0" bIns="0" anchor="ctr">
            <a:spAutoFit/>
          </a:bodyPr>
          <a:lstStyle/>
          <a:p>
            <a:pPr algn="l">
              <a:lnSpc>
                <a:spcPct val="100000"/>
              </a:lnSpc>
              <a:spcAft>
                <a:spcPts val="200"/>
              </a:spcAft>
            </a:pPr>
            <a:r>
              <a:rPr sz="1400" b="1" i="0">
                <a:solidFill>
                  <a:srgbClr val="1C7293"/>
                </a:solidFill>
                <a:latin typeface="Calibri"/>
              </a:rPr>
              <a:t>#8  </a:t>
            </a:r>
            <a:r>
              <a:rPr sz="1400" b="1" i="0">
                <a:solidFill>
                  <a:srgbClr val="12233F"/>
                </a:solidFill>
                <a:latin typeface="Calibri"/>
              </a:rPr>
              <a:t>cors-misconfiguration</a:t>
            </a:r>
            <a:r>
              <a:rPr sz="1100" b="1" i="0">
                <a:solidFill>
                  <a:srgbClr val="5C6B7A"/>
                </a:solidFill>
                <a:latin typeface="Calibri"/>
              </a:rPr>
              <a:t>      non-MCP · web security</a:t>
            </a:r>
          </a:p>
          <a:p>
            <a:pPr algn="l">
              <a:lnSpc>
                <a:spcPct val="100000"/>
              </a:lnSpc>
            </a:pPr>
            <a:r>
              <a:rPr sz="1200" b="0" i="0">
                <a:solidFill>
                  <a:srgbClr val="1B2A3A"/>
                </a:solidFill>
                <a:latin typeface="Calibri"/>
              </a:rPr>
              <a:t>Does it tell browsers “any website may call me” and “you may send credentials”? Not an MCP rule - reported as general web security, and only relevant if a browser is involved.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THE CHECKS · 5 OF 6</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OAuth hygiene in the published metadata (#9, #11)</a:t>
            </a:r>
          </a:p>
        </p:txBody>
      </p:sp>
      <p:sp>
        <p:nvSpPr>
          <p:cNvPr id="4" name="Rounded Rectangle 3"/>
          <p:cNvSpPr/>
          <p:nvPr/>
        </p:nvSpPr>
        <p:spPr>
          <a:xfrm>
            <a:off x="548640" y="1737360"/>
            <a:ext cx="11091672" cy="137160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810512"/>
            <a:ext cx="10725912" cy="1225296"/>
          </a:xfrm>
          <a:prstGeom prst="rect">
            <a:avLst/>
          </a:prstGeom>
          <a:noFill/>
        </p:spPr>
        <p:txBody>
          <a:bodyPr wrap="square" lIns="0" tIns="0" rIns="0" bIns="0" anchor="ctr">
            <a:spAutoFit/>
          </a:bodyPr>
          <a:lstStyle/>
          <a:p>
            <a:pPr algn="l">
              <a:lnSpc>
                <a:spcPct val="100000"/>
              </a:lnSpc>
              <a:spcAft>
                <a:spcPts val="200"/>
              </a:spcAft>
            </a:pPr>
            <a:r>
              <a:rPr sz="1400" b="1" i="0">
                <a:solidFill>
                  <a:srgbClr val="1C7293"/>
                </a:solidFill>
                <a:latin typeface="Calibri"/>
              </a:rPr>
              <a:t>#9  </a:t>
            </a:r>
            <a:r>
              <a:rPr sz="1400" b="1" i="0">
                <a:solidFill>
                  <a:srgbClr val="12233F"/>
                </a:solidFill>
                <a:latin typeface="Calibri"/>
              </a:rPr>
              <a:t>auth-endpoints-not-https</a:t>
            </a:r>
            <a:r>
              <a:rPr sz="1100" b="1" i="0">
                <a:solidFill>
                  <a:srgbClr val="1C7293"/>
                </a:solidFill>
                <a:latin typeface="Calibri"/>
              </a:rPr>
              <a:t>      MUST · OAuth 2.1 §1.5</a:t>
            </a:r>
          </a:p>
          <a:p>
            <a:pPr algn="l">
              <a:lnSpc>
                <a:spcPct val="100000"/>
              </a:lnSpc>
            </a:pPr>
            <a:r>
              <a:rPr sz="1200" b="0" i="0">
                <a:solidFill>
                  <a:srgbClr val="1B2A3A"/>
                </a:solidFill>
                <a:latin typeface="Calibri"/>
              </a:rPr>
              <a:t>Among the login addresses the server publishes, is any on plain http on a public host? Tokens would travel in the clear. Reads the shared lookup - it makes no request of its own.</a:t>
            </a:r>
          </a:p>
        </p:txBody>
      </p:sp>
      <p:sp>
        <p:nvSpPr>
          <p:cNvPr id="6" name="Rounded Rectangle 5"/>
          <p:cNvSpPr/>
          <p:nvPr/>
        </p:nvSpPr>
        <p:spPr>
          <a:xfrm>
            <a:off x="548640" y="3383280"/>
            <a:ext cx="11091672" cy="137160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456432"/>
            <a:ext cx="10725912" cy="1225296"/>
          </a:xfrm>
          <a:prstGeom prst="rect">
            <a:avLst/>
          </a:prstGeom>
          <a:noFill/>
        </p:spPr>
        <p:txBody>
          <a:bodyPr wrap="square" lIns="0" tIns="0" rIns="0" bIns="0" anchor="ctr">
            <a:spAutoFit/>
          </a:bodyPr>
          <a:lstStyle/>
          <a:p>
            <a:pPr algn="l">
              <a:lnSpc>
                <a:spcPct val="100000"/>
              </a:lnSpc>
              <a:spcAft>
                <a:spcPts val="200"/>
              </a:spcAft>
            </a:pPr>
            <a:r>
              <a:rPr sz="1400" b="1" i="0">
                <a:solidFill>
                  <a:srgbClr val="1C7293"/>
                </a:solidFill>
                <a:latin typeface="Calibri"/>
              </a:rPr>
              <a:t>#11  </a:t>
            </a:r>
            <a:r>
              <a:rPr sz="1400" b="1" i="0">
                <a:solidFill>
                  <a:srgbClr val="12233F"/>
                </a:solidFill>
                <a:latin typeface="Calibri"/>
              </a:rPr>
              <a:t>implicit-flow-enabled</a:t>
            </a:r>
            <a:r>
              <a:rPr sz="1100" b="1" i="0">
                <a:solidFill>
                  <a:srgbClr val="1C7293"/>
                </a:solidFill>
                <a:latin typeface="Calibri"/>
              </a:rPr>
              <a:t>      MUST NOT · OAuth 2.1 §1.8</a:t>
            </a:r>
          </a:p>
          <a:p>
            <a:pPr algn="l">
              <a:lnSpc>
                <a:spcPct val="100000"/>
              </a:lnSpc>
            </a:pPr>
            <a:r>
              <a:rPr sz="1200" b="0" i="0">
                <a:solidFill>
                  <a:srgbClr val="1B2A3A"/>
                </a:solidFill>
                <a:latin typeface="Calibri"/>
              </a:rPr>
              <a:t>Does the login server still advertise the old “implicit” flow, which delivered the token inside the web address (where it leaks)? OAuth 2.1 removed it in favour of the authorization-code flow.</a:t>
            </a:r>
          </a:p>
        </p:txBody>
      </p:sp>
      <p:sp>
        <p:nvSpPr>
          <p:cNvPr id="8" name="Rounded Rectangle 7"/>
          <p:cNvSpPr/>
          <p:nvPr/>
        </p:nvSpPr>
        <p:spPr>
          <a:xfrm>
            <a:off x="548640" y="4937760"/>
            <a:ext cx="11091672" cy="91440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59" y="4937760"/>
            <a:ext cx="10543032" cy="914400"/>
          </a:xfrm>
          <a:prstGeom prst="rect">
            <a:avLst/>
          </a:prstGeom>
          <a:noFill/>
        </p:spPr>
        <p:txBody>
          <a:bodyPr wrap="square" lIns="0" tIns="0" rIns="0" bIns="0" anchor="ctr">
            <a:spAutoFit/>
          </a:bodyPr>
          <a:lstStyle/>
          <a:p>
            <a:pPr algn="l">
              <a:lnSpc>
                <a:spcPct val="105000"/>
              </a:lnSpc>
            </a:pPr>
            <a:r>
              <a:rPr sz="1400" b="1" i="0">
                <a:solidFill>
                  <a:srgbClr val="12233F"/>
                </a:solidFill>
                <a:latin typeface="Calibri"/>
              </a:rPr>
              <a:t>A secure connection to a badly-configured login server is still unsafe. </a:t>
            </a:r>
            <a:r>
              <a:rPr sz="1400" b="0" i="0">
                <a:solidFill>
                  <a:srgbClr val="1B2A3A"/>
                </a:solidFill>
                <a:latin typeface="Calibri"/>
              </a:rPr>
              <a:t>These two catch that in what the server advertises about its own login - before a client ever sends a token. Subtlety in #11: the login server lists its supported modes as one space-separated value, so we parse that list rather than string-match it - that way a combined “id_token token” is still flagged as offering the leaky implicit flow, which a naive check would miss.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THE CHECKS · 6 OF 6</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The two checks that write - off by default (#12, #14)</a:t>
            </a:r>
          </a:p>
        </p:txBody>
      </p:sp>
      <p:sp>
        <p:nvSpPr>
          <p:cNvPr id="4" name="Rounded Rectangle 3"/>
          <p:cNvSpPr/>
          <p:nvPr/>
        </p:nvSpPr>
        <p:spPr>
          <a:xfrm>
            <a:off x="548640" y="1737360"/>
            <a:ext cx="11091672" cy="137160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810512"/>
            <a:ext cx="10725912" cy="1225296"/>
          </a:xfrm>
          <a:prstGeom prst="rect">
            <a:avLst/>
          </a:prstGeom>
          <a:noFill/>
        </p:spPr>
        <p:txBody>
          <a:bodyPr wrap="square" lIns="0" tIns="0" rIns="0" bIns="0" anchor="ctr">
            <a:spAutoFit/>
          </a:bodyPr>
          <a:lstStyle/>
          <a:p>
            <a:pPr algn="l">
              <a:lnSpc>
                <a:spcPct val="100000"/>
              </a:lnSpc>
              <a:spcAft>
                <a:spcPts val="200"/>
              </a:spcAft>
            </a:pPr>
            <a:r>
              <a:rPr sz="1400" b="1" i="0">
                <a:solidFill>
                  <a:srgbClr val="1C7293"/>
                </a:solidFill>
                <a:latin typeface="Calibri"/>
              </a:rPr>
              <a:t>#12  </a:t>
            </a:r>
            <a:r>
              <a:rPr sz="1400" b="1" i="0">
                <a:solidFill>
                  <a:srgbClr val="12233F"/>
                </a:solidFill>
                <a:latin typeface="Calibri"/>
              </a:rPr>
              <a:t>open-dcr</a:t>
            </a:r>
            <a:r>
              <a:rPr sz="1100" b="1" i="0">
                <a:solidFill>
                  <a:srgbClr val="5C6B7A"/>
                </a:solidFill>
                <a:latin typeface="Calibri"/>
              </a:rPr>
              <a:t>      SHOULD · RFC 7591 §3</a:t>
            </a:r>
          </a:p>
          <a:p>
            <a:pPr algn="l">
              <a:lnSpc>
                <a:spcPct val="100000"/>
              </a:lnSpc>
            </a:pPr>
            <a:r>
              <a:rPr sz="1200" b="0" i="0">
                <a:solidFill>
                  <a:srgbClr val="1B2A3A"/>
                </a:solidFill>
                <a:latin typeface="Calibri"/>
              </a:rPr>
              <a:t>Dynamic Client Registration (DCR) lets an app sign itself up with the login server, no human involved. #12 sends a real registration to ask: will the server hand out client credentials to anyone, with no review or vetting? Permitted by the rules, so reported as posture - but it is the foothold a bigger attack needs.</a:t>
            </a:r>
          </a:p>
        </p:txBody>
      </p:sp>
      <p:sp>
        <p:nvSpPr>
          <p:cNvPr id="6" name="Rounded Rectangle 5"/>
          <p:cNvSpPr/>
          <p:nvPr/>
        </p:nvSpPr>
        <p:spPr>
          <a:xfrm>
            <a:off x="548640" y="3383280"/>
            <a:ext cx="11091672" cy="137160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456432"/>
            <a:ext cx="10725912" cy="1225296"/>
          </a:xfrm>
          <a:prstGeom prst="rect">
            <a:avLst/>
          </a:prstGeom>
          <a:noFill/>
        </p:spPr>
        <p:txBody>
          <a:bodyPr wrap="square" lIns="0" tIns="0" rIns="0" bIns="0" anchor="ctr">
            <a:spAutoFit/>
          </a:bodyPr>
          <a:lstStyle/>
          <a:p>
            <a:pPr algn="l">
              <a:lnSpc>
                <a:spcPct val="100000"/>
              </a:lnSpc>
              <a:spcAft>
                <a:spcPts val="200"/>
              </a:spcAft>
            </a:pPr>
            <a:r>
              <a:rPr sz="1400" b="1" i="0">
                <a:solidFill>
                  <a:srgbClr val="1C7293"/>
                </a:solidFill>
                <a:latin typeface="Calibri"/>
              </a:rPr>
              <a:t>#14  </a:t>
            </a:r>
            <a:r>
              <a:rPr sz="1400" b="1" i="0">
                <a:solidFill>
                  <a:srgbClr val="12233F"/>
                </a:solidFill>
                <a:latin typeface="Calibri"/>
              </a:rPr>
              <a:t>improper-redirect-uri-validation</a:t>
            </a:r>
            <a:r>
              <a:rPr sz="1100" b="1" i="0">
                <a:solidFill>
                  <a:srgbClr val="1C7293"/>
                </a:solidFill>
                <a:latin typeface="Calibri"/>
              </a:rPr>
              <a:t>      MUST · OAuth 2.1 §7.5.4</a:t>
            </a:r>
          </a:p>
          <a:p>
            <a:pPr algn="l">
              <a:lnSpc>
                <a:spcPct val="100000"/>
              </a:lnSpc>
            </a:pPr>
            <a:r>
              <a:rPr sz="1200" b="0" i="0">
                <a:solidFill>
                  <a:srgbClr val="1B2A3A"/>
                </a:solidFill>
                <a:latin typeface="Calibri"/>
              </a:rPr>
              <a:t>After login, the server returns the user to a registered address carrying the login code. Does it accept an address the client never registered? If so, an attacker can steal the code. Needs a registered client first - so it also writes.</a:t>
            </a:r>
          </a:p>
        </p:txBody>
      </p:sp>
      <p:sp>
        <p:nvSpPr>
          <p:cNvPr id="8" name="Rounded Rectangle 7"/>
          <p:cNvSpPr/>
          <p:nvPr/>
        </p:nvSpPr>
        <p:spPr>
          <a:xfrm>
            <a:off x="548640" y="4937760"/>
            <a:ext cx="11091672" cy="914400"/>
          </a:xfrm>
          <a:prstGeom prst="roundRect">
            <a:avLst>
              <a:gd name="adj" fmla="val 6000"/>
            </a:avLst>
          </a:prstGeom>
          <a:solidFill>
            <a:srgbClr val="FBEFD8"/>
          </a:solidFill>
          <a:ln w="19050">
            <a:solidFill>
              <a:srgbClr val="B47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59" y="4937760"/>
            <a:ext cx="10543032" cy="914400"/>
          </a:xfrm>
          <a:prstGeom prst="rect">
            <a:avLst/>
          </a:prstGeom>
          <a:noFill/>
        </p:spPr>
        <p:txBody>
          <a:bodyPr wrap="square" lIns="0" tIns="0" rIns="0" bIns="0" anchor="ctr">
            <a:spAutoFit/>
          </a:bodyPr>
          <a:lstStyle/>
          <a:p>
            <a:pPr algn="l">
              <a:lnSpc>
                <a:spcPct val="105000"/>
              </a:lnSpc>
            </a:pPr>
            <a:r>
              <a:rPr sz="1400" b="0" i="0">
                <a:solidFill>
                  <a:srgbClr val="1B2A3A"/>
                </a:solidFill>
                <a:latin typeface="Calibri"/>
              </a:rPr>
              <a:t>Both create real state on the server, so they run only when explicitly enabled (--unsafe-writes). Everything created is written to a journal before any attempt to delete it.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RESULTS</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We ran all 14 checks against 83 public servers</a:t>
            </a:r>
          </a:p>
        </p:txBody>
      </p:sp>
      <p:sp>
        <p:nvSpPr>
          <p:cNvPr id="4" name="TextBox 3"/>
          <p:cNvSpPr txBox="1"/>
          <p:nvPr/>
        </p:nvSpPr>
        <p:spPr>
          <a:xfrm>
            <a:off x="548640" y="1737360"/>
            <a:ext cx="11091672" cy="731520"/>
          </a:xfrm>
          <a:prstGeom prst="rect">
            <a:avLst/>
          </a:prstGeom>
          <a:noFill/>
        </p:spPr>
        <p:txBody>
          <a:bodyPr wrap="square" lIns="0" tIns="0" rIns="0" bIns="0" anchor="t">
            <a:spAutoFit/>
          </a:bodyPr>
          <a:lstStyle/>
          <a:p>
            <a:pPr algn="l">
              <a:lnSpc>
                <a:spcPct val="105000"/>
              </a:lnSpc>
            </a:pPr>
            <a:r>
              <a:rPr sz="1600" b="0" i="0">
                <a:solidFill>
                  <a:srgbClr val="1B2A3A"/>
                </a:solidFill>
                <a:latin typeface="Calibri"/>
              </a:rPr>
              <a:t>One consistent scan per server on 2026-09-27 - one pass, all 14 checks, zero ERROR verdicts. Servers came from the official MCP Registry; the raw request/response for every server is committed.</a:t>
            </a:r>
          </a:p>
        </p:txBody>
      </p:sp>
      <p:sp>
        <p:nvSpPr>
          <p:cNvPr id="5" name="Rounded Rectangle 4"/>
          <p:cNvSpPr/>
          <p:nvPr/>
        </p:nvSpPr>
        <p:spPr>
          <a:xfrm>
            <a:off x="548640" y="3017520"/>
            <a:ext cx="3566160" cy="1828800"/>
          </a:xfrm>
          <a:prstGeom prst="roundRect">
            <a:avLst>
              <a:gd name="adj" fmla="val 6000"/>
            </a:avLst>
          </a:prstGeom>
          <a:solidFill>
            <a:srgbClr val="EEF3F8"/>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3200400"/>
            <a:ext cx="3200400" cy="1463040"/>
          </a:xfrm>
          <a:prstGeom prst="rect">
            <a:avLst/>
          </a:prstGeom>
          <a:noFill/>
        </p:spPr>
        <p:txBody>
          <a:bodyPr wrap="square" lIns="0" tIns="0" rIns="0" bIns="0" anchor="ctr">
            <a:spAutoFit/>
          </a:bodyPr>
          <a:lstStyle/>
          <a:p>
            <a:pPr algn="ctr">
              <a:spcAft>
                <a:spcPts val="200"/>
              </a:spcAft>
            </a:pPr>
            <a:r>
              <a:rPr sz="5400" b="1" i="0">
                <a:solidFill>
                  <a:srgbClr val="1C7293"/>
                </a:solidFill>
                <a:latin typeface="Calibri"/>
              </a:rPr>
              <a:t>83</a:t>
            </a:r>
          </a:p>
          <a:p>
            <a:pPr algn="ctr">
              <a:spcAft>
                <a:spcPts val="200"/>
              </a:spcAft>
            </a:pPr>
            <a:r>
              <a:rPr sz="1500" b="1" i="0">
                <a:solidFill>
                  <a:srgbClr val="12233F"/>
                </a:solidFill>
                <a:latin typeface="Calibri"/>
              </a:rPr>
              <a:t>servers scanned</a:t>
            </a:r>
          </a:p>
          <a:p>
            <a:pPr algn="ctr"/>
            <a:r>
              <a:rPr sz="1200" b="0" i="0">
                <a:solidFill>
                  <a:srgbClr val="5C6B7A"/>
                </a:solidFill>
                <a:latin typeface="Calibri"/>
              </a:rPr>
              <a:t>one consistent run</a:t>
            </a:r>
          </a:p>
        </p:txBody>
      </p:sp>
      <p:sp>
        <p:nvSpPr>
          <p:cNvPr id="7" name="Rounded Rectangle 6"/>
          <p:cNvSpPr/>
          <p:nvPr/>
        </p:nvSpPr>
        <p:spPr>
          <a:xfrm>
            <a:off x="4434840" y="3017520"/>
            <a:ext cx="3566160" cy="1828800"/>
          </a:xfrm>
          <a:prstGeom prst="roundRect">
            <a:avLst>
              <a:gd name="adj" fmla="val 6000"/>
            </a:avLst>
          </a:prstGeom>
          <a:solidFill>
            <a:srgbClr val="EEF3F8"/>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17720" y="3200400"/>
            <a:ext cx="3200400" cy="1463040"/>
          </a:xfrm>
          <a:prstGeom prst="rect">
            <a:avLst/>
          </a:prstGeom>
          <a:noFill/>
        </p:spPr>
        <p:txBody>
          <a:bodyPr wrap="square" lIns="0" tIns="0" rIns="0" bIns="0" anchor="ctr">
            <a:spAutoFit/>
          </a:bodyPr>
          <a:lstStyle/>
          <a:p>
            <a:pPr algn="ctr">
              <a:spcAft>
                <a:spcPts val="200"/>
              </a:spcAft>
            </a:pPr>
            <a:r>
              <a:rPr sz="5400" b="1" i="0">
                <a:solidFill>
                  <a:srgbClr val="1C7293"/>
                </a:solidFill>
                <a:latin typeface="Calibri"/>
              </a:rPr>
              <a:t>14</a:t>
            </a:r>
          </a:p>
          <a:p>
            <a:pPr algn="ctr">
              <a:spcAft>
                <a:spcPts val="200"/>
              </a:spcAft>
            </a:pPr>
            <a:r>
              <a:rPr sz="1500" b="1" i="0">
                <a:solidFill>
                  <a:srgbClr val="12233F"/>
                </a:solidFill>
                <a:latin typeface="Calibri"/>
              </a:rPr>
              <a:t>checks each</a:t>
            </a:r>
          </a:p>
          <a:p>
            <a:pPr algn="ctr"/>
            <a:r>
              <a:rPr sz="1200" b="0" i="0">
                <a:solidFill>
                  <a:srgbClr val="5C6B7A"/>
                </a:solidFill>
                <a:latin typeface="Calibri"/>
              </a:rPr>
              <a:t>12 read-only + 2 write</a:t>
            </a:r>
          </a:p>
        </p:txBody>
      </p:sp>
      <p:sp>
        <p:nvSpPr>
          <p:cNvPr id="9" name="Rounded Rectangle 8"/>
          <p:cNvSpPr/>
          <p:nvPr/>
        </p:nvSpPr>
        <p:spPr>
          <a:xfrm>
            <a:off x="8321040" y="3017520"/>
            <a:ext cx="3566160" cy="1828800"/>
          </a:xfrm>
          <a:prstGeom prst="roundRect">
            <a:avLst>
              <a:gd name="adj" fmla="val 6000"/>
            </a:avLst>
          </a:prstGeom>
          <a:solidFill>
            <a:srgbClr val="EEF3F8"/>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03919" y="3200400"/>
            <a:ext cx="3200400" cy="1463040"/>
          </a:xfrm>
          <a:prstGeom prst="rect">
            <a:avLst/>
          </a:prstGeom>
          <a:noFill/>
        </p:spPr>
        <p:txBody>
          <a:bodyPr wrap="square" lIns="0" tIns="0" rIns="0" bIns="0" anchor="ctr">
            <a:spAutoFit/>
          </a:bodyPr>
          <a:lstStyle/>
          <a:p>
            <a:pPr algn="ctr">
              <a:spcAft>
                <a:spcPts val="200"/>
              </a:spcAft>
            </a:pPr>
            <a:r>
              <a:rPr sz="5400" b="1" i="0">
                <a:solidFill>
                  <a:srgbClr val="1C7293"/>
                </a:solidFill>
                <a:latin typeface="Calibri"/>
              </a:rPr>
              <a:t>0</a:t>
            </a:r>
          </a:p>
          <a:p>
            <a:pPr algn="ctr">
              <a:spcAft>
                <a:spcPts val="200"/>
              </a:spcAft>
            </a:pPr>
            <a:r>
              <a:rPr sz="1500" b="1" i="0">
                <a:solidFill>
                  <a:srgbClr val="12233F"/>
                </a:solidFill>
                <a:latin typeface="Calibri"/>
              </a:rPr>
              <a:t>ERROR verdicts</a:t>
            </a:r>
          </a:p>
          <a:p>
            <a:pPr algn="ctr"/>
            <a:r>
              <a:rPr sz="1200" b="0" i="0">
                <a:solidFill>
                  <a:srgbClr val="5C6B7A"/>
                </a:solidFill>
                <a:latin typeface="Calibri"/>
              </a:rPr>
              <a:t>dead endpoints removed</a:t>
            </a:r>
          </a:p>
        </p:txBody>
      </p:sp>
      <p:sp>
        <p:nvSpPr>
          <p:cNvPr id="11" name="TextBox 10"/>
          <p:cNvSpPr txBox="1"/>
          <p:nvPr/>
        </p:nvSpPr>
        <p:spPr>
          <a:xfrm>
            <a:off x="548640" y="5120640"/>
            <a:ext cx="11091672" cy="731520"/>
          </a:xfrm>
          <a:prstGeom prst="rect">
            <a:avLst/>
          </a:prstGeom>
          <a:noFill/>
        </p:spPr>
        <p:txBody>
          <a:bodyPr wrap="square" lIns="0" tIns="0" rIns="0" bIns="0" anchor="t">
            <a:spAutoFit/>
          </a:bodyPr>
          <a:lstStyle/>
          <a:p>
            <a:pPr algn="l">
              <a:lnSpc>
                <a:spcPct val="104000"/>
              </a:lnSpc>
            </a:pPr>
            <a:r>
              <a:rPr sz="1400" b="1" i="0">
                <a:solidFill>
                  <a:srgbClr val="12233F"/>
                </a:solidFill>
                <a:latin typeface="Calibri"/>
              </a:rPr>
              <a:t>Two populations. </a:t>
            </a:r>
            <a:r>
              <a:rPr sz="1400" b="0" i="0">
                <a:solidFill>
                  <a:srgbClr val="5C6B7A"/>
                </a:solidFill>
                <a:latin typeface="Calibri"/>
              </a:rPr>
              <a:t>These 83 are real, public servers from the official MCP Registry - a public directory of live MCP servers. Separately, we built 7 local practice servers to develop and validate the scanner itself (slide 23).</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RESULTS</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The full results</a:t>
            </a:r>
          </a:p>
        </p:txBody>
      </p:sp>
      <p:graphicFrame>
        <p:nvGraphicFramePr>
          <p:cNvPr id="4" name="Table 3"/>
          <p:cNvGraphicFramePr>
            <a:graphicFrameLocks noGrp="1"/>
          </p:cNvGraphicFramePr>
          <p:nvPr/>
        </p:nvGraphicFramePr>
        <p:xfrm>
          <a:off x="548640" y="1600200"/>
          <a:ext cx="10469880" cy="4251960"/>
        </p:xfrm>
        <a:graphic>
          <a:graphicData uri="http://schemas.openxmlformats.org/drawingml/2006/table">
            <a:tbl>
              <a:tblPr>
                <a:tableStyleId>{5C22544A-7EE6-4342-B048-85BDC9FD1C3A}</a:tableStyleId>
              </a:tblPr>
              <a:tblGrid>
                <a:gridCol w="484632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283464">
                <a:tc>
                  <a:txBody>
                    <a:bodyPr/>
                    <a:lstStyle/>
                    <a:p>
                      <a:pPr algn="l"/>
                      <a:r>
                        <a:rPr sz="1100" b="1">
                          <a:solidFill>
                            <a:srgbClr val="FFFFFF"/>
                          </a:solidFill>
                          <a:latin typeface="Calibri"/>
                        </a:rPr>
                        <a:t>Check</a:t>
                      </a:r>
                    </a:p>
                  </a:txBody>
                  <a:tcPr anchor="ctr">
                    <a:solidFill>
                      <a:srgbClr val="12233F"/>
                    </a:solidFill>
                  </a:tcPr>
                </a:tc>
                <a:tc>
                  <a:txBody>
                    <a:bodyPr/>
                    <a:lstStyle/>
                    <a:p>
                      <a:pPr algn="ctr"/>
                      <a:r>
                        <a:rPr sz="1100" b="1">
                          <a:solidFill>
                            <a:srgbClr val="FFFFFF"/>
                          </a:solidFill>
                          <a:latin typeface="Calibri"/>
                        </a:rPr>
                        <a:t>HAS_GAP</a:t>
                      </a:r>
                    </a:p>
                  </a:txBody>
                  <a:tcPr anchor="ctr">
                    <a:solidFill>
                      <a:srgbClr val="12233F"/>
                    </a:solidFill>
                  </a:tcPr>
                </a:tc>
                <a:tc>
                  <a:txBody>
                    <a:bodyPr/>
                    <a:lstStyle/>
                    <a:p>
                      <a:pPr algn="ctr"/>
                      <a:r>
                        <a:rPr sz="1100" b="1">
                          <a:solidFill>
                            <a:srgbClr val="FFFFFF"/>
                          </a:solidFill>
                          <a:latin typeface="Calibri"/>
                        </a:rPr>
                        <a:t>NO_GAP</a:t>
                      </a:r>
                    </a:p>
                  </a:txBody>
                  <a:tcPr anchor="ctr">
                    <a:solidFill>
                      <a:srgbClr val="12233F"/>
                    </a:solidFill>
                  </a:tcPr>
                </a:tc>
                <a:tc>
                  <a:txBody>
                    <a:bodyPr/>
                    <a:lstStyle/>
                    <a:p>
                      <a:pPr algn="ctr"/>
                      <a:r>
                        <a:rPr sz="1100" b="1">
                          <a:solidFill>
                            <a:srgbClr val="FFFFFF"/>
                          </a:solidFill>
                          <a:latin typeface="Calibri"/>
                        </a:rPr>
                        <a:t>N/A</a:t>
                      </a:r>
                    </a:p>
                  </a:txBody>
                  <a:tcPr anchor="ctr">
                    <a:solidFill>
                      <a:srgbClr val="12233F"/>
                    </a:solidFill>
                  </a:tcPr>
                </a:tc>
                <a:tc>
                  <a:txBody>
                    <a:bodyPr/>
                    <a:lstStyle/>
                    <a:p>
                      <a:pPr algn="ctr"/>
                      <a:r>
                        <a:rPr sz="1100" b="1">
                          <a:solidFill>
                            <a:srgbClr val="FFFFFF"/>
                          </a:solidFill>
                          <a:latin typeface="Calibri"/>
                        </a:rPr>
                        <a:t>INC</a:t>
                      </a:r>
                    </a:p>
                  </a:txBody>
                  <a:tcPr anchor="ctr">
                    <a:solidFill>
                      <a:srgbClr val="12233F"/>
                    </a:solidFill>
                  </a:tcPr>
                </a:tc>
                <a:extLst>
                  <a:ext uri="{0D108BD9-81ED-4DB2-BD59-A6C34878D82A}">
                    <a16:rowId xmlns:a16="http://schemas.microsoft.com/office/drawing/2014/main" val="10000"/>
                  </a:ext>
                </a:extLst>
              </a:tr>
              <a:tr h="283464">
                <a:tc>
                  <a:txBody>
                    <a:bodyPr/>
                    <a:lstStyle/>
                    <a:p>
                      <a:pPr algn="l"/>
                      <a:r>
                        <a:rPr sz="1050" b="1">
                          <a:solidFill>
                            <a:srgbClr val="1B2A3A"/>
                          </a:solidFill>
                          <a:latin typeface="Calibri"/>
                        </a:rPr>
                        <a:t>#1 no-authentication-remote</a:t>
                      </a:r>
                    </a:p>
                  </a:txBody>
                  <a:tcPr marT="12700" marB="12700" anchor="ctr">
                    <a:solidFill>
                      <a:srgbClr val="FFFFFF"/>
                    </a:solidFill>
                  </a:tcPr>
                </a:tc>
                <a:tc>
                  <a:txBody>
                    <a:bodyPr/>
                    <a:lstStyle/>
                    <a:p>
                      <a:pPr algn="ctr"/>
                      <a:r>
                        <a:rPr sz="1050" b="1">
                          <a:solidFill>
                            <a:srgbClr val="B23A3A"/>
                          </a:solidFill>
                          <a:latin typeface="Calibri"/>
                        </a:rPr>
                        <a:t>28</a:t>
                      </a:r>
                    </a:p>
                  </a:txBody>
                  <a:tcPr marT="12700" marB="12700" anchor="ctr">
                    <a:solidFill>
                      <a:srgbClr val="FFFFFF"/>
                    </a:solidFill>
                  </a:tcPr>
                </a:tc>
                <a:tc>
                  <a:txBody>
                    <a:bodyPr/>
                    <a:lstStyle/>
                    <a:p>
                      <a:pPr algn="ctr"/>
                      <a:r>
                        <a:rPr sz="1050" b="0">
                          <a:solidFill>
                            <a:srgbClr val="1B2A3A"/>
                          </a:solidFill>
                          <a:latin typeface="Calibri"/>
                        </a:rPr>
                        <a:t>42</a:t>
                      </a:r>
                    </a:p>
                  </a:txBody>
                  <a:tcPr marT="12700" marB="12700" anchor="ctr">
                    <a:solidFill>
                      <a:srgbClr val="FFFFFF"/>
                    </a:solidFill>
                  </a:tcPr>
                </a:tc>
                <a:tc>
                  <a:txBody>
                    <a:bodyPr/>
                    <a:lstStyle/>
                    <a:p>
                      <a:pPr algn="ctr"/>
                      <a:r>
                        <a:rPr sz="1050" b="0">
                          <a:solidFill>
                            <a:srgbClr val="1B2A3A"/>
                          </a:solidFill>
                          <a:latin typeface="Calibri"/>
                        </a:rPr>
                        <a:t>0</a:t>
                      </a:r>
                    </a:p>
                  </a:txBody>
                  <a:tcPr marT="12700" marB="12700" anchor="ctr">
                    <a:solidFill>
                      <a:srgbClr val="FFFFFF"/>
                    </a:solidFill>
                  </a:tcPr>
                </a:tc>
                <a:tc>
                  <a:txBody>
                    <a:bodyPr/>
                    <a:lstStyle/>
                    <a:p>
                      <a:pPr algn="ctr"/>
                      <a:r>
                        <a:rPr sz="1050" b="0">
                          <a:solidFill>
                            <a:srgbClr val="1B2A3A"/>
                          </a:solidFill>
                          <a:latin typeface="Calibri"/>
                        </a:rPr>
                        <a:t>13</a:t>
                      </a:r>
                    </a:p>
                  </a:txBody>
                  <a:tcPr marT="12700" marB="12700" anchor="ctr">
                    <a:solidFill>
                      <a:srgbClr val="FFFFFF"/>
                    </a:solidFill>
                  </a:tcPr>
                </a:tc>
                <a:extLst>
                  <a:ext uri="{0D108BD9-81ED-4DB2-BD59-A6C34878D82A}">
                    <a16:rowId xmlns:a16="http://schemas.microsoft.com/office/drawing/2014/main" val="10001"/>
                  </a:ext>
                </a:extLst>
              </a:tr>
              <a:tr h="283464">
                <a:tc>
                  <a:txBody>
                    <a:bodyPr/>
                    <a:lstStyle/>
                    <a:p>
                      <a:pPr algn="l"/>
                      <a:r>
                        <a:rPr sz="1050" b="0">
                          <a:solidFill>
                            <a:srgbClr val="1B2A3A"/>
                          </a:solidFill>
                          <a:latin typeface="Calibri"/>
                        </a:rPr>
                        <a:t>#2 no-tls-transport</a:t>
                      </a:r>
                    </a:p>
                  </a:txBody>
                  <a:tcPr marT="12700" marB="12700" anchor="ctr">
                    <a:solidFill>
                      <a:srgbClr val="F4F8FB"/>
                    </a:solidFill>
                  </a:tcPr>
                </a:tc>
                <a:tc>
                  <a:txBody>
                    <a:bodyPr/>
                    <a:lstStyle/>
                    <a:p>
                      <a:pPr algn="ctr"/>
                      <a:r>
                        <a:rPr sz="1050" b="0">
                          <a:solidFill>
                            <a:srgbClr val="1B2A3A"/>
                          </a:solidFill>
                          <a:latin typeface="Calibri"/>
                        </a:rPr>
                        <a:t>0</a:t>
                      </a:r>
                    </a:p>
                  </a:txBody>
                  <a:tcPr marT="12700" marB="12700" anchor="ctr">
                    <a:solidFill>
                      <a:srgbClr val="F4F8FB"/>
                    </a:solidFill>
                  </a:tcPr>
                </a:tc>
                <a:tc>
                  <a:txBody>
                    <a:bodyPr/>
                    <a:lstStyle/>
                    <a:p>
                      <a:pPr algn="ctr"/>
                      <a:r>
                        <a:rPr sz="1050" b="0">
                          <a:solidFill>
                            <a:srgbClr val="1B2A3A"/>
                          </a:solidFill>
                          <a:latin typeface="Calibri"/>
                        </a:rPr>
                        <a:t>82</a:t>
                      </a:r>
                    </a:p>
                  </a:txBody>
                  <a:tcPr marT="12700" marB="12700" anchor="ctr">
                    <a:solidFill>
                      <a:srgbClr val="F4F8FB"/>
                    </a:solidFill>
                  </a:tcPr>
                </a:tc>
                <a:tc>
                  <a:txBody>
                    <a:bodyPr/>
                    <a:lstStyle/>
                    <a:p>
                      <a:pPr algn="ctr"/>
                      <a:r>
                        <a:rPr sz="1050" b="0">
                          <a:solidFill>
                            <a:srgbClr val="1B2A3A"/>
                          </a:solidFill>
                          <a:latin typeface="Calibri"/>
                        </a:rPr>
                        <a:t>0</a:t>
                      </a:r>
                    </a:p>
                  </a:txBody>
                  <a:tcPr marT="12700" marB="12700" anchor="ctr">
                    <a:solidFill>
                      <a:srgbClr val="F4F8FB"/>
                    </a:solidFill>
                  </a:tcPr>
                </a:tc>
                <a:tc>
                  <a:txBody>
                    <a:bodyPr/>
                    <a:lstStyle/>
                    <a:p>
                      <a:pPr algn="ctr"/>
                      <a:r>
                        <a:rPr sz="1050" b="0">
                          <a:solidFill>
                            <a:srgbClr val="1B2A3A"/>
                          </a:solidFill>
                          <a:latin typeface="Calibri"/>
                        </a:rPr>
                        <a:t>1</a:t>
                      </a:r>
                    </a:p>
                  </a:txBody>
                  <a:tcPr marT="12700" marB="12700" anchor="ctr">
                    <a:solidFill>
                      <a:srgbClr val="F4F8FB"/>
                    </a:solidFill>
                  </a:tcPr>
                </a:tc>
                <a:extLst>
                  <a:ext uri="{0D108BD9-81ED-4DB2-BD59-A6C34878D82A}">
                    <a16:rowId xmlns:a16="http://schemas.microsoft.com/office/drawing/2014/main" val="10002"/>
                  </a:ext>
                </a:extLst>
              </a:tr>
              <a:tr h="283464">
                <a:tc>
                  <a:txBody>
                    <a:bodyPr/>
                    <a:lstStyle/>
                    <a:p>
                      <a:pPr algn="l"/>
                      <a:r>
                        <a:rPr sz="1050" b="0">
                          <a:solidFill>
                            <a:srgbClr val="1B2A3A"/>
                          </a:solidFill>
                          <a:latin typeface="Calibri"/>
                        </a:rPr>
                        <a:t>#3 missing-www-authenticate</a:t>
                      </a:r>
                    </a:p>
                  </a:txBody>
                  <a:tcPr marT="12700" marB="12700" anchor="ctr">
                    <a:solidFill>
                      <a:srgbClr val="FFFFFF"/>
                    </a:solidFill>
                  </a:tcPr>
                </a:tc>
                <a:tc>
                  <a:txBody>
                    <a:bodyPr/>
                    <a:lstStyle/>
                    <a:p>
                      <a:pPr algn="ctr"/>
                      <a:r>
                        <a:rPr sz="1050" b="0">
                          <a:solidFill>
                            <a:srgbClr val="1B2A3A"/>
                          </a:solidFill>
                          <a:latin typeface="Calibri"/>
                        </a:rPr>
                        <a:t>0</a:t>
                      </a:r>
                    </a:p>
                  </a:txBody>
                  <a:tcPr marT="12700" marB="12700" anchor="ctr">
                    <a:solidFill>
                      <a:srgbClr val="FFFFFF"/>
                    </a:solidFill>
                  </a:tcPr>
                </a:tc>
                <a:tc>
                  <a:txBody>
                    <a:bodyPr/>
                    <a:lstStyle/>
                    <a:p>
                      <a:pPr algn="ctr"/>
                      <a:r>
                        <a:rPr sz="1050" b="0">
                          <a:solidFill>
                            <a:srgbClr val="1B2A3A"/>
                          </a:solidFill>
                          <a:latin typeface="Calibri"/>
                        </a:rPr>
                        <a:t>32</a:t>
                      </a:r>
                    </a:p>
                  </a:txBody>
                  <a:tcPr marT="12700" marB="12700" anchor="ctr">
                    <a:solidFill>
                      <a:srgbClr val="FFFFFF"/>
                    </a:solidFill>
                  </a:tcPr>
                </a:tc>
                <a:tc>
                  <a:txBody>
                    <a:bodyPr/>
                    <a:lstStyle/>
                    <a:p>
                      <a:pPr algn="ctr"/>
                      <a:r>
                        <a:rPr sz="1050" b="0">
                          <a:solidFill>
                            <a:srgbClr val="1B2A3A"/>
                          </a:solidFill>
                          <a:latin typeface="Calibri"/>
                        </a:rPr>
                        <a:t>41</a:t>
                      </a:r>
                    </a:p>
                  </a:txBody>
                  <a:tcPr marT="12700" marB="12700" anchor="ctr">
                    <a:solidFill>
                      <a:srgbClr val="FFFFFF"/>
                    </a:solidFill>
                  </a:tcPr>
                </a:tc>
                <a:tc>
                  <a:txBody>
                    <a:bodyPr/>
                    <a:lstStyle/>
                    <a:p>
                      <a:pPr algn="ctr"/>
                      <a:r>
                        <a:rPr sz="1050" b="0">
                          <a:solidFill>
                            <a:srgbClr val="1B2A3A"/>
                          </a:solidFill>
                          <a:latin typeface="Calibri"/>
                        </a:rPr>
                        <a:t>10</a:t>
                      </a:r>
                    </a:p>
                  </a:txBody>
                  <a:tcPr marT="12700" marB="12700" anchor="ctr">
                    <a:solidFill>
                      <a:srgbClr val="FFFFFF"/>
                    </a:solidFill>
                  </a:tcPr>
                </a:tc>
                <a:extLst>
                  <a:ext uri="{0D108BD9-81ED-4DB2-BD59-A6C34878D82A}">
                    <a16:rowId xmlns:a16="http://schemas.microsoft.com/office/drawing/2014/main" val="10003"/>
                  </a:ext>
                </a:extLst>
              </a:tr>
              <a:tr h="283464">
                <a:tc>
                  <a:txBody>
                    <a:bodyPr/>
                    <a:lstStyle/>
                    <a:p>
                      <a:pPr algn="l"/>
                      <a:r>
                        <a:rPr sz="1050" b="0">
                          <a:solidFill>
                            <a:srgbClr val="1B2A3A"/>
                          </a:solidFill>
                          <a:latin typeface="Calibri"/>
                        </a:rPr>
                        <a:t>#4 missing-protected-resource-metadata</a:t>
                      </a:r>
                    </a:p>
                  </a:txBody>
                  <a:tcPr marT="12700" marB="12700" anchor="ctr">
                    <a:solidFill>
                      <a:srgbClr val="F4F8FB"/>
                    </a:solidFill>
                  </a:tcPr>
                </a:tc>
                <a:tc>
                  <a:txBody>
                    <a:bodyPr/>
                    <a:lstStyle/>
                    <a:p>
                      <a:pPr algn="ctr"/>
                      <a:r>
                        <a:rPr sz="1050" b="1">
                          <a:solidFill>
                            <a:srgbClr val="B23A3A"/>
                          </a:solidFill>
                          <a:latin typeface="Calibri"/>
                        </a:rPr>
                        <a:t>21</a:t>
                      </a:r>
                    </a:p>
                  </a:txBody>
                  <a:tcPr marT="12700" marB="12700" anchor="ctr">
                    <a:solidFill>
                      <a:srgbClr val="F4F8FB"/>
                    </a:solidFill>
                  </a:tcPr>
                </a:tc>
                <a:tc>
                  <a:txBody>
                    <a:bodyPr/>
                    <a:lstStyle/>
                    <a:p>
                      <a:pPr algn="ctr"/>
                      <a:r>
                        <a:rPr sz="1050" b="0">
                          <a:solidFill>
                            <a:srgbClr val="1B2A3A"/>
                          </a:solidFill>
                          <a:latin typeface="Calibri"/>
                        </a:rPr>
                        <a:t>41</a:t>
                      </a:r>
                    </a:p>
                  </a:txBody>
                  <a:tcPr marT="12700" marB="12700" anchor="ctr">
                    <a:solidFill>
                      <a:srgbClr val="F4F8FB"/>
                    </a:solidFill>
                  </a:tcPr>
                </a:tc>
                <a:tc>
                  <a:txBody>
                    <a:bodyPr/>
                    <a:lstStyle/>
                    <a:p>
                      <a:pPr algn="ctr"/>
                      <a:r>
                        <a:rPr sz="1050" b="0">
                          <a:solidFill>
                            <a:srgbClr val="1B2A3A"/>
                          </a:solidFill>
                          <a:latin typeface="Calibri"/>
                        </a:rPr>
                        <a:t>0</a:t>
                      </a:r>
                    </a:p>
                  </a:txBody>
                  <a:tcPr marT="12700" marB="12700" anchor="ctr">
                    <a:solidFill>
                      <a:srgbClr val="F4F8FB"/>
                    </a:solidFill>
                  </a:tcPr>
                </a:tc>
                <a:tc>
                  <a:txBody>
                    <a:bodyPr/>
                    <a:lstStyle/>
                    <a:p>
                      <a:pPr algn="ctr"/>
                      <a:r>
                        <a:rPr sz="1050" b="0">
                          <a:solidFill>
                            <a:srgbClr val="1B2A3A"/>
                          </a:solidFill>
                          <a:latin typeface="Calibri"/>
                        </a:rPr>
                        <a:t>21</a:t>
                      </a:r>
                    </a:p>
                  </a:txBody>
                  <a:tcPr marT="12700" marB="12700" anchor="ctr">
                    <a:solidFill>
                      <a:srgbClr val="F4F8FB"/>
                    </a:solidFill>
                  </a:tcPr>
                </a:tc>
                <a:extLst>
                  <a:ext uri="{0D108BD9-81ED-4DB2-BD59-A6C34878D82A}">
                    <a16:rowId xmlns:a16="http://schemas.microsoft.com/office/drawing/2014/main" val="10004"/>
                  </a:ext>
                </a:extLst>
              </a:tr>
              <a:tr h="283464">
                <a:tc>
                  <a:txBody>
                    <a:bodyPr/>
                    <a:lstStyle/>
                    <a:p>
                      <a:pPr algn="l"/>
                      <a:r>
                        <a:rPr sz="1050" b="0">
                          <a:solidFill>
                            <a:srgbClr val="1B2A3A"/>
                          </a:solidFill>
                          <a:latin typeface="Calibri"/>
                        </a:rPr>
                        <a:t>#5 session-id-in-url</a:t>
                      </a:r>
                    </a:p>
                  </a:txBody>
                  <a:tcPr marT="12700" marB="12700" anchor="ctr">
                    <a:solidFill>
                      <a:srgbClr val="FFFFFF"/>
                    </a:solidFill>
                  </a:tcPr>
                </a:tc>
                <a:tc>
                  <a:txBody>
                    <a:bodyPr/>
                    <a:lstStyle/>
                    <a:p>
                      <a:pPr algn="ctr"/>
                      <a:r>
                        <a:rPr sz="1050" b="0">
                          <a:solidFill>
                            <a:srgbClr val="1B2A3A"/>
                          </a:solidFill>
                          <a:latin typeface="Calibri"/>
                        </a:rPr>
                        <a:t>0</a:t>
                      </a:r>
                    </a:p>
                  </a:txBody>
                  <a:tcPr marT="12700" marB="12700" anchor="ctr">
                    <a:solidFill>
                      <a:srgbClr val="FFFFFF"/>
                    </a:solidFill>
                  </a:tcPr>
                </a:tc>
                <a:tc>
                  <a:txBody>
                    <a:bodyPr/>
                    <a:lstStyle/>
                    <a:p>
                      <a:pPr algn="ctr"/>
                      <a:r>
                        <a:rPr sz="1050" b="0">
                          <a:solidFill>
                            <a:srgbClr val="1B2A3A"/>
                          </a:solidFill>
                          <a:latin typeface="Calibri"/>
                        </a:rPr>
                        <a:t>10</a:t>
                      </a:r>
                    </a:p>
                  </a:txBody>
                  <a:tcPr marT="12700" marB="12700" anchor="ctr">
                    <a:solidFill>
                      <a:srgbClr val="FFFFFF"/>
                    </a:solidFill>
                  </a:tcPr>
                </a:tc>
                <a:tc>
                  <a:txBody>
                    <a:bodyPr/>
                    <a:lstStyle/>
                    <a:p>
                      <a:pPr algn="ctr"/>
                      <a:r>
                        <a:rPr sz="1050" b="0">
                          <a:solidFill>
                            <a:srgbClr val="1B2A3A"/>
                          </a:solidFill>
                          <a:latin typeface="Calibri"/>
                        </a:rPr>
                        <a:t>0</a:t>
                      </a:r>
                    </a:p>
                  </a:txBody>
                  <a:tcPr marT="12700" marB="12700" anchor="ctr">
                    <a:solidFill>
                      <a:srgbClr val="FFFFFF"/>
                    </a:solidFill>
                  </a:tcPr>
                </a:tc>
                <a:tc>
                  <a:txBody>
                    <a:bodyPr/>
                    <a:lstStyle/>
                    <a:p>
                      <a:pPr algn="ctr"/>
                      <a:r>
                        <a:rPr sz="1050" b="0">
                          <a:solidFill>
                            <a:srgbClr val="1B2A3A"/>
                          </a:solidFill>
                          <a:latin typeface="Calibri"/>
                        </a:rPr>
                        <a:t>73</a:t>
                      </a:r>
                    </a:p>
                  </a:txBody>
                  <a:tcPr marT="12700" marB="12700" anchor="ctr">
                    <a:solidFill>
                      <a:srgbClr val="FFFFFF"/>
                    </a:solidFill>
                  </a:tcPr>
                </a:tc>
                <a:extLst>
                  <a:ext uri="{0D108BD9-81ED-4DB2-BD59-A6C34878D82A}">
                    <a16:rowId xmlns:a16="http://schemas.microsoft.com/office/drawing/2014/main" val="10005"/>
                  </a:ext>
                </a:extLst>
              </a:tr>
              <a:tr h="283464">
                <a:tc>
                  <a:txBody>
                    <a:bodyPr/>
                    <a:lstStyle/>
                    <a:p>
                      <a:pPr algn="l"/>
                      <a:r>
                        <a:rPr sz="1050" b="0">
                          <a:solidFill>
                            <a:srgbClr val="1B2A3A"/>
                          </a:solidFill>
                          <a:latin typeface="Calibri"/>
                        </a:rPr>
                        <a:t>#6 predictable-session-id</a:t>
                      </a:r>
                    </a:p>
                  </a:txBody>
                  <a:tcPr marT="12700" marB="12700" anchor="ctr">
                    <a:solidFill>
                      <a:srgbClr val="F4F8FB"/>
                    </a:solidFill>
                  </a:tcPr>
                </a:tc>
                <a:tc>
                  <a:txBody>
                    <a:bodyPr/>
                    <a:lstStyle/>
                    <a:p>
                      <a:pPr algn="ctr"/>
                      <a:r>
                        <a:rPr sz="1050" b="0">
                          <a:solidFill>
                            <a:srgbClr val="1B2A3A"/>
                          </a:solidFill>
                          <a:latin typeface="Calibri"/>
                        </a:rPr>
                        <a:t>0</a:t>
                      </a:r>
                    </a:p>
                  </a:txBody>
                  <a:tcPr marT="12700" marB="12700" anchor="ctr">
                    <a:solidFill>
                      <a:srgbClr val="F4F8FB"/>
                    </a:solidFill>
                  </a:tcPr>
                </a:tc>
                <a:tc>
                  <a:txBody>
                    <a:bodyPr/>
                    <a:lstStyle/>
                    <a:p>
                      <a:pPr algn="ctr"/>
                      <a:r>
                        <a:rPr sz="1050" b="0">
                          <a:solidFill>
                            <a:srgbClr val="1B2A3A"/>
                          </a:solidFill>
                          <a:latin typeface="Calibri"/>
                        </a:rPr>
                        <a:t>10</a:t>
                      </a:r>
                    </a:p>
                  </a:txBody>
                  <a:tcPr marT="12700" marB="12700" anchor="ctr">
                    <a:solidFill>
                      <a:srgbClr val="F4F8FB"/>
                    </a:solidFill>
                  </a:tcPr>
                </a:tc>
                <a:tc>
                  <a:txBody>
                    <a:bodyPr/>
                    <a:lstStyle/>
                    <a:p>
                      <a:pPr algn="ctr"/>
                      <a:r>
                        <a:rPr sz="1050" b="0">
                          <a:solidFill>
                            <a:srgbClr val="1B2A3A"/>
                          </a:solidFill>
                          <a:latin typeface="Calibri"/>
                        </a:rPr>
                        <a:t>18</a:t>
                      </a:r>
                    </a:p>
                  </a:txBody>
                  <a:tcPr marT="12700" marB="12700" anchor="ctr">
                    <a:solidFill>
                      <a:srgbClr val="F4F8FB"/>
                    </a:solidFill>
                  </a:tcPr>
                </a:tc>
                <a:tc>
                  <a:txBody>
                    <a:bodyPr/>
                    <a:lstStyle/>
                    <a:p>
                      <a:pPr algn="ctr"/>
                      <a:r>
                        <a:rPr sz="1050" b="0">
                          <a:solidFill>
                            <a:srgbClr val="1B2A3A"/>
                          </a:solidFill>
                          <a:latin typeface="Calibri"/>
                        </a:rPr>
                        <a:t>55</a:t>
                      </a:r>
                    </a:p>
                  </a:txBody>
                  <a:tcPr marT="12700" marB="12700" anchor="ctr">
                    <a:solidFill>
                      <a:srgbClr val="F4F8FB"/>
                    </a:solidFill>
                  </a:tcPr>
                </a:tc>
                <a:extLst>
                  <a:ext uri="{0D108BD9-81ED-4DB2-BD59-A6C34878D82A}">
                    <a16:rowId xmlns:a16="http://schemas.microsoft.com/office/drawing/2014/main" val="10006"/>
                  </a:ext>
                </a:extLst>
              </a:tr>
              <a:tr h="283464">
                <a:tc>
                  <a:txBody>
                    <a:bodyPr/>
                    <a:lstStyle/>
                    <a:p>
                      <a:pPr algn="l"/>
                      <a:r>
                        <a:rPr sz="1050" b="0">
                          <a:solidFill>
                            <a:srgbClr val="1B2A3A"/>
                          </a:solidFill>
                          <a:latin typeface="Calibri"/>
                        </a:rPr>
                        <a:t>#7 origin-not-validated</a:t>
                      </a:r>
                    </a:p>
                  </a:txBody>
                  <a:tcPr marT="12700" marB="12700" anchor="ctr">
                    <a:solidFill>
                      <a:srgbClr val="FFFFFF"/>
                    </a:solidFill>
                  </a:tcPr>
                </a:tc>
                <a:tc>
                  <a:txBody>
                    <a:bodyPr/>
                    <a:lstStyle/>
                    <a:p>
                      <a:pPr algn="ctr"/>
                      <a:r>
                        <a:rPr sz="1050" b="1">
                          <a:solidFill>
                            <a:srgbClr val="B23A3A"/>
                          </a:solidFill>
                          <a:latin typeface="Calibri"/>
                        </a:rPr>
                        <a:t>24</a:t>
                      </a:r>
                    </a:p>
                  </a:txBody>
                  <a:tcPr marT="12700" marB="12700" anchor="ctr">
                    <a:solidFill>
                      <a:srgbClr val="FFFFFF"/>
                    </a:solidFill>
                  </a:tcPr>
                </a:tc>
                <a:tc>
                  <a:txBody>
                    <a:bodyPr/>
                    <a:lstStyle/>
                    <a:p>
                      <a:pPr algn="ctr"/>
                      <a:r>
                        <a:rPr sz="1050" b="0">
                          <a:solidFill>
                            <a:srgbClr val="1B2A3A"/>
                          </a:solidFill>
                          <a:latin typeface="Calibri"/>
                        </a:rPr>
                        <a:t>10</a:t>
                      </a:r>
                    </a:p>
                  </a:txBody>
                  <a:tcPr marT="12700" marB="12700" anchor="ctr">
                    <a:solidFill>
                      <a:srgbClr val="FFFFFF"/>
                    </a:solidFill>
                  </a:tcPr>
                </a:tc>
                <a:tc>
                  <a:txBody>
                    <a:bodyPr/>
                    <a:lstStyle/>
                    <a:p>
                      <a:pPr algn="ctr"/>
                      <a:r>
                        <a:rPr sz="1050" b="0">
                          <a:solidFill>
                            <a:srgbClr val="1B2A3A"/>
                          </a:solidFill>
                          <a:latin typeface="Calibri"/>
                        </a:rPr>
                        <a:t>0</a:t>
                      </a:r>
                    </a:p>
                  </a:txBody>
                  <a:tcPr marT="12700" marB="12700" anchor="ctr">
                    <a:solidFill>
                      <a:srgbClr val="FFFFFF"/>
                    </a:solidFill>
                  </a:tcPr>
                </a:tc>
                <a:tc>
                  <a:txBody>
                    <a:bodyPr/>
                    <a:lstStyle/>
                    <a:p>
                      <a:pPr algn="ctr"/>
                      <a:r>
                        <a:rPr sz="1050" b="0">
                          <a:solidFill>
                            <a:srgbClr val="1B2A3A"/>
                          </a:solidFill>
                          <a:latin typeface="Calibri"/>
                        </a:rPr>
                        <a:t>49</a:t>
                      </a:r>
                    </a:p>
                  </a:txBody>
                  <a:tcPr marT="12700" marB="12700" anchor="ctr">
                    <a:solidFill>
                      <a:srgbClr val="FFFFFF"/>
                    </a:solidFill>
                  </a:tcPr>
                </a:tc>
                <a:extLst>
                  <a:ext uri="{0D108BD9-81ED-4DB2-BD59-A6C34878D82A}">
                    <a16:rowId xmlns:a16="http://schemas.microsoft.com/office/drawing/2014/main" val="10007"/>
                  </a:ext>
                </a:extLst>
              </a:tr>
              <a:tr h="283464">
                <a:tc>
                  <a:txBody>
                    <a:bodyPr/>
                    <a:lstStyle/>
                    <a:p>
                      <a:pPr algn="l"/>
                      <a:r>
                        <a:rPr sz="1050" b="0">
                          <a:solidFill>
                            <a:srgbClr val="1B2A3A"/>
                          </a:solidFill>
                          <a:latin typeface="Calibri"/>
                        </a:rPr>
                        <a:t>#8 cors-misconfiguration</a:t>
                      </a:r>
                    </a:p>
                  </a:txBody>
                  <a:tcPr marT="12700" marB="12700" anchor="ctr">
                    <a:solidFill>
                      <a:srgbClr val="F4F8FB"/>
                    </a:solidFill>
                  </a:tcPr>
                </a:tc>
                <a:tc>
                  <a:txBody>
                    <a:bodyPr/>
                    <a:lstStyle/>
                    <a:p>
                      <a:pPr algn="ctr"/>
                      <a:r>
                        <a:rPr sz="1050" b="1">
                          <a:solidFill>
                            <a:srgbClr val="B23A3A"/>
                          </a:solidFill>
                          <a:latin typeface="Calibri"/>
                        </a:rPr>
                        <a:t>2</a:t>
                      </a:r>
                    </a:p>
                  </a:txBody>
                  <a:tcPr marT="12700" marB="12700" anchor="ctr">
                    <a:solidFill>
                      <a:srgbClr val="F4F8FB"/>
                    </a:solidFill>
                  </a:tcPr>
                </a:tc>
                <a:tc>
                  <a:txBody>
                    <a:bodyPr/>
                    <a:lstStyle/>
                    <a:p>
                      <a:pPr algn="ctr"/>
                      <a:r>
                        <a:rPr sz="1050" b="0">
                          <a:solidFill>
                            <a:srgbClr val="1B2A3A"/>
                          </a:solidFill>
                          <a:latin typeface="Calibri"/>
                        </a:rPr>
                        <a:t>67</a:t>
                      </a:r>
                    </a:p>
                  </a:txBody>
                  <a:tcPr marT="12700" marB="12700" anchor="ctr">
                    <a:solidFill>
                      <a:srgbClr val="F4F8FB"/>
                    </a:solidFill>
                  </a:tcPr>
                </a:tc>
                <a:tc>
                  <a:txBody>
                    <a:bodyPr/>
                    <a:lstStyle/>
                    <a:p>
                      <a:pPr algn="ctr"/>
                      <a:r>
                        <a:rPr sz="1050" b="0">
                          <a:solidFill>
                            <a:srgbClr val="1B2A3A"/>
                          </a:solidFill>
                          <a:latin typeface="Calibri"/>
                        </a:rPr>
                        <a:t>0</a:t>
                      </a:r>
                    </a:p>
                  </a:txBody>
                  <a:tcPr marT="12700" marB="12700" anchor="ctr">
                    <a:solidFill>
                      <a:srgbClr val="F4F8FB"/>
                    </a:solidFill>
                  </a:tcPr>
                </a:tc>
                <a:tc>
                  <a:txBody>
                    <a:bodyPr/>
                    <a:lstStyle/>
                    <a:p>
                      <a:pPr algn="ctr"/>
                      <a:r>
                        <a:rPr sz="1050" b="0">
                          <a:solidFill>
                            <a:srgbClr val="1B2A3A"/>
                          </a:solidFill>
                          <a:latin typeface="Calibri"/>
                        </a:rPr>
                        <a:t>14</a:t>
                      </a:r>
                    </a:p>
                  </a:txBody>
                  <a:tcPr marT="12700" marB="12700" anchor="ctr">
                    <a:solidFill>
                      <a:srgbClr val="F4F8FB"/>
                    </a:solidFill>
                  </a:tcPr>
                </a:tc>
                <a:extLst>
                  <a:ext uri="{0D108BD9-81ED-4DB2-BD59-A6C34878D82A}">
                    <a16:rowId xmlns:a16="http://schemas.microsoft.com/office/drawing/2014/main" val="10008"/>
                  </a:ext>
                </a:extLst>
              </a:tr>
              <a:tr h="283464">
                <a:tc>
                  <a:txBody>
                    <a:bodyPr/>
                    <a:lstStyle/>
                    <a:p>
                      <a:pPr algn="l"/>
                      <a:r>
                        <a:rPr sz="1050" b="0">
                          <a:solidFill>
                            <a:srgbClr val="1B2A3A"/>
                          </a:solidFill>
                          <a:latin typeface="Calibri"/>
                        </a:rPr>
                        <a:t>#9 auth-endpoints-not-https</a:t>
                      </a:r>
                    </a:p>
                  </a:txBody>
                  <a:tcPr marT="12700" marB="12700" anchor="ctr">
                    <a:solidFill>
                      <a:srgbClr val="FFFFFF"/>
                    </a:solidFill>
                  </a:tcPr>
                </a:tc>
                <a:tc>
                  <a:txBody>
                    <a:bodyPr/>
                    <a:lstStyle/>
                    <a:p>
                      <a:pPr algn="ctr"/>
                      <a:r>
                        <a:rPr sz="1050" b="0">
                          <a:solidFill>
                            <a:srgbClr val="1B2A3A"/>
                          </a:solidFill>
                          <a:latin typeface="Calibri"/>
                        </a:rPr>
                        <a:t>0</a:t>
                      </a:r>
                    </a:p>
                  </a:txBody>
                  <a:tcPr marT="12700" marB="12700" anchor="ctr">
                    <a:solidFill>
                      <a:srgbClr val="FFFFFF"/>
                    </a:solidFill>
                  </a:tcPr>
                </a:tc>
                <a:tc>
                  <a:txBody>
                    <a:bodyPr/>
                    <a:lstStyle/>
                    <a:p>
                      <a:pPr algn="ctr"/>
                      <a:r>
                        <a:rPr sz="1050" b="0">
                          <a:solidFill>
                            <a:srgbClr val="1B2A3A"/>
                          </a:solidFill>
                          <a:latin typeface="Calibri"/>
                        </a:rPr>
                        <a:t>52</a:t>
                      </a:r>
                    </a:p>
                  </a:txBody>
                  <a:tcPr marT="12700" marB="12700" anchor="ctr">
                    <a:solidFill>
                      <a:srgbClr val="FFFFFF"/>
                    </a:solidFill>
                  </a:tcPr>
                </a:tc>
                <a:tc>
                  <a:txBody>
                    <a:bodyPr/>
                    <a:lstStyle/>
                    <a:p>
                      <a:pPr algn="ctr"/>
                      <a:r>
                        <a:rPr sz="1050" b="0">
                          <a:solidFill>
                            <a:srgbClr val="1B2A3A"/>
                          </a:solidFill>
                          <a:latin typeface="Calibri"/>
                        </a:rPr>
                        <a:t>31</a:t>
                      </a:r>
                    </a:p>
                  </a:txBody>
                  <a:tcPr marT="12700" marB="12700" anchor="ctr">
                    <a:solidFill>
                      <a:srgbClr val="FFFFFF"/>
                    </a:solidFill>
                  </a:tcPr>
                </a:tc>
                <a:tc>
                  <a:txBody>
                    <a:bodyPr/>
                    <a:lstStyle/>
                    <a:p>
                      <a:pPr algn="ctr"/>
                      <a:r>
                        <a:rPr sz="1050" b="0">
                          <a:solidFill>
                            <a:srgbClr val="1B2A3A"/>
                          </a:solidFill>
                          <a:latin typeface="Calibri"/>
                        </a:rPr>
                        <a:t>0</a:t>
                      </a:r>
                    </a:p>
                  </a:txBody>
                  <a:tcPr marT="12700" marB="12700" anchor="ctr">
                    <a:solidFill>
                      <a:srgbClr val="FFFFFF"/>
                    </a:solidFill>
                  </a:tcPr>
                </a:tc>
                <a:extLst>
                  <a:ext uri="{0D108BD9-81ED-4DB2-BD59-A6C34878D82A}">
                    <a16:rowId xmlns:a16="http://schemas.microsoft.com/office/drawing/2014/main" val="10009"/>
                  </a:ext>
                </a:extLst>
              </a:tr>
              <a:tr h="283464">
                <a:tc>
                  <a:txBody>
                    <a:bodyPr/>
                    <a:lstStyle/>
                    <a:p>
                      <a:pPr algn="l"/>
                      <a:r>
                        <a:rPr sz="1050" b="0">
                          <a:solidFill>
                            <a:srgbClr val="1B2A3A"/>
                          </a:solidFill>
                          <a:latin typeface="Calibri"/>
                        </a:rPr>
                        <a:t>#10 missing-as-metadata</a:t>
                      </a:r>
                    </a:p>
                  </a:txBody>
                  <a:tcPr marT="12700" marB="12700" anchor="ctr">
                    <a:solidFill>
                      <a:srgbClr val="F4F8FB"/>
                    </a:solidFill>
                  </a:tcPr>
                </a:tc>
                <a:tc>
                  <a:txBody>
                    <a:bodyPr/>
                    <a:lstStyle/>
                    <a:p>
                      <a:pPr algn="ctr"/>
                      <a:r>
                        <a:rPr sz="1050" b="1">
                          <a:solidFill>
                            <a:srgbClr val="B23A3A"/>
                          </a:solidFill>
                          <a:latin typeface="Calibri"/>
                        </a:rPr>
                        <a:t>12</a:t>
                      </a:r>
                    </a:p>
                  </a:txBody>
                  <a:tcPr marT="12700" marB="12700" anchor="ctr">
                    <a:solidFill>
                      <a:srgbClr val="F4F8FB"/>
                    </a:solidFill>
                  </a:tcPr>
                </a:tc>
                <a:tc>
                  <a:txBody>
                    <a:bodyPr/>
                    <a:lstStyle/>
                    <a:p>
                      <a:pPr algn="ctr"/>
                      <a:r>
                        <a:rPr sz="1050" b="0">
                          <a:solidFill>
                            <a:srgbClr val="1B2A3A"/>
                          </a:solidFill>
                          <a:latin typeface="Calibri"/>
                        </a:rPr>
                        <a:t>53</a:t>
                      </a:r>
                    </a:p>
                  </a:txBody>
                  <a:tcPr marT="12700" marB="12700" anchor="ctr">
                    <a:solidFill>
                      <a:srgbClr val="F4F8FB"/>
                    </a:solidFill>
                  </a:tcPr>
                </a:tc>
                <a:tc>
                  <a:txBody>
                    <a:bodyPr/>
                    <a:lstStyle/>
                    <a:p>
                      <a:pPr algn="ctr"/>
                      <a:r>
                        <a:rPr sz="1050" b="0">
                          <a:solidFill>
                            <a:srgbClr val="1B2A3A"/>
                          </a:solidFill>
                          <a:latin typeface="Calibri"/>
                        </a:rPr>
                        <a:t>0</a:t>
                      </a:r>
                    </a:p>
                  </a:txBody>
                  <a:tcPr marT="12700" marB="12700" anchor="ctr">
                    <a:solidFill>
                      <a:srgbClr val="F4F8FB"/>
                    </a:solidFill>
                  </a:tcPr>
                </a:tc>
                <a:tc>
                  <a:txBody>
                    <a:bodyPr/>
                    <a:lstStyle/>
                    <a:p>
                      <a:pPr algn="ctr"/>
                      <a:r>
                        <a:rPr sz="1050" b="0">
                          <a:solidFill>
                            <a:srgbClr val="1B2A3A"/>
                          </a:solidFill>
                          <a:latin typeface="Calibri"/>
                        </a:rPr>
                        <a:t>18</a:t>
                      </a:r>
                    </a:p>
                  </a:txBody>
                  <a:tcPr marT="12700" marB="12700" anchor="ctr">
                    <a:solidFill>
                      <a:srgbClr val="F4F8FB"/>
                    </a:solidFill>
                  </a:tcPr>
                </a:tc>
                <a:extLst>
                  <a:ext uri="{0D108BD9-81ED-4DB2-BD59-A6C34878D82A}">
                    <a16:rowId xmlns:a16="http://schemas.microsoft.com/office/drawing/2014/main" val="10010"/>
                  </a:ext>
                </a:extLst>
              </a:tr>
              <a:tr h="283464">
                <a:tc>
                  <a:txBody>
                    <a:bodyPr/>
                    <a:lstStyle/>
                    <a:p>
                      <a:pPr algn="l"/>
                      <a:r>
                        <a:rPr sz="1050" b="0">
                          <a:solidFill>
                            <a:srgbClr val="1B2A3A"/>
                          </a:solidFill>
                          <a:latin typeface="Calibri"/>
                        </a:rPr>
                        <a:t>#11 implicit-flow-enabled</a:t>
                      </a:r>
                    </a:p>
                  </a:txBody>
                  <a:tcPr marT="12700" marB="12700" anchor="ctr">
                    <a:solidFill>
                      <a:srgbClr val="FFFFFF"/>
                    </a:solidFill>
                  </a:tcPr>
                </a:tc>
                <a:tc>
                  <a:txBody>
                    <a:bodyPr/>
                    <a:lstStyle/>
                    <a:p>
                      <a:pPr algn="ctr"/>
                      <a:r>
                        <a:rPr sz="1050" b="0">
                          <a:solidFill>
                            <a:srgbClr val="1B2A3A"/>
                          </a:solidFill>
                          <a:latin typeface="Calibri"/>
                        </a:rPr>
                        <a:t>0</a:t>
                      </a:r>
                    </a:p>
                  </a:txBody>
                  <a:tcPr marT="12700" marB="12700" anchor="ctr">
                    <a:solidFill>
                      <a:srgbClr val="FFFFFF"/>
                    </a:solidFill>
                  </a:tcPr>
                </a:tc>
                <a:tc>
                  <a:txBody>
                    <a:bodyPr/>
                    <a:lstStyle/>
                    <a:p>
                      <a:pPr algn="ctr"/>
                      <a:r>
                        <a:rPr sz="1050" b="0">
                          <a:solidFill>
                            <a:srgbClr val="1B2A3A"/>
                          </a:solidFill>
                          <a:latin typeface="Calibri"/>
                        </a:rPr>
                        <a:t>52</a:t>
                      </a:r>
                    </a:p>
                  </a:txBody>
                  <a:tcPr marT="12700" marB="12700" anchor="ctr">
                    <a:solidFill>
                      <a:srgbClr val="FFFFFF"/>
                    </a:solidFill>
                  </a:tcPr>
                </a:tc>
                <a:tc>
                  <a:txBody>
                    <a:bodyPr/>
                    <a:lstStyle/>
                    <a:p>
                      <a:pPr algn="ctr"/>
                      <a:r>
                        <a:rPr sz="1050" b="0">
                          <a:solidFill>
                            <a:srgbClr val="1B2A3A"/>
                          </a:solidFill>
                          <a:latin typeface="Calibri"/>
                        </a:rPr>
                        <a:t>30</a:t>
                      </a:r>
                    </a:p>
                  </a:txBody>
                  <a:tcPr marT="12700" marB="12700" anchor="ctr">
                    <a:solidFill>
                      <a:srgbClr val="FFFFFF"/>
                    </a:solidFill>
                  </a:tcPr>
                </a:tc>
                <a:tc>
                  <a:txBody>
                    <a:bodyPr/>
                    <a:lstStyle/>
                    <a:p>
                      <a:pPr algn="ctr"/>
                      <a:r>
                        <a:rPr sz="1050" b="0">
                          <a:solidFill>
                            <a:srgbClr val="1B2A3A"/>
                          </a:solidFill>
                          <a:latin typeface="Calibri"/>
                        </a:rPr>
                        <a:t>1</a:t>
                      </a:r>
                    </a:p>
                  </a:txBody>
                  <a:tcPr marT="12700" marB="12700" anchor="ctr">
                    <a:solidFill>
                      <a:srgbClr val="FFFFFF"/>
                    </a:solidFill>
                  </a:tcPr>
                </a:tc>
                <a:extLst>
                  <a:ext uri="{0D108BD9-81ED-4DB2-BD59-A6C34878D82A}">
                    <a16:rowId xmlns:a16="http://schemas.microsoft.com/office/drawing/2014/main" val="10011"/>
                  </a:ext>
                </a:extLst>
              </a:tr>
              <a:tr h="283464">
                <a:tc>
                  <a:txBody>
                    <a:bodyPr/>
                    <a:lstStyle/>
                    <a:p>
                      <a:pPr algn="l"/>
                      <a:r>
                        <a:rPr sz="1050" b="1">
                          <a:solidFill>
                            <a:srgbClr val="1B2A3A"/>
                          </a:solidFill>
                          <a:latin typeface="Calibri"/>
                        </a:rPr>
                        <a:t>#12 open-dcr  (write)</a:t>
                      </a:r>
                    </a:p>
                  </a:txBody>
                  <a:tcPr marT="12700" marB="12700" anchor="ctr">
                    <a:solidFill>
                      <a:srgbClr val="F4F8FB"/>
                    </a:solidFill>
                  </a:tcPr>
                </a:tc>
                <a:tc>
                  <a:txBody>
                    <a:bodyPr/>
                    <a:lstStyle/>
                    <a:p>
                      <a:pPr algn="ctr"/>
                      <a:r>
                        <a:rPr sz="1050" b="1">
                          <a:solidFill>
                            <a:srgbClr val="B23A3A"/>
                          </a:solidFill>
                          <a:latin typeface="Calibri"/>
                        </a:rPr>
                        <a:t>38</a:t>
                      </a:r>
                    </a:p>
                  </a:txBody>
                  <a:tcPr marT="12700" marB="12700" anchor="ctr">
                    <a:solidFill>
                      <a:srgbClr val="F4F8FB"/>
                    </a:solidFill>
                  </a:tcPr>
                </a:tc>
                <a:tc>
                  <a:txBody>
                    <a:bodyPr/>
                    <a:lstStyle/>
                    <a:p>
                      <a:pPr algn="ctr"/>
                      <a:r>
                        <a:rPr sz="1050" b="0">
                          <a:solidFill>
                            <a:srgbClr val="1B2A3A"/>
                          </a:solidFill>
                          <a:latin typeface="Calibri"/>
                        </a:rPr>
                        <a:t>0</a:t>
                      </a:r>
                    </a:p>
                  </a:txBody>
                  <a:tcPr marT="12700" marB="12700" anchor="ctr">
                    <a:solidFill>
                      <a:srgbClr val="F4F8FB"/>
                    </a:solidFill>
                  </a:tcPr>
                </a:tc>
                <a:tc>
                  <a:txBody>
                    <a:bodyPr/>
                    <a:lstStyle/>
                    <a:p>
                      <a:pPr algn="ctr"/>
                      <a:r>
                        <a:rPr sz="1050" b="0">
                          <a:solidFill>
                            <a:srgbClr val="1B2A3A"/>
                          </a:solidFill>
                          <a:latin typeface="Calibri"/>
                        </a:rPr>
                        <a:t>35</a:t>
                      </a:r>
                    </a:p>
                  </a:txBody>
                  <a:tcPr marT="12700" marB="12700" anchor="ctr">
                    <a:solidFill>
                      <a:srgbClr val="F4F8FB"/>
                    </a:solidFill>
                  </a:tcPr>
                </a:tc>
                <a:tc>
                  <a:txBody>
                    <a:bodyPr/>
                    <a:lstStyle/>
                    <a:p>
                      <a:pPr algn="ctr"/>
                      <a:r>
                        <a:rPr sz="1050" b="0">
                          <a:solidFill>
                            <a:srgbClr val="1B2A3A"/>
                          </a:solidFill>
                          <a:latin typeface="Calibri"/>
                        </a:rPr>
                        <a:t>10</a:t>
                      </a:r>
                    </a:p>
                  </a:txBody>
                  <a:tcPr marT="12700" marB="12700" anchor="ctr">
                    <a:solidFill>
                      <a:srgbClr val="F4F8FB"/>
                    </a:solidFill>
                  </a:tcPr>
                </a:tc>
                <a:extLst>
                  <a:ext uri="{0D108BD9-81ED-4DB2-BD59-A6C34878D82A}">
                    <a16:rowId xmlns:a16="http://schemas.microsoft.com/office/drawing/2014/main" val="10012"/>
                  </a:ext>
                </a:extLst>
              </a:tr>
              <a:tr h="283464">
                <a:tc>
                  <a:txBody>
                    <a:bodyPr/>
                    <a:lstStyle/>
                    <a:p>
                      <a:pPr algn="l"/>
                      <a:r>
                        <a:rPr sz="1050" b="1">
                          <a:solidFill>
                            <a:srgbClr val="1B2A3A"/>
                          </a:solidFill>
                          <a:latin typeface="Calibri"/>
                        </a:rPr>
                        <a:t>#13 unauthenticated-tool-invocation</a:t>
                      </a:r>
                    </a:p>
                  </a:txBody>
                  <a:tcPr marT="12700" marB="12700" anchor="ctr">
                    <a:solidFill>
                      <a:srgbClr val="FFFFFF"/>
                    </a:solidFill>
                  </a:tcPr>
                </a:tc>
                <a:tc>
                  <a:txBody>
                    <a:bodyPr/>
                    <a:lstStyle/>
                    <a:p>
                      <a:pPr algn="ctr"/>
                      <a:r>
                        <a:rPr sz="1050" b="1">
                          <a:solidFill>
                            <a:srgbClr val="B23A3A"/>
                          </a:solidFill>
                          <a:latin typeface="Calibri"/>
                        </a:rPr>
                        <a:t>22</a:t>
                      </a:r>
                    </a:p>
                  </a:txBody>
                  <a:tcPr marT="12700" marB="12700" anchor="ctr">
                    <a:solidFill>
                      <a:srgbClr val="FFFFFF"/>
                    </a:solidFill>
                  </a:tcPr>
                </a:tc>
                <a:tc>
                  <a:txBody>
                    <a:bodyPr/>
                    <a:lstStyle/>
                    <a:p>
                      <a:pPr algn="ctr"/>
                      <a:r>
                        <a:rPr sz="1050" b="0">
                          <a:solidFill>
                            <a:srgbClr val="1B2A3A"/>
                          </a:solidFill>
                          <a:latin typeface="Calibri"/>
                        </a:rPr>
                        <a:t>48</a:t>
                      </a:r>
                    </a:p>
                  </a:txBody>
                  <a:tcPr marT="12700" marB="12700" anchor="ctr">
                    <a:solidFill>
                      <a:srgbClr val="FFFFFF"/>
                    </a:solidFill>
                  </a:tcPr>
                </a:tc>
                <a:tc>
                  <a:txBody>
                    <a:bodyPr/>
                    <a:lstStyle/>
                    <a:p>
                      <a:pPr algn="ctr"/>
                      <a:r>
                        <a:rPr sz="1050" b="0">
                          <a:solidFill>
                            <a:srgbClr val="1B2A3A"/>
                          </a:solidFill>
                          <a:latin typeface="Calibri"/>
                        </a:rPr>
                        <a:t>0</a:t>
                      </a:r>
                    </a:p>
                  </a:txBody>
                  <a:tcPr marT="12700" marB="12700" anchor="ctr">
                    <a:solidFill>
                      <a:srgbClr val="FFFFFF"/>
                    </a:solidFill>
                  </a:tcPr>
                </a:tc>
                <a:tc>
                  <a:txBody>
                    <a:bodyPr/>
                    <a:lstStyle/>
                    <a:p>
                      <a:pPr algn="ctr"/>
                      <a:r>
                        <a:rPr sz="1050" b="0">
                          <a:solidFill>
                            <a:srgbClr val="1B2A3A"/>
                          </a:solidFill>
                          <a:latin typeface="Calibri"/>
                        </a:rPr>
                        <a:t>13</a:t>
                      </a:r>
                    </a:p>
                  </a:txBody>
                  <a:tcPr marT="12700" marB="12700" anchor="ctr">
                    <a:solidFill>
                      <a:srgbClr val="FFFFFF"/>
                    </a:solidFill>
                  </a:tcPr>
                </a:tc>
                <a:extLst>
                  <a:ext uri="{0D108BD9-81ED-4DB2-BD59-A6C34878D82A}">
                    <a16:rowId xmlns:a16="http://schemas.microsoft.com/office/drawing/2014/main" val="10013"/>
                  </a:ext>
                </a:extLst>
              </a:tr>
              <a:tr h="283464">
                <a:tc>
                  <a:txBody>
                    <a:bodyPr/>
                    <a:lstStyle/>
                    <a:p>
                      <a:pPr algn="l"/>
                      <a:r>
                        <a:rPr sz="1050" b="0">
                          <a:solidFill>
                            <a:srgbClr val="1B2A3A"/>
                          </a:solidFill>
                          <a:latin typeface="Calibri"/>
                        </a:rPr>
                        <a:t>#14 improper-redirect-uri-validation  (write)</a:t>
                      </a:r>
                    </a:p>
                  </a:txBody>
                  <a:tcPr marT="12700" marB="12700" anchor="ctr">
                    <a:solidFill>
                      <a:srgbClr val="F4F8FB"/>
                    </a:solidFill>
                  </a:tcPr>
                </a:tc>
                <a:tc>
                  <a:txBody>
                    <a:bodyPr/>
                    <a:lstStyle/>
                    <a:p>
                      <a:pPr algn="ctr"/>
                      <a:r>
                        <a:rPr sz="1050" b="0">
                          <a:solidFill>
                            <a:srgbClr val="1B2A3A"/>
                          </a:solidFill>
                          <a:latin typeface="Calibri"/>
                        </a:rPr>
                        <a:t>0</a:t>
                      </a:r>
                    </a:p>
                  </a:txBody>
                  <a:tcPr marT="12700" marB="12700" anchor="ctr">
                    <a:solidFill>
                      <a:srgbClr val="F4F8FB"/>
                    </a:solidFill>
                  </a:tcPr>
                </a:tc>
                <a:tc>
                  <a:txBody>
                    <a:bodyPr/>
                    <a:lstStyle/>
                    <a:p>
                      <a:pPr algn="ctr"/>
                      <a:r>
                        <a:rPr sz="1050" b="0">
                          <a:solidFill>
                            <a:srgbClr val="1B2A3A"/>
                          </a:solidFill>
                          <a:latin typeface="Calibri"/>
                        </a:rPr>
                        <a:t>23</a:t>
                      </a:r>
                    </a:p>
                  </a:txBody>
                  <a:tcPr marT="12700" marB="12700" anchor="ctr">
                    <a:solidFill>
                      <a:srgbClr val="F4F8FB"/>
                    </a:solidFill>
                  </a:tcPr>
                </a:tc>
                <a:tc>
                  <a:txBody>
                    <a:bodyPr/>
                    <a:lstStyle/>
                    <a:p>
                      <a:pPr algn="ctr"/>
                      <a:r>
                        <a:rPr sz="1050" b="0">
                          <a:solidFill>
                            <a:srgbClr val="1B2A3A"/>
                          </a:solidFill>
                          <a:latin typeface="Calibri"/>
                        </a:rPr>
                        <a:t>36</a:t>
                      </a:r>
                    </a:p>
                  </a:txBody>
                  <a:tcPr marT="12700" marB="12700" anchor="ctr">
                    <a:solidFill>
                      <a:srgbClr val="F4F8FB"/>
                    </a:solidFill>
                  </a:tcPr>
                </a:tc>
                <a:tc>
                  <a:txBody>
                    <a:bodyPr/>
                    <a:lstStyle/>
                    <a:p>
                      <a:pPr algn="ctr"/>
                      <a:r>
                        <a:rPr sz="1050" b="0">
                          <a:solidFill>
                            <a:srgbClr val="1B2A3A"/>
                          </a:solidFill>
                          <a:latin typeface="Calibri"/>
                        </a:rPr>
                        <a:t>24</a:t>
                      </a:r>
                    </a:p>
                  </a:txBody>
                  <a:tcPr marT="12700" marB="12700" anchor="ctr">
                    <a:solidFill>
                      <a:srgbClr val="F4F8FB"/>
                    </a:solid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RESULTS</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Finding 1: a third disclose their tool list to a stranger</a:t>
            </a:r>
          </a:p>
        </p:txBody>
      </p:sp>
      <p:sp>
        <p:nvSpPr>
          <p:cNvPr id="4" name="Rounded Rectangle 3"/>
          <p:cNvSpPr/>
          <p:nvPr/>
        </p:nvSpPr>
        <p:spPr>
          <a:xfrm>
            <a:off x="548640" y="1783080"/>
            <a:ext cx="3200400" cy="2194560"/>
          </a:xfrm>
          <a:prstGeom prst="roundRect">
            <a:avLst>
              <a:gd name="adj" fmla="val 6000"/>
            </a:avLst>
          </a:prstGeom>
          <a:solidFill>
            <a:srgbClr val="12233F"/>
          </a:solidFill>
          <a:ln w="12700">
            <a:solidFill>
              <a:srgbClr val="122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874519"/>
            <a:ext cx="3200400" cy="2011680"/>
          </a:xfrm>
          <a:prstGeom prst="rect">
            <a:avLst/>
          </a:prstGeom>
          <a:noFill/>
        </p:spPr>
        <p:txBody>
          <a:bodyPr wrap="square" lIns="0" tIns="0" rIns="0" bIns="0" anchor="ctr">
            <a:spAutoFit/>
          </a:bodyPr>
          <a:lstStyle/>
          <a:p>
            <a:pPr algn="ctr">
              <a:spcAft>
                <a:spcPts val="200"/>
              </a:spcAft>
            </a:pPr>
            <a:r>
              <a:rPr sz="6800" b="1" i="0">
                <a:solidFill>
                  <a:srgbClr val="02C39A"/>
                </a:solidFill>
                <a:latin typeface="Calibri"/>
              </a:rPr>
              <a:t>28</a:t>
            </a:r>
          </a:p>
          <a:p>
            <a:pPr algn="ctr"/>
            <a:r>
              <a:rPr sz="1500" b="0" i="0">
                <a:solidFill>
                  <a:srgbClr val="CADCFC"/>
                </a:solidFill>
                <a:latin typeface="Calibri"/>
              </a:rPr>
              <a:t>of 83 servers answer</a:t>
            </a:r>
          </a:p>
          <a:p>
            <a:pPr algn="ctr"/>
            <a:r>
              <a:rPr sz="1500" b="1" i="0">
                <a:solidFill>
                  <a:srgbClr val="FFFFFF"/>
                </a:solidFill>
                <a:latin typeface="Calibri"/>
              </a:rPr>
              <a:t>tools/list  with no login</a:t>
            </a:r>
          </a:p>
        </p:txBody>
      </p:sp>
      <p:sp>
        <p:nvSpPr>
          <p:cNvPr id="6" name="TextBox 5"/>
          <p:cNvSpPr txBox="1"/>
          <p:nvPr/>
        </p:nvSpPr>
        <p:spPr>
          <a:xfrm>
            <a:off x="4023360" y="1828800"/>
            <a:ext cx="7589520" cy="457200"/>
          </a:xfrm>
          <a:prstGeom prst="rect">
            <a:avLst/>
          </a:prstGeom>
          <a:noFill/>
        </p:spPr>
        <p:txBody>
          <a:bodyPr wrap="square" lIns="0" tIns="0" rIns="0" bIns="0" anchor="t">
            <a:spAutoFit/>
          </a:bodyPr>
          <a:lstStyle/>
          <a:p>
            <a:pPr algn="l"/>
            <a:r>
              <a:rPr sz="1800" b="1" i="0">
                <a:solidFill>
                  <a:srgbClr val="1C7293"/>
                </a:solidFill>
                <a:latin typeface="Calibri"/>
              </a:rPr>
              <a:t>438 tools</a:t>
            </a:r>
            <a:r>
              <a:rPr sz="1800" b="0" i="0">
                <a:solidFill>
                  <a:srgbClr val="1B2A3A"/>
                </a:solidFill>
                <a:latin typeface="Calibri"/>
              </a:rPr>
              <a:t> reachable by a stranger, across those 28 servers.</a:t>
            </a:r>
          </a:p>
        </p:txBody>
      </p:sp>
      <p:sp>
        <p:nvSpPr>
          <p:cNvPr id="7" name="TextBox 6"/>
          <p:cNvSpPr txBox="1"/>
          <p:nvPr/>
        </p:nvSpPr>
        <p:spPr>
          <a:xfrm>
            <a:off x="4023360" y="2286000"/>
            <a:ext cx="7589520" cy="274320"/>
          </a:xfrm>
          <a:prstGeom prst="rect">
            <a:avLst/>
          </a:prstGeom>
          <a:noFill/>
        </p:spPr>
        <p:txBody>
          <a:bodyPr wrap="square" lIns="0" tIns="0" rIns="0" bIns="0" anchor="t">
            <a:spAutoFit/>
          </a:bodyPr>
          <a:lstStyle/>
          <a:p>
            <a:pPr algn="l"/>
            <a:r>
              <a:rPr sz="1200" b="0" i="1">
                <a:solidFill>
                  <a:srgbClr val="5C6B7A"/>
                </a:solidFill>
                <a:latin typeface="Calibri"/>
              </a:rPr>
              <a:t>The four servers exposing the most tools (tool count):</a:t>
            </a:r>
          </a:p>
        </p:txBody>
      </p:sp>
      <p:sp>
        <p:nvSpPr>
          <p:cNvPr id="8" name="Rectangle 7"/>
          <p:cNvSpPr/>
          <p:nvPr/>
        </p:nvSpPr>
        <p:spPr>
          <a:xfrm>
            <a:off x="4023360" y="2651760"/>
            <a:ext cx="5486400" cy="292608"/>
          </a:xfrm>
          <a:prstGeom prst="rect">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19488" y="2615184"/>
            <a:ext cx="2926080" cy="365760"/>
          </a:xfrm>
          <a:prstGeom prst="rect">
            <a:avLst/>
          </a:prstGeom>
          <a:noFill/>
        </p:spPr>
        <p:txBody>
          <a:bodyPr wrap="square" lIns="0" tIns="0" rIns="0" bIns="0" anchor="ctr">
            <a:spAutoFit/>
          </a:bodyPr>
          <a:lstStyle/>
          <a:p>
            <a:pPr algn="l"/>
            <a:r>
              <a:rPr sz="1200" b="0" i="0">
                <a:solidFill>
                  <a:srgbClr val="1B2A3A"/>
                </a:solidFill>
                <a:latin typeface="Calibri"/>
              </a:rPr>
              <a:t>dock  (71 tools)</a:t>
            </a:r>
          </a:p>
        </p:txBody>
      </p:sp>
      <p:sp>
        <p:nvSpPr>
          <p:cNvPr id="10" name="Rectangle 9"/>
          <p:cNvSpPr/>
          <p:nvPr/>
        </p:nvSpPr>
        <p:spPr>
          <a:xfrm>
            <a:off x="4023360" y="3054096"/>
            <a:ext cx="5331853" cy="292608"/>
          </a:xfrm>
          <a:prstGeom prst="rect">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464941" y="3017520"/>
            <a:ext cx="2926080" cy="365760"/>
          </a:xfrm>
          <a:prstGeom prst="rect">
            <a:avLst/>
          </a:prstGeom>
          <a:noFill/>
        </p:spPr>
        <p:txBody>
          <a:bodyPr wrap="square" lIns="0" tIns="0" rIns="0" bIns="0" anchor="ctr">
            <a:spAutoFit/>
          </a:bodyPr>
          <a:lstStyle/>
          <a:p>
            <a:pPr algn="l"/>
            <a:r>
              <a:rPr sz="1200" b="0" i="0">
                <a:solidFill>
                  <a:srgbClr val="1B2A3A"/>
                </a:solidFill>
                <a:latin typeface="Calibri"/>
              </a:rPr>
              <a:t>switch  (69 tools)</a:t>
            </a:r>
          </a:p>
        </p:txBody>
      </p:sp>
      <p:sp>
        <p:nvSpPr>
          <p:cNvPr id="12" name="Rectangle 11"/>
          <p:cNvSpPr/>
          <p:nvPr/>
        </p:nvSpPr>
        <p:spPr>
          <a:xfrm>
            <a:off x="4023360" y="3456432"/>
            <a:ext cx="3400022" cy="292608"/>
          </a:xfrm>
          <a:prstGeom prst="rect">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33110" y="3419856"/>
            <a:ext cx="2926080" cy="365760"/>
          </a:xfrm>
          <a:prstGeom prst="rect">
            <a:avLst/>
          </a:prstGeom>
          <a:noFill/>
        </p:spPr>
        <p:txBody>
          <a:bodyPr wrap="square" lIns="0" tIns="0" rIns="0" bIns="0" anchor="ctr">
            <a:spAutoFit/>
          </a:bodyPr>
          <a:lstStyle/>
          <a:p>
            <a:pPr algn="l"/>
            <a:r>
              <a:rPr sz="1200" b="0" i="0">
                <a:solidFill>
                  <a:srgbClr val="1B2A3A"/>
                </a:solidFill>
                <a:latin typeface="Calibri"/>
              </a:rPr>
              <a:t>gondola  (44 tools)</a:t>
            </a:r>
          </a:p>
        </p:txBody>
      </p:sp>
      <p:sp>
        <p:nvSpPr>
          <p:cNvPr id="14" name="Rectangle 13"/>
          <p:cNvSpPr/>
          <p:nvPr/>
        </p:nvSpPr>
        <p:spPr>
          <a:xfrm>
            <a:off x="4023360" y="3858768"/>
            <a:ext cx="2704563" cy="292608"/>
          </a:xfrm>
          <a:prstGeom prst="rect">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37651" y="3822191"/>
            <a:ext cx="2926080" cy="365760"/>
          </a:xfrm>
          <a:prstGeom prst="rect">
            <a:avLst/>
          </a:prstGeom>
          <a:noFill/>
        </p:spPr>
        <p:txBody>
          <a:bodyPr wrap="square" lIns="0" tIns="0" rIns="0" bIns="0" anchor="ctr">
            <a:spAutoFit/>
          </a:bodyPr>
          <a:lstStyle/>
          <a:p>
            <a:pPr algn="l"/>
            <a:r>
              <a:rPr sz="1200" b="0" i="0">
                <a:solidFill>
                  <a:srgbClr val="1B2A3A"/>
                </a:solidFill>
                <a:latin typeface="Calibri"/>
              </a:rPr>
              <a:t>nullary  (35 tools)</a:t>
            </a:r>
          </a:p>
        </p:txBody>
      </p:sp>
      <p:sp>
        <p:nvSpPr>
          <p:cNvPr id="16" name="TextBox 15"/>
          <p:cNvSpPr txBox="1"/>
          <p:nvPr/>
        </p:nvSpPr>
        <p:spPr>
          <a:xfrm>
            <a:off x="4023360" y="4434840"/>
            <a:ext cx="7589520" cy="640080"/>
          </a:xfrm>
          <a:prstGeom prst="rect">
            <a:avLst/>
          </a:prstGeom>
          <a:noFill/>
        </p:spPr>
        <p:txBody>
          <a:bodyPr wrap="square" lIns="0" tIns="0" rIns="0" bIns="0" anchor="t">
            <a:spAutoFit/>
          </a:bodyPr>
          <a:lstStyle/>
          <a:p>
            <a:pPr algn="l"/>
            <a:r>
              <a:rPr sz="1400" b="1" i="0">
                <a:solidFill>
                  <a:srgbClr val="1B2A3A"/>
                </a:solidFill>
                <a:latin typeface="Calibri"/>
              </a:rPr>
              <a:t>No rule broken</a:t>
            </a:r>
            <a:r>
              <a:rPr sz="1400" b="0" i="0">
                <a:solidFill>
                  <a:srgbClr val="1B2A3A"/>
                </a:solidFill>
                <a:latin typeface="Calibri"/>
              </a:rPr>
              <a:t> - authenticating is only a SHOULD. What's notable is that nothing stops a stranger asking what a server can do.</a:t>
            </a:r>
          </a:p>
        </p:txBody>
      </p:sp>
      <p:sp>
        <p:nvSpPr>
          <p:cNvPr id="17" name="TextBox 16"/>
          <p:cNvSpPr txBox="1"/>
          <p:nvPr/>
        </p:nvSpPr>
        <p:spPr>
          <a:xfrm>
            <a:off x="548640" y="5257800"/>
            <a:ext cx="11091672" cy="822960"/>
          </a:xfrm>
          <a:prstGeom prst="rect">
            <a:avLst/>
          </a:prstGeom>
          <a:noFill/>
        </p:spPr>
        <p:txBody>
          <a:bodyPr wrap="square" lIns="0" tIns="0" rIns="0" bIns="0" anchor="t">
            <a:spAutoFit/>
          </a:bodyPr>
          <a:lstStyle/>
          <a:p>
            <a:pPr algn="l">
              <a:lnSpc>
                <a:spcPct val="105000"/>
              </a:lnSpc>
            </a:pPr>
            <a:r>
              <a:rPr sz="1300" b="0" i="0">
                <a:solidFill>
                  <a:srgbClr val="5C6B7A"/>
                </a:solidFill>
                <a:latin typeface="Calibri"/>
              </a:rPr>
              <a:t>Every recognisable vendor demanded a login: </a:t>
            </a:r>
            <a:r>
              <a:rPr sz="1300" b="0" i="0">
                <a:solidFill>
                  <a:srgbClr val="12233F"/>
                </a:solidFill>
                <a:latin typeface="Calibri"/>
              </a:rPr>
              <a:t>Stripe, Notion, Sentry, Linear, GitHub, PayPal, Square, Wix, Zapier, Atlassian, Neon, Grafana, Prisma, Vercel, Webflow.</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RESULTS</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Finding 2: listing is not running</a:t>
            </a:r>
          </a:p>
        </p:txBody>
      </p:sp>
      <p:sp>
        <p:nvSpPr>
          <p:cNvPr id="4" name="TextBox 3"/>
          <p:cNvSpPr txBox="1"/>
          <p:nvPr/>
        </p:nvSpPr>
        <p:spPr>
          <a:xfrm>
            <a:off x="548640" y="1645920"/>
            <a:ext cx="11091672" cy="640080"/>
          </a:xfrm>
          <a:prstGeom prst="rect">
            <a:avLst/>
          </a:prstGeom>
          <a:noFill/>
        </p:spPr>
        <p:txBody>
          <a:bodyPr wrap="square" lIns="0" tIns="0" rIns="0" bIns="0" anchor="t">
            <a:spAutoFit/>
          </a:bodyPr>
          <a:lstStyle/>
          <a:p>
            <a:pPr algn="l">
              <a:lnSpc>
                <a:spcPct val="105000"/>
              </a:lnSpc>
            </a:pPr>
            <a:r>
              <a:rPr sz="1600" b="0" i="0">
                <a:solidFill>
                  <a:srgbClr val="1B2A3A"/>
                </a:solidFill>
                <a:latin typeface="Calibri"/>
              </a:rPr>
              <a:t>Check #13 tested the invocation path directly on those 28 servers - and it changed the picture.</a:t>
            </a:r>
          </a:p>
        </p:txBody>
      </p:sp>
      <p:sp>
        <p:nvSpPr>
          <p:cNvPr id="5" name="Rounded Rectangle 4"/>
          <p:cNvSpPr/>
          <p:nvPr/>
        </p:nvSpPr>
        <p:spPr>
          <a:xfrm>
            <a:off x="548640" y="2468880"/>
            <a:ext cx="2743200" cy="109728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2468880"/>
            <a:ext cx="2743200" cy="1097280"/>
          </a:xfrm>
          <a:prstGeom prst="rect">
            <a:avLst/>
          </a:prstGeom>
          <a:noFill/>
        </p:spPr>
        <p:txBody>
          <a:bodyPr wrap="square" lIns="0" tIns="0" rIns="0" bIns="0" anchor="ctr">
            <a:spAutoFit/>
          </a:bodyPr>
          <a:lstStyle/>
          <a:p>
            <a:pPr algn="ctr"/>
            <a:r>
              <a:rPr sz="3000" b="1" i="0">
                <a:solidFill>
                  <a:srgbClr val="12233F"/>
                </a:solidFill>
                <a:latin typeface="Calibri"/>
              </a:rPr>
              <a:t>28</a:t>
            </a:r>
            <a:r>
              <a:rPr sz="1300" b="0" i="0">
                <a:solidFill>
                  <a:srgbClr val="1B2A3A"/>
                </a:solidFill>
                <a:latin typeface="Calibri"/>
              </a:rPr>
              <a:t>  list tools</a:t>
            </a:r>
          </a:p>
        </p:txBody>
      </p:sp>
      <p:sp>
        <p:nvSpPr>
          <p:cNvPr id="7" name="Right Arrow 6"/>
          <p:cNvSpPr/>
          <p:nvPr/>
        </p:nvSpPr>
        <p:spPr>
          <a:xfrm>
            <a:off x="3383280" y="2880360"/>
            <a:ext cx="457200" cy="274320"/>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977639" y="2057400"/>
            <a:ext cx="2788920" cy="914400"/>
          </a:xfrm>
          <a:prstGeom prst="roundRect">
            <a:avLst>
              <a:gd name="adj" fmla="val 6000"/>
            </a:avLst>
          </a:prstGeom>
          <a:solidFill>
            <a:srgbClr val="DDEFE7"/>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977639" y="2057400"/>
            <a:ext cx="2788920" cy="914400"/>
          </a:xfrm>
          <a:prstGeom prst="rect">
            <a:avLst/>
          </a:prstGeom>
          <a:noFill/>
        </p:spPr>
        <p:txBody>
          <a:bodyPr wrap="square" lIns="0" tIns="0" rIns="0" bIns="0" anchor="ctr">
            <a:spAutoFit/>
          </a:bodyPr>
          <a:lstStyle/>
          <a:p>
            <a:pPr algn="ctr"/>
            <a:r>
              <a:rPr sz="2600" b="1" i="0">
                <a:solidFill>
                  <a:srgbClr val="2E7D32"/>
                </a:solidFill>
                <a:latin typeface="Calibri"/>
              </a:rPr>
              <a:t>22</a:t>
            </a:r>
            <a:r>
              <a:rPr sz="1200" b="0" i="0">
                <a:solidFill>
                  <a:srgbClr val="1B2A3A"/>
                </a:solidFill>
                <a:latin typeface="Calibri"/>
              </a:rPr>
              <a:t>  also let a stranger run a tool</a:t>
            </a:r>
          </a:p>
        </p:txBody>
      </p:sp>
      <p:sp>
        <p:nvSpPr>
          <p:cNvPr id="10" name="Rounded Rectangle 9"/>
          <p:cNvSpPr/>
          <p:nvPr/>
        </p:nvSpPr>
        <p:spPr>
          <a:xfrm>
            <a:off x="3977639" y="3108960"/>
            <a:ext cx="2788920" cy="914400"/>
          </a:xfrm>
          <a:prstGeom prst="roundRect">
            <a:avLst>
              <a:gd name="adj" fmla="val 6000"/>
            </a:avLst>
          </a:prstGeom>
          <a:solidFill>
            <a:srgbClr val="F3D9D9"/>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977639" y="3108960"/>
            <a:ext cx="2788920" cy="914400"/>
          </a:xfrm>
          <a:prstGeom prst="rect">
            <a:avLst/>
          </a:prstGeom>
          <a:noFill/>
        </p:spPr>
        <p:txBody>
          <a:bodyPr wrap="square" lIns="0" tIns="0" rIns="0" bIns="0" anchor="ctr">
            <a:spAutoFit/>
          </a:bodyPr>
          <a:lstStyle/>
          <a:p>
            <a:pPr algn="ctr"/>
            <a:r>
              <a:rPr sz="2600" b="1" i="0">
                <a:solidFill>
                  <a:srgbClr val="B23A3A"/>
                </a:solidFill>
                <a:latin typeface="Calibri"/>
              </a:rPr>
              <a:t>6</a:t>
            </a:r>
            <a:r>
              <a:rPr sz="1200" b="0" i="0">
                <a:solidFill>
                  <a:srgbClr val="1B2A3A"/>
                </a:solidFill>
                <a:latin typeface="Calibri"/>
              </a:rPr>
              <a:t>  gate execution (call → 401)</a:t>
            </a:r>
          </a:p>
        </p:txBody>
      </p:sp>
      <p:sp>
        <p:nvSpPr>
          <p:cNvPr id="12" name="TextBox 11"/>
          <p:cNvSpPr txBox="1"/>
          <p:nvPr/>
        </p:nvSpPr>
        <p:spPr>
          <a:xfrm>
            <a:off x="548640" y="4343400"/>
            <a:ext cx="6126480" cy="1554480"/>
          </a:xfrm>
          <a:prstGeom prst="rect">
            <a:avLst/>
          </a:prstGeom>
          <a:noFill/>
        </p:spPr>
        <p:txBody>
          <a:bodyPr wrap="square" lIns="0" tIns="0" rIns="0" bIns="0" anchor="t">
            <a:spAutoFit/>
          </a:bodyPr>
          <a:lstStyle/>
          <a:p>
            <a:pPr algn="l">
              <a:lnSpc>
                <a:spcPct val="105000"/>
              </a:lnSpc>
              <a:spcAft>
                <a:spcPts val="600"/>
              </a:spcAft>
            </a:pPr>
            <a:r>
              <a:rPr sz="1300" b="0" i="0">
                <a:solidFill>
                  <a:srgbClr val="1B2A3A"/>
                </a:solidFill>
                <a:latin typeface="Calibri"/>
              </a:rPr>
              <a:t>The 6 that gate: dock, switch, gondola, api-openmandate, catalog-api, financial-data.</a:t>
            </a:r>
          </a:p>
          <a:p>
            <a:pPr algn="l">
              <a:lnSpc>
                <a:spcPct val="105000"/>
              </a:lnSpc>
            </a:pPr>
            <a:r>
              <a:rPr sz="1300" b="1" i="0">
                <a:solidFill>
                  <a:srgbClr val="12233F"/>
                </a:solidFill>
                <a:latin typeface="Calibri"/>
              </a:rPr>
              <a:t>The measured figure is 22, not 28. Claiming “anyone can use” on all 28 would have over-stated by about a fifth - #13 replaces that inference with a direct measurement.</a:t>
            </a:r>
          </a:p>
        </p:txBody>
      </p:sp>
      <p:sp>
        <p:nvSpPr>
          <p:cNvPr id="13" name="Rounded Rectangle 12"/>
          <p:cNvSpPr/>
          <p:nvPr/>
        </p:nvSpPr>
        <p:spPr>
          <a:xfrm>
            <a:off x="7040880" y="2194560"/>
            <a:ext cx="4599432" cy="3474720"/>
          </a:xfrm>
          <a:prstGeom prst="roundRect">
            <a:avLst>
              <a:gd name="adj" fmla="val 6000"/>
            </a:avLst>
          </a:prstGeom>
          <a:solidFill>
            <a:srgbClr val="0E1B2E"/>
          </a:solidFill>
          <a:ln w="12700">
            <a:solidFill>
              <a:srgbClr val="122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269480" y="2395728"/>
            <a:ext cx="4206240" cy="3108960"/>
          </a:xfrm>
          <a:prstGeom prst="rect">
            <a:avLst/>
          </a:prstGeom>
          <a:noFill/>
        </p:spPr>
        <p:txBody>
          <a:bodyPr wrap="square" lIns="0" tIns="0" rIns="0" bIns="0" anchor="t">
            <a:spAutoFit/>
          </a:bodyPr>
          <a:lstStyle/>
          <a:p>
            <a:pPr algn="l">
              <a:lnSpc>
                <a:spcPct val="112000"/>
              </a:lnSpc>
              <a:spcAft>
                <a:spcPts val="800"/>
              </a:spcAft>
            </a:pPr>
            <a:r>
              <a:rPr sz="1300" b="1" i="0">
                <a:solidFill>
                  <a:srgbClr val="02C39A"/>
                </a:solidFill>
                <a:latin typeface="Courier New"/>
              </a:rPr>
              <a:t>dock  -  evidence</a:t>
            </a:r>
          </a:p>
          <a:p>
            <a:pPr algn="l">
              <a:lnSpc>
                <a:spcPct val="112000"/>
              </a:lnSpc>
            </a:pPr>
            <a:r>
              <a:rPr sz="1250" b="0" i="0">
                <a:solidFill>
                  <a:srgbClr val="CADCFC"/>
                </a:solidFill>
                <a:latin typeface="Courier New"/>
              </a:rPr>
              <a:t>tools/list   (no auth)</a:t>
            </a:r>
          </a:p>
          <a:p>
            <a:pPr algn="l">
              <a:lnSpc>
                <a:spcPct val="112000"/>
              </a:lnSpc>
              <a:spcAft>
                <a:spcPts val="800"/>
              </a:spcAft>
            </a:pPr>
            <a:r>
              <a:rPr sz="1250" b="0" i="0">
                <a:solidFill>
                  <a:srgbClr val="8FE3C9"/>
                </a:solidFill>
                <a:latin typeface="Courier New"/>
              </a:rPr>
              <a:t>→ HTTP 200   { 71 tools }</a:t>
            </a:r>
          </a:p>
          <a:p>
            <a:pPr algn="l">
              <a:lnSpc>
                <a:spcPct val="112000"/>
              </a:lnSpc>
            </a:pPr>
            <a:r>
              <a:rPr sz="1250" b="0" i="0">
                <a:solidFill>
                  <a:srgbClr val="CADCFC"/>
                </a:solidFill>
                <a:latin typeface="Courier New"/>
              </a:rPr>
              <a:t>tools/call   (no auth)</a:t>
            </a:r>
          </a:p>
          <a:p>
            <a:pPr algn="l">
              <a:lnSpc>
                <a:spcPct val="112000"/>
              </a:lnSpc>
              <a:spcAft>
                <a:spcPts val="1000"/>
              </a:spcAft>
            </a:pPr>
            <a:r>
              <a:rPr sz="1250" b="0" i="0">
                <a:solidFill>
                  <a:srgbClr val="F3B0B0"/>
                </a:solidFill>
                <a:latin typeface="Courier New"/>
              </a:rPr>
              <a:t>→ HTTP 401   Unauthorized</a:t>
            </a:r>
          </a:p>
          <a:p>
            <a:pPr algn="l">
              <a:lnSpc>
                <a:spcPct val="112000"/>
              </a:lnSpc>
            </a:pPr>
            <a:r>
              <a:rPr sz="1200" b="0" i="1">
                <a:solidFill>
                  <a:srgbClr val="CADCFC"/>
                </a:solidFill>
                <a:latin typeface="Calibri"/>
              </a:rPr>
              <a:t>lists 71 tools, but gates every call.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RESULTS</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Finding 3: nearly half let anyone register a client</a:t>
            </a:r>
          </a:p>
        </p:txBody>
      </p:sp>
      <p:sp>
        <p:nvSpPr>
          <p:cNvPr id="4" name="Rounded Rectangle 3"/>
          <p:cNvSpPr/>
          <p:nvPr/>
        </p:nvSpPr>
        <p:spPr>
          <a:xfrm>
            <a:off x="548640" y="1737360"/>
            <a:ext cx="3383280" cy="2057400"/>
          </a:xfrm>
          <a:prstGeom prst="roundRect">
            <a:avLst>
              <a:gd name="adj" fmla="val 6000"/>
            </a:avLst>
          </a:prstGeom>
          <a:solidFill>
            <a:srgbClr val="12233F"/>
          </a:solidFill>
          <a:ln w="12700">
            <a:solidFill>
              <a:srgbClr val="122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828800"/>
            <a:ext cx="3383280" cy="1874519"/>
          </a:xfrm>
          <a:prstGeom prst="rect">
            <a:avLst/>
          </a:prstGeom>
          <a:noFill/>
        </p:spPr>
        <p:txBody>
          <a:bodyPr wrap="square" lIns="0" tIns="0" rIns="0" bIns="0" anchor="ctr">
            <a:spAutoFit/>
          </a:bodyPr>
          <a:lstStyle/>
          <a:p>
            <a:pPr algn="ctr">
              <a:spcAft>
                <a:spcPts val="200"/>
              </a:spcAft>
            </a:pPr>
            <a:r>
              <a:rPr sz="6200" b="1" i="0">
                <a:solidFill>
                  <a:srgbClr val="02C39A"/>
                </a:solidFill>
                <a:latin typeface="Calibri"/>
              </a:rPr>
              <a:t>38</a:t>
            </a:r>
          </a:p>
          <a:p>
            <a:pPr algn="ctr"/>
            <a:r>
              <a:rPr sz="1400" b="0" i="0">
                <a:solidFill>
                  <a:srgbClr val="CADCFC"/>
                </a:solidFill>
                <a:latin typeface="Calibri"/>
              </a:rPr>
              <a:t>of 83 servers let anyone</a:t>
            </a:r>
          </a:p>
          <a:p>
            <a:pPr algn="ctr"/>
            <a:r>
              <a:rPr sz="1400" b="1" i="0">
                <a:solidFill>
                  <a:srgbClr val="FFFFFF"/>
                </a:solidFill>
                <a:latin typeface="Calibri"/>
              </a:rPr>
              <a:t>register a client - no approval</a:t>
            </a:r>
          </a:p>
        </p:txBody>
      </p:sp>
      <p:sp>
        <p:nvSpPr>
          <p:cNvPr id="6" name="TextBox 5"/>
          <p:cNvSpPr txBox="1"/>
          <p:nvPr/>
        </p:nvSpPr>
        <p:spPr>
          <a:xfrm>
            <a:off x="4206240" y="1737360"/>
            <a:ext cx="7406640" cy="868680"/>
          </a:xfrm>
          <a:prstGeom prst="rect">
            <a:avLst/>
          </a:prstGeom>
          <a:noFill/>
        </p:spPr>
        <p:txBody>
          <a:bodyPr wrap="square" lIns="0" tIns="0" rIns="0" bIns="0" anchor="t">
            <a:spAutoFit/>
          </a:bodyPr>
          <a:lstStyle/>
          <a:p>
            <a:pPr algn="l">
              <a:lnSpc>
                <a:spcPct val="105000"/>
              </a:lnSpc>
            </a:pPr>
            <a:r>
              <a:rPr sz="1500" b="1" i="0">
                <a:solidFill>
                  <a:srgbClr val="1C7293"/>
                </a:solidFill>
                <a:latin typeface="Calibri"/>
              </a:rPr>
              <a:t>Open Dynamic Client Registration (DCR): </a:t>
            </a:r>
            <a:r>
              <a:rPr sz="1500" b="0" i="0">
                <a:solidFill>
                  <a:srgbClr val="1B2A3A"/>
                </a:solidFill>
                <a:latin typeface="Calibri"/>
              </a:rPr>
              <a:t>an app registers itself with the login server automatically, no human in the loop. “Open” means anyone can.</a:t>
            </a:r>
          </a:p>
        </p:txBody>
      </p:sp>
      <p:sp>
        <p:nvSpPr>
          <p:cNvPr id="7" name="Rounded Rectangle 6"/>
          <p:cNvSpPr/>
          <p:nvPr/>
        </p:nvSpPr>
        <p:spPr>
          <a:xfrm>
            <a:off x="4206240" y="2743200"/>
            <a:ext cx="2331720" cy="132588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343400" y="2834640"/>
            <a:ext cx="2057400" cy="1143000"/>
          </a:xfrm>
          <a:prstGeom prst="rect">
            <a:avLst/>
          </a:prstGeom>
          <a:noFill/>
        </p:spPr>
        <p:txBody>
          <a:bodyPr wrap="square" lIns="0" tIns="0" rIns="0" bIns="0" anchor="ctr">
            <a:spAutoFit/>
          </a:bodyPr>
          <a:lstStyle/>
          <a:p>
            <a:pPr algn="l">
              <a:lnSpc>
                <a:spcPct val="100000"/>
              </a:lnSpc>
              <a:spcAft>
                <a:spcPts val="300"/>
              </a:spcAft>
            </a:pPr>
            <a:r>
              <a:rPr sz="1400" b="1" i="0">
                <a:solidFill>
                  <a:srgbClr val="12233F"/>
                </a:solidFill>
                <a:latin typeface="Calibri"/>
              </a:rPr>
              <a:t>1  Register</a:t>
            </a:r>
          </a:p>
          <a:p>
            <a:pPr algn="l">
              <a:lnSpc>
                <a:spcPct val="100000"/>
              </a:lnSpc>
            </a:pPr>
            <a:r>
              <a:rPr sz="1200" b="0" i="0">
                <a:solidFill>
                  <a:srgbClr val="1B2A3A"/>
                </a:solidFill>
                <a:latin typeface="Calibri"/>
              </a:rPr>
              <a:t>a legitimate-looking client - no vetting.</a:t>
            </a:r>
          </a:p>
        </p:txBody>
      </p:sp>
      <p:sp>
        <p:nvSpPr>
          <p:cNvPr id="9" name="Right Arrow 8"/>
          <p:cNvSpPr/>
          <p:nvPr/>
        </p:nvSpPr>
        <p:spPr>
          <a:xfrm>
            <a:off x="6542531" y="3310128"/>
            <a:ext cx="128015" cy="146304"/>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675119" y="2743200"/>
            <a:ext cx="2331720" cy="132588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12279" y="2834640"/>
            <a:ext cx="2057400" cy="1143000"/>
          </a:xfrm>
          <a:prstGeom prst="rect">
            <a:avLst/>
          </a:prstGeom>
          <a:noFill/>
        </p:spPr>
        <p:txBody>
          <a:bodyPr wrap="square" lIns="0" tIns="0" rIns="0" bIns="0" anchor="ctr">
            <a:spAutoFit/>
          </a:bodyPr>
          <a:lstStyle/>
          <a:p>
            <a:pPr algn="l">
              <a:lnSpc>
                <a:spcPct val="100000"/>
              </a:lnSpc>
              <a:spcAft>
                <a:spcPts val="300"/>
              </a:spcAft>
            </a:pPr>
            <a:r>
              <a:rPr sz="1400" b="1" i="0">
                <a:solidFill>
                  <a:srgbClr val="12233F"/>
                </a:solidFill>
                <a:latin typeface="Calibri"/>
              </a:rPr>
              <a:t>2  Lure</a:t>
            </a:r>
          </a:p>
          <a:p>
            <a:pPr algn="l">
              <a:lnSpc>
                <a:spcPct val="100000"/>
              </a:lnSpc>
            </a:pPr>
            <a:r>
              <a:rPr sz="1200" b="0" i="0">
                <a:solidFill>
                  <a:srgbClr val="1B2A3A"/>
                </a:solidFill>
                <a:latin typeface="Calibri"/>
              </a:rPr>
              <a:t>a user into approving it.</a:t>
            </a:r>
          </a:p>
        </p:txBody>
      </p:sp>
      <p:sp>
        <p:nvSpPr>
          <p:cNvPr id="12" name="Right Arrow 11"/>
          <p:cNvSpPr/>
          <p:nvPr/>
        </p:nvSpPr>
        <p:spPr>
          <a:xfrm>
            <a:off x="9011411" y="3310128"/>
            <a:ext cx="128015" cy="146304"/>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144000" y="2743200"/>
            <a:ext cx="2331720" cy="132588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281160" y="2834640"/>
            <a:ext cx="2057400" cy="1143000"/>
          </a:xfrm>
          <a:prstGeom prst="rect">
            <a:avLst/>
          </a:prstGeom>
          <a:noFill/>
        </p:spPr>
        <p:txBody>
          <a:bodyPr wrap="square" lIns="0" tIns="0" rIns="0" bIns="0" anchor="ctr">
            <a:spAutoFit/>
          </a:bodyPr>
          <a:lstStyle/>
          <a:p>
            <a:pPr algn="l">
              <a:lnSpc>
                <a:spcPct val="100000"/>
              </a:lnSpc>
              <a:spcAft>
                <a:spcPts val="300"/>
              </a:spcAft>
            </a:pPr>
            <a:r>
              <a:rPr sz="1400" b="1" i="0">
                <a:solidFill>
                  <a:srgbClr val="12233F"/>
                </a:solidFill>
                <a:latin typeface="Calibri"/>
              </a:rPr>
              <a:t>3  Receive</a:t>
            </a:r>
          </a:p>
          <a:p>
            <a:pPr algn="l">
              <a:lnSpc>
                <a:spcPct val="100000"/>
              </a:lnSpc>
            </a:pPr>
            <a:r>
              <a:rPr sz="1200" b="0" i="0">
                <a:solidFill>
                  <a:srgbClr val="1B2A3A"/>
                </a:solidFill>
                <a:latin typeface="Calibri"/>
              </a:rPr>
              <a:t>tokens issued for that user.</a:t>
            </a:r>
          </a:p>
        </p:txBody>
      </p:sp>
      <p:sp>
        <p:nvSpPr>
          <p:cNvPr id="15" name="Rounded Rectangle 14"/>
          <p:cNvSpPr/>
          <p:nvPr/>
        </p:nvSpPr>
        <p:spPr>
          <a:xfrm>
            <a:off x="548640" y="4343400"/>
            <a:ext cx="11091672" cy="1508760"/>
          </a:xfrm>
          <a:prstGeom prst="roundRect">
            <a:avLst>
              <a:gd name="adj" fmla="val 6000"/>
            </a:avLst>
          </a:prstGeom>
          <a:solidFill>
            <a:srgbClr val="EEF3F8"/>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59" y="4480560"/>
            <a:ext cx="10543032" cy="1234440"/>
          </a:xfrm>
          <a:prstGeom prst="rect">
            <a:avLst/>
          </a:prstGeom>
          <a:noFill/>
        </p:spPr>
        <p:txBody>
          <a:bodyPr wrap="square" lIns="0" tIns="0" rIns="0" bIns="0" anchor="ctr">
            <a:spAutoFit/>
          </a:bodyPr>
          <a:lstStyle/>
          <a:p>
            <a:pPr algn="l">
              <a:lnSpc>
                <a:spcPct val="105000"/>
              </a:lnSpc>
            </a:pPr>
            <a:r>
              <a:rPr sz="1500" b="1" i="0">
                <a:solidFill>
                  <a:srgbClr val="1C7293"/>
                </a:solidFill>
                <a:latin typeface="Calibri"/>
              </a:rPr>
              <a:t>Why it matters.  </a:t>
            </a:r>
            <a:r>
              <a:rPr sz="1500" b="0" i="0">
                <a:solidFill>
                  <a:srgbClr val="1B2A3A"/>
                </a:solidFill>
                <a:latin typeface="Calibri"/>
              </a:rPr>
              <a:t>Open registration breaks no rule - the spec permits it. But the spec itself flags it as the prerequisite for consent-phishing and client-impersonation attacks, and it is the one piece of the identity-confusion risk visible without any token. That is why we report it as posture, not a pass. (Of the rest: 35 advertise no registration at all; 10 were inconclusive.)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RESULTS</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Finding 4: the write check that found nothing - and what that tells us</a:t>
            </a:r>
          </a:p>
        </p:txBody>
      </p:sp>
      <p:sp>
        <p:nvSpPr>
          <p:cNvPr id="4" name="Rounded Rectangle 3"/>
          <p:cNvSpPr/>
          <p:nvPr/>
        </p:nvSpPr>
        <p:spPr>
          <a:xfrm>
            <a:off x="548640" y="1783080"/>
            <a:ext cx="5257800" cy="1874519"/>
          </a:xfrm>
          <a:prstGeom prst="roundRect">
            <a:avLst>
              <a:gd name="adj" fmla="val 6000"/>
            </a:avLst>
          </a:prstGeom>
          <a:solidFill>
            <a:srgbClr val="EEF3F8"/>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59" y="1920240"/>
            <a:ext cx="4709160" cy="1600200"/>
          </a:xfrm>
          <a:prstGeom prst="rect">
            <a:avLst/>
          </a:prstGeom>
          <a:noFill/>
        </p:spPr>
        <p:txBody>
          <a:bodyPr wrap="square" lIns="0" tIns="0" rIns="0" bIns="0" anchor="t">
            <a:spAutoFit/>
          </a:bodyPr>
          <a:lstStyle/>
          <a:p>
            <a:pPr algn="l">
              <a:lnSpc>
                <a:spcPct val="105000"/>
              </a:lnSpc>
              <a:spcAft>
                <a:spcPts val="200"/>
              </a:spcAft>
            </a:pPr>
            <a:r>
              <a:rPr sz="4400" b="1" i="0">
                <a:solidFill>
                  <a:srgbClr val="1C7293"/>
                </a:solidFill>
                <a:latin typeface="Calibri"/>
              </a:rPr>
              <a:t>0</a:t>
            </a:r>
          </a:p>
          <a:p>
            <a:pPr algn="l">
              <a:lnSpc>
                <a:spcPct val="105000"/>
              </a:lnSpc>
            </a:pPr>
            <a:r>
              <a:rPr sz="1400" b="0" i="0">
                <a:solidFill>
                  <a:srgbClr val="1B2A3A"/>
                </a:solidFill>
                <a:latin typeface="Calibri"/>
              </a:rPr>
              <a:t>redirect-uri findings (#14). Of 47 testable: 23 correctly rejected the bad address, 24 inconclusive.</a:t>
            </a:r>
          </a:p>
        </p:txBody>
      </p:sp>
      <p:sp>
        <p:nvSpPr>
          <p:cNvPr id="6" name="Rounded Rectangle 5"/>
          <p:cNvSpPr/>
          <p:nvPr/>
        </p:nvSpPr>
        <p:spPr>
          <a:xfrm>
            <a:off x="6382512" y="1783080"/>
            <a:ext cx="5257800" cy="1874519"/>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56832" y="1920240"/>
            <a:ext cx="4709160" cy="1600200"/>
          </a:xfrm>
          <a:prstGeom prst="rect">
            <a:avLst/>
          </a:prstGeom>
          <a:noFill/>
        </p:spPr>
        <p:txBody>
          <a:bodyPr wrap="square" lIns="0" tIns="0" rIns="0" bIns="0" anchor="ctr">
            <a:spAutoFit/>
          </a:bodyPr>
          <a:lstStyle/>
          <a:p>
            <a:pPr algn="l">
              <a:lnSpc>
                <a:spcPct val="105000"/>
              </a:lnSpc>
            </a:pPr>
            <a:r>
              <a:rPr sz="1400" b="0" i="0">
                <a:solidFill>
                  <a:srgbClr val="1B2A3A"/>
                </a:solidFill>
                <a:latin typeface="Calibri"/>
              </a:rPr>
              <a:t>Half were inconclusive because a real login server shows its login page before it validates the address - the same wall that puts deeper checks out of reach.</a:t>
            </a:r>
          </a:p>
        </p:txBody>
      </p:sp>
      <p:sp>
        <p:nvSpPr>
          <p:cNvPr id="8" name="Rounded Rectangle 7"/>
          <p:cNvSpPr/>
          <p:nvPr/>
        </p:nvSpPr>
        <p:spPr>
          <a:xfrm>
            <a:off x="548640" y="3977639"/>
            <a:ext cx="11091672" cy="1920240"/>
          </a:xfrm>
          <a:prstGeom prst="roundRect">
            <a:avLst>
              <a:gd name="adj" fmla="val 6000"/>
            </a:avLst>
          </a:prstGeom>
          <a:solidFill>
            <a:srgbClr val="EEF3F8"/>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4160520"/>
            <a:ext cx="10451592" cy="1554480"/>
          </a:xfrm>
          <a:prstGeom prst="rect">
            <a:avLst/>
          </a:prstGeom>
          <a:noFill/>
        </p:spPr>
        <p:txBody>
          <a:bodyPr wrap="square" lIns="0" tIns="0" rIns="0" bIns="0" anchor="ctr">
            <a:spAutoFit/>
          </a:bodyPr>
          <a:lstStyle/>
          <a:p>
            <a:pPr algn="l">
              <a:lnSpc>
                <a:spcPct val="105000"/>
              </a:lnSpc>
              <a:spcAft>
                <a:spcPts val="800"/>
              </a:spcAft>
            </a:pPr>
            <a:r>
              <a:rPr sz="1700" b="1" i="0">
                <a:solidFill>
                  <a:srgbClr val="1C7293"/>
                </a:solidFill>
                <a:latin typeface="Calibri"/>
              </a:rPr>
              <a:t>What the zero tells us.</a:t>
            </a:r>
          </a:p>
          <a:p>
            <a:pPr algn="l">
              <a:lnSpc>
                <a:spcPct val="105000"/>
              </a:lnSpc>
              <a:spcAft>
                <a:spcPts val="800"/>
              </a:spcAft>
            </a:pPr>
            <a:r>
              <a:rPr sz="1500" b="0" i="0">
                <a:solidFill>
                  <a:srgbClr val="1B2A3A"/>
                </a:solidFill>
                <a:latin typeface="Calibri"/>
              </a:rPr>
              <a:t>Of the 47 we could test, none mishandled the forged return address: 23 rejected it outright, and 24 sat behind a login we can't pass. To even be testable, a server had to run a working OAuth registration-and-authorize flow - and the servers built well enough for that tended to validate the return address correctly too.</a:t>
            </a:r>
          </a:p>
          <a:p>
            <a:pPr algn="l">
              <a:lnSpc>
                <a:spcPct val="105000"/>
              </a:lnSpc>
            </a:pPr>
            <a:r>
              <a:rPr sz="1400" b="1" i="0">
                <a:solidFill>
                  <a:srgbClr val="12233F"/>
                </a:solidFill>
                <a:latin typeface="Calibri"/>
              </a:rPr>
              <a:t>Secure behaviours cluster: the same servers that gate their tools also get the fiddly OAuth details right.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VALIDATION</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How we know the checks are right</a:t>
            </a:r>
          </a:p>
        </p:txBody>
      </p:sp>
      <p:sp>
        <p:nvSpPr>
          <p:cNvPr id="4" name="TextBox 3"/>
          <p:cNvSpPr txBox="1"/>
          <p:nvPr/>
        </p:nvSpPr>
        <p:spPr>
          <a:xfrm>
            <a:off x="548640" y="1828800"/>
            <a:ext cx="6126480" cy="2377440"/>
          </a:xfrm>
          <a:prstGeom prst="rect">
            <a:avLst/>
          </a:prstGeom>
          <a:noFill/>
        </p:spPr>
        <p:txBody>
          <a:bodyPr wrap="square" lIns="0" tIns="0" rIns="0" bIns="0" anchor="t">
            <a:spAutoFit/>
          </a:bodyPr>
          <a:lstStyle/>
          <a:p>
            <a:pPr algn="l">
              <a:lnSpc>
                <a:spcPct val="103000"/>
              </a:lnSpc>
              <a:spcAft>
                <a:spcPts val="1200"/>
              </a:spcAft>
            </a:pPr>
            <a:r>
              <a:rPr sz="1600" b="0" i="0">
                <a:solidFill>
                  <a:srgbClr val="1B2A3A"/>
                </a:solidFill>
                <a:latin typeface="Calibri"/>
              </a:rPr>
              <a:t>•  Seven purpose-built practice servers, one per posture (wide-open, hardened, broken-auth, open-OAuth, and more).</a:t>
            </a:r>
          </a:p>
          <a:p>
            <a:pPr algn="l">
              <a:lnSpc>
                <a:spcPct val="103000"/>
              </a:lnSpc>
              <a:spcAft>
                <a:spcPts val="1200"/>
              </a:spcAft>
            </a:pPr>
            <a:r>
              <a:rPr sz="1600" b="0" i="0">
                <a:solidFill>
                  <a:srgbClr val="1B2A3A"/>
                </a:solidFill>
                <a:latin typeface="Calibri"/>
              </a:rPr>
              <a:t>•  A check counts as working only when it says HAS_GAP against the broken server AND NO_GAP against the correct one.</a:t>
            </a:r>
          </a:p>
          <a:p>
            <a:pPr algn="l">
              <a:lnSpc>
                <a:spcPct val="103000"/>
              </a:lnSpc>
              <a:spcAft>
                <a:spcPts val="0"/>
              </a:spcAft>
            </a:pPr>
            <a:r>
              <a:rPr sz="1600" b="0" i="0">
                <a:solidFill>
                  <a:srgbClr val="1B2A3A"/>
                </a:solidFill>
                <a:latin typeface="Calibri"/>
              </a:rPr>
              <a:t>•  Testing each check against both a broken and a correct server catches two failure modes: a check that misses a real gap, and one that reports a gap that is not there.</a:t>
            </a:r>
          </a:p>
        </p:txBody>
      </p:sp>
      <p:sp>
        <p:nvSpPr>
          <p:cNvPr id="5" name="Rounded Rectangle 4"/>
          <p:cNvSpPr/>
          <p:nvPr/>
        </p:nvSpPr>
        <p:spPr>
          <a:xfrm>
            <a:off x="548640" y="4434840"/>
            <a:ext cx="6126480" cy="150876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59" y="4526280"/>
            <a:ext cx="5577840" cy="1325880"/>
          </a:xfrm>
          <a:prstGeom prst="rect">
            <a:avLst/>
          </a:prstGeom>
          <a:noFill/>
        </p:spPr>
        <p:txBody>
          <a:bodyPr wrap="square" lIns="0" tIns="0" rIns="0" bIns="0" anchor="t">
            <a:spAutoFit/>
          </a:bodyPr>
          <a:lstStyle/>
          <a:p>
            <a:pPr algn="l">
              <a:lnSpc>
                <a:spcPct val="103000"/>
              </a:lnSpc>
              <a:spcAft>
                <a:spcPts val="500"/>
              </a:spcAft>
            </a:pPr>
            <a:r>
              <a:rPr sz="1300" b="1" i="0">
                <a:solidFill>
                  <a:srgbClr val="12233F"/>
                </a:solidFill>
                <a:latin typeface="Calibri"/>
              </a:rPr>
              <a:t>Real bugs now pinned by a regression test:</a:t>
            </a:r>
          </a:p>
          <a:p>
            <a:pPr algn="l">
              <a:lnSpc>
                <a:spcPct val="103000"/>
              </a:lnSpc>
              <a:spcAft>
                <a:spcPts val="300"/>
              </a:spcAft>
            </a:pPr>
            <a:r>
              <a:rPr sz="1200" b="0" i="0">
                <a:solidFill>
                  <a:srgbClr val="1B2A3A"/>
                </a:solidFill>
                <a:latin typeface="Calibri"/>
              </a:rPr>
              <a:t>• a blanket 403 was read as “login enforced” → now INCONCLUSIVE (#1)</a:t>
            </a:r>
          </a:p>
          <a:p>
            <a:pPr algn="l">
              <a:lnSpc>
                <a:spcPct val="103000"/>
              </a:lnSpc>
              <a:spcAft>
                <a:spcPts val="300"/>
              </a:spcAft>
            </a:pPr>
            <a:r>
              <a:rPr sz="1200" b="0" i="0">
                <a:solidFill>
                  <a:srgbClr val="1B2A3A"/>
                </a:solidFill>
                <a:latin typeface="Calibri"/>
              </a:rPr>
              <a:t>• metadata probed only at the bare domain → now builds the exact spec path (#4)</a:t>
            </a:r>
          </a:p>
          <a:p>
            <a:pPr algn="l">
              <a:lnSpc>
                <a:spcPct val="103000"/>
              </a:lnSpc>
            </a:pPr>
            <a:r>
              <a:rPr sz="1200" b="0" i="0">
                <a:solidFill>
                  <a:srgbClr val="1B2A3A"/>
                </a:solidFill>
                <a:latin typeface="Calibri"/>
              </a:rPr>
              <a:t>• a 403 alone counted as Origin validation → now needs a passing control (#7)</a:t>
            </a:r>
          </a:p>
        </p:txBody>
      </p:sp>
      <p:sp>
        <p:nvSpPr>
          <p:cNvPr id="7" name="Rounded Rectangle 6"/>
          <p:cNvSpPr/>
          <p:nvPr/>
        </p:nvSpPr>
        <p:spPr>
          <a:xfrm>
            <a:off x="7040880" y="1828800"/>
            <a:ext cx="4617720" cy="3657600"/>
          </a:xfrm>
          <a:prstGeom prst="roundRect">
            <a:avLst>
              <a:gd name="adj" fmla="val 6000"/>
            </a:avLst>
          </a:prstGeom>
          <a:solidFill>
            <a:srgbClr val="12233F"/>
          </a:solidFill>
          <a:ln w="12700">
            <a:solidFill>
              <a:srgbClr val="122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269480" y="2057400"/>
            <a:ext cx="4160520" cy="3291840"/>
          </a:xfrm>
          <a:prstGeom prst="rect">
            <a:avLst/>
          </a:prstGeom>
          <a:noFill/>
        </p:spPr>
        <p:txBody>
          <a:bodyPr wrap="square" lIns="0" tIns="0" rIns="0" bIns="0" anchor="ctr">
            <a:spAutoFit/>
          </a:bodyPr>
          <a:lstStyle/>
          <a:p>
            <a:pPr algn="ctr">
              <a:lnSpc>
                <a:spcPct val="105000"/>
              </a:lnSpc>
              <a:spcAft>
                <a:spcPts val="200"/>
              </a:spcAft>
            </a:pPr>
            <a:r>
              <a:rPr sz="5400" b="1" i="0">
                <a:solidFill>
                  <a:srgbClr val="02C39A"/>
                </a:solidFill>
                <a:latin typeface="Calibri"/>
              </a:rPr>
              <a:t>213</a:t>
            </a:r>
          </a:p>
          <a:p>
            <a:pPr algn="ctr">
              <a:lnSpc>
                <a:spcPct val="105000"/>
              </a:lnSpc>
              <a:spcAft>
                <a:spcPts val="1400"/>
              </a:spcAft>
            </a:pPr>
            <a:r>
              <a:rPr sz="1400" b="0" i="0">
                <a:solidFill>
                  <a:srgbClr val="CADCFC"/>
                </a:solidFill>
                <a:latin typeface="Calibri"/>
              </a:rPr>
              <a:t>automated tests, all passing</a:t>
            </a:r>
          </a:p>
          <a:p>
            <a:pPr algn="l">
              <a:lnSpc>
                <a:spcPct val="105000"/>
              </a:lnSpc>
              <a:spcAft>
                <a:spcPts val="600"/>
              </a:spcAft>
            </a:pPr>
            <a:r>
              <a:rPr sz="1400" b="0" i="0">
                <a:solidFill>
                  <a:srgbClr val="FFFFFF"/>
                </a:solidFill>
                <a:latin typeface="Calibri"/>
              </a:rPr>
              <a:t>38  live - boot a server and scan it</a:t>
            </a:r>
          </a:p>
          <a:p>
            <a:pPr algn="l">
              <a:lnSpc>
                <a:spcPct val="105000"/>
              </a:lnSpc>
              <a:spcAft>
                <a:spcPts val="600"/>
              </a:spcAft>
            </a:pPr>
            <a:r>
              <a:rPr sz="1400" b="0" i="0">
                <a:solidFill>
                  <a:srgbClr val="FFFFFF"/>
                </a:solidFill>
                <a:latin typeface="Calibri"/>
              </a:rPr>
              <a:t>111  unit - individual judgements</a:t>
            </a:r>
          </a:p>
          <a:p>
            <a:pPr algn="l">
              <a:lnSpc>
                <a:spcPct val="105000"/>
              </a:lnSpc>
            </a:pPr>
            <a:r>
              <a:rPr sz="1400" b="0" i="0">
                <a:solidFill>
                  <a:srgbClr val="FFFFFF"/>
                </a:solidFill>
                <a:latin typeface="Calibri"/>
              </a:rPr>
              <a:t>64  regression - pin bugs we fixed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2233F"/>
        </a:solidFill>
        <a:effectLst/>
      </p:bgPr>
    </p:bg>
    <p:spTree>
      <p:nvGrpSpPr>
        <p:cNvPr id="1" name=""/>
        <p:cNvGrpSpPr/>
        <p:nvPr/>
      </p:nvGrpSpPr>
      <p:grpSpPr>
        <a:xfrm>
          <a:off x="0" y="0"/>
          <a:ext cx="0" cy="0"/>
          <a:chOff x="0" y="0"/>
          <a:chExt cx="0" cy="0"/>
        </a:xfrm>
      </p:grpSpPr>
      <p:sp>
        <p:nvSpPr>
          <p:cNvPr id="2" name="TextBox 1"/>
          <p:cNvSpPr txBox="1"/>
          <p:nvPr/>
        </p:nvSpPr>
        <p:spPr>
          <a:xfrm>
            <a:off x="548640" y="640080"/>
            <a:ext cx="11091672" cy="365760"/>
          </a:xfrm>
          <a:prstGeom prst="rect">
            <a:avLst/>
          </a:prstGeom>
          <a:noFill/>
        </p:spPr>
        <p:txBody>
          <a:bodyPr wrap="square" lIns="0" tIns="0" rIns="0" bIns="0" anchor="t">
            <a:spAutoFit/>
          </a:bodyPr>
          <a:lstStyle/>
          <a:p>
            <a:pPr algn="l"/>
            <a:r>
              <a:rPr sz="1300" b="1" i="0">
                <a:solidFill>
                  <a:srgbClr val="02C39A"/>
                </a:solidFill>
                <a:latin typeface="Calibri"/>
              </a:rPr>
              <a:t>SCOPE</a:t>
            </a:r>
          </a:p>
        </p:txBody>
      </p:sp>
      <p:sp>
        <p:nvSpPr>
          <p:cNvPr id="3" name="TextBox 2"/>
          <p:cNvSpPr txBox="1"/>
          <p:nvPr/>
        </p:nvSpPr>
        <p:spPr>
          <a:xfrm>
            <a:off x="548640" y="1051560"/>
            <a:ext cx="11091672" cy="1188720"/>
          </a:xfrm>
          <a:prstGeom prst="rect">
            <a:avLst/>
          </a:prstGeom>
          <a:noFill/>
        </p:spPr>
        <p:txBody>
          <a:bodyPr wrap="square" lIns="0" tIns="0" rIns="0" bIns="0" anchor="t">
            <a:spAutoFit/>
          </a:bodyPr>
          <a:lstStyle/>
          <a:p>
            <a:pPr algn="l">
              <a:lnSpc>
                <a:spcPct val="105000"/>
              </a:lnSpc>
            </a:pPr>
            <a:r>
              <a:rPr sz="2500" b="1" i="0">
                <a:solidFill>
                  <a:srgbClr val="FFFFFF"/>
                </a:solidFill>
                <a:latin typeface="Calibri"/>
              </a:rPr>
              <a:t>We measure whether a server advertises and enforces login. We do not measure whether that login is sound.</a:t>
            </a:r>
          </a:p>
        </p:txBody>
      </p:sp>
      <p:sp>
        <p:nvSpPr>
          <p:cNvPr id="4" name="TextBox 3"/>
          <p:cNvSpPr txBox="1"/>
          <p:nvPr/>
        </p:nvSpPr>
        <p:spPr>
          <a:xfrm>
            <a:off x="548640" y="2331720"/>
            <a:ext cx="11091672" cy="640080"/>
          </a:xfrm>
          <a:prstGeom prst="rect">
            <a:avLst/>
          </a:prstGeom>
          <a:noFill/>
        </p:spPr>
        <p:txBody>
          <a:bodyPr wrap="square" lIns="0" tIns="0" rIns="0" bIns="0" anchor="t">
            <a:spAutoFit/>
          </a:bodyPr>
          <a:lstStyle/>
          <a:p>
            <a:pPr algn="l"/>
            <a:r>
              <a:rPr sz="1600" b="0" i="0">
                <a:solidFill>
                  <a:srgbClr val="CADCFC"/>
                </a:solidFill>
                <a:latin typeface="Calibri"/>
              </a:rPr>
              <a:t>A server can pass all 14 checks and still accept a token meant for someone else, or leak one user's data to another.</a:t>
            </a:r>
          </a:p>
        </p:txBody>
      </p:sp>
      <p:sp>
        <p:nvSpPr>
          <p:cNvPr id="5" name="Rounded Rectangle 4"/>
          <p:cNvSpPr/>
          <p:nvPr/>
        </p:nvSpPr>
        <p:spPr>
          <a:xfrm>
            <a:off x="548640" y="3291840"/>
            <a:ext cx="3017520" cy="868680"/>
          </a:xfrm>
          <a:prstGeom prst="roundRect">
            <a:avLst>
              <a:gd name="adj" fmla="val 6000"/>
            </a:avLst>
          </a:prstGeom>
          <a:solidFill>
            <a:srgbClr val="1B305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3291840"/>
            <a:ext cx="3017520" cy="868680"/>
          </a:xfrm>
          <a:prstGeom prst="rect">
            <a:avLst/>
          </a:prstGeom>
          <a:noFill/>
        </p:spPr>
        <p:txBody>
          <a:bodyPr wrap="square" lIns="0" tIns="0" rIns="0" bIns="0" anchor="ctr">
            <a:spAutoFit/>
          </a:bodyPr>
          <a:lstStyle/>
          <a:p>
            <a:pPr algn="ctr"/>
            <a:r>
              <a:rPr sz="1500" b="1" i="0">
                <a:solidFill>
                  <a:srgbClr val="FFFFFF"/>
                </a:solidFill>
                <a:latin typeface="Calibri"/>
              </a:rPr>
              <a:t>Client</a:t>
            </a:r>
          </a:p>
        </p:txBody>
      </p:sp>
      <p:sp>
        <p:nvSpPr>
          <p:cNvPr id="7" name="Rounded Rectangle 6"/>
          <p:cNvSpPr/>
          <p:nvPr/>
        </p:nvSpPr>
        <p:spPr>
          <a:xfrm>
            <a:off x="4114800" y="3291840"/>
            <a:ext cx="3017520" cy="868680"/>
          </a:xfrm>
          <a:prstGeom prst="roundRect">
            <a:avLst>
              <a:gd name="adj" fmla="val 6000"/>
            </a:avLst>
          </a:prstGeom>
          <a:solidFill>
            <a:srgbClr val="1B305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0" y="3291840"/>
            <a:ext cx="3017520" cy="868680"/>
          </a:xfrm>
          <a:prstGeom prst="rect">
            <a:avLst/>
          </a:prstGeom>
          <a:noFill/>
        </p:spPr>
        <p:txBody>
          <a:bodyPr wrap="square" lIns="0" tIns="0" rIns="0" bIns="0" anchor="ctr">
            <a:spAutoFit/>
          </a:bodyPr>
          <a:lstStyle/>
          <a:p>
            <a:pPr algn="ctr"/>
            <a:r>
              <a:rPr sz="1500" b="1" i="0">
                <a:solidFill>
                  <a:srgbClr val="FFFFFF"/>
                </a:solidFill>
                <a:latin typeface="Calibri"/>
              </a:rPr>
              <a:t>MCP server</a:t>
            </a:r>
          </a:p>
        </p:txBody>
      </p:sp>
      <p:sp>
        <p:nvSpPr>
          <p:cNvPr id="9" name="Rounded Rectangle 8"/>
          <p:cNvSpPr/>
          <p:nvPr/>
        </p:nvSpPr>
        <p:spPr>
          <a:xfrm>
            <a:off x="7680960" y="3291840"/>
            <a:ext cx="3017520" cy="868680"/>
          </a:xfrm>
          <a:prstGeom prst="roundRect">
            <a:avLst>
              <a:gd name="adj" fmla="val 6000"/>
            </a:avLst>
          </a:prstGeom>
          <a:solidFill>
            <a:srgbClr val="2A2036"/>
          </a:solidFill>
          <a:ln w="12700">
            <a:solidFill>
              <a:srgbClr val="B47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680960" y="3291840"/>
            <a:ext cx="3017520" cy="868680"/>
          </a:xfrm>
          <a:prstGeom prst="rect">
            <a:avLst/>
          </a:prstGeom>
          <a:noFill/>
        </p:spPr>
        <p:txBody>
          <a:bodyPr wrap="square" lIns="0" tIns="0" rIns="0" bIns="0" anchor="ctr">
            <a:spAutoFit/>
          </a:bodyPr>
          <a:lstStyle/>
          <a:p>
            <a:pPr algn="ctr"/>
            <a:r>
              <a:rPr sz="1500" b="1" i="0">
                <a:solidFill>
                  <a:srgbClr val="F0C97A"/>
                </a:solidFill>
                <a:latin typeface="Calibri"/>
              </a:rPr>
              <a:t>true back-end</a:t>
            </a:r>
          </a:p>
        </p:txBody>
      </p:sp>
      <p:sp>
        <p:nvSpPr>
          <p:cNvPr id="11" name="Right Arrow 10"/>
          <p:cNvSpPr/>
          <p:nvPr/>
        </p:nvSpPr>
        <p:spPr>
          <a:xfrm>
            <a:off x="3566160" y="3584448"/>
            <a:ext cx="502920" cy="274320"/>
          </a:xfrm>
          <a:prstGeom prst="rightArrow">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ight Arrow 11"/>
          <p:cNvSpPr/>
          <p:nvPr/>
        </p:nvSpPr>
        <p:spPr>
          <a:xfrm>
            <a:off x="7132320" y="3584448"/>
            <a:ext cx="502920" cy="274320"/>
          </a:xfrm>
          <a:prstGeom prst="rightArrow">
            <a:avLst/>
          </a:prstGeom>
          <a:solidFill>
            <a:srgbClr val="B474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14800" y="4251960"/>
            <a:ext cx="6583680" cy="365760"/>
          </a:xfrm>
          <a:prstGeom prst="rect">
            <a:avLst/>
          </a:prstGeom>
          <a:noFill/>
        </p:spPr>
        <p:txBody>
          <a:bodyPr wrap="square" lIns="0" tIns="0" rIns="0" bIns="0" anchor="t">
            <a:spAutoFit/>
          </a:bodyPr>
          <a:lstStyle/>
          <a:p>
            <a:pPr algn="l"/>
            <a:r>
              <a:rPr sz="1200" b="0" i="1">
                <a:solidFill>
                  <a:srgbClr val="8FA6C4"/>
                </a:solidFill>
                <a:latin typeface="Calibri"/>
              </a:rPr>
              <a:t>we can see this hop                       invisible from outside - even with a token</a:t>
            </a:r>
          </a:p>
        </p:txBody>
      </p:sp>
      <p:sp>
        <p:nvSpPr>
          <p:cNvPr id="14" name="TextBox 13"/>
          <p:cNvSpPr txBox="1"/>
          <p:nvPr/>
        </p:nvSpPr>
        <p:spPr>
          <a:xfrm>
            <a:off x="548640" y="5029200"/>
            <a:ext cx="11091672" cy="914400"/>
          </a:xfrm>
          <a:prstGeom prst="rect">
            <a:avLst/>
          </a:prstGeom>
          <a:noFill/>
        </p:spPr>
        <p:txBody>
          <a:bodyPr wrap="square" lIns="0" tIns="0" rIns="0" bIns="0" anchor="t">
            <a:spAutoFit/>
          </a:bodyPr>
          <a:lstStyle/>
          <a:p>
            <a:pPr algn="l">
              <a:lnSpc>
                <a:spcPct val="105000"/>
              </a:lnSpc>
            </a:pPr>
            <a:r>
              <a:rPr sz="1500" b="0" i="0">
                <a:solidFill>
                  <a:srgbClr val="CADCFC"/>
                </a:solidFill>
                <a:latin typeface="Calibri"/>
              </a:rPr>
              <a:t>We deliberately scoped the project to what a no-credential caller can observe. Some dangerous mistakes live on that second hop - a server passing your token to a back-end that shouldn't get it, or mixing up two users - which is not observable from outside in any case.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2233F"/>
        </a:solidFill>
        <a:effectLst/>
      </p:bgPr>
    </p:bg>
    <p:spTree>
      <p:nvGrpSpPr>
        <p:cNvPr id="1" name=""/>
        <p:cNvGrpSpPr/>
        <p:nvPr/>
      </p:nvGrpSpPr>
      <p:grpSpPr>
        <a:xfrm>
          <a:off x="0" y="0"/>
          <a:ext cx="0" cy="0"/>
          <a:chOff x="0" y="0"/>
          <a:chExt cx="0" cy="0"/>
        </a:xfrm>
      </p:grpSpPr>
      <p:sp>
        <p:nvSpPr>
          <p:cNvPr id="2" name="TextBox 1"/>
          <p:cNvSpPr txBox="1"/>
          <p:nvPr/>
        </p:nvSpPr>
        <p:spPr>
          <a:xfrm>
            <a:off x="548640" y="1463040"/>
            <a:ext cx="11091672" cy="36576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02C39A"/>
                </a:solidFill>
                <a:effectLst/>
                <a:uLnTx/>
                <a:uFillTx/>
                <a:latin typeface="Calibri"/>
                <a:ea typeface="+mn-ea"/>
                <a:cs typeface="+mn-cs"/>
              </a:rPr>
              <a:t>PROJECT REPOSITORY</a:t>
            </a:r>
          </a:p>
        </p:txBody>
      </p:sp>
      <p:sp>
        <p:nvSpPr>
          <p:cNvPr id="3" name="TextBox 2"/>
          <p:cNvSpPr txBox="1"/>
          <p:nvPr/>
        </p:nvSpPr>
        <p:spPr>
          <a:xfrm>
            <a:off x="548640" y="1874519"/>
            <a:ext cx="11091672" cy="1188720"/>
          </a:xfrm>
          <a:prstGeom prst="rect">
            <a:avLst/>
          </a:prstGeom>
          <a:noFill/>
        </p:spPr>
        <p:txBody>
          <a:bodyPr wrap="square" lIns="0" tIns="0" rIns="0" bIns="0" anchor="t">
            <a:spAutoFit/>
          </a:bodyPr>
          <a:lstStyle/>
          <a:p>
            <a:pPr marL="0" marR="0" lvl="0" indent="0" algn="l" defTabSz="457200" rtl="0" eaLnBrk="1" fontAlgn="auto" latinLnBrk="0" hangingPunct="1">
              <a:lnSpc>
                <a:spcPct val="102000"/>
              </a:lnSpc>
              <a:spcBef>
                <a:spcPts val="0"/>
              </a:spcBef>
              <a:spcAft>
                <a:spcPts val="0"/>
              </a:spcAft>
              <a:buClrTx/>
              <a:buSzTx/>
              <a:buFontTx/>
              <a:buNone/>
              <a:tabLst/>
              <a:defRPr/>
            </a:pPr>
            <a:r>
              <a:rPr kumimoji="0" sz="3600" b="1" i="0" u="none" strike="noStrike" kern="1200" cap="none" spc="0" normalizeH="0" baseline="0" noProof="0">
                <a:ln>
                  <a:noFill/>
                </a:ln>
                <a:solidFill>
                  <a:srgbClr val="FFFFFF"/>
                </a:solidFill>
                <a:effectLst/>
                <a:uLnTx/>
                <a:uFillTx/>
                <a:latin typeface="Calibri"/>
                <a:ea typeface="+mn-ea"/>
                <a:cs typeface="+mn-cs"/>
              </a:rPr>
              <a:t>Source code and research artifacts</a:t>
            </a:r>
          </a:p>
        </p:txBody>
      </p:sp>
      <p:sp>
        <p:nvSpPr>
          <p:cNvPr id="4" name="TextBox 3"/>
          <p:cNvSpPr txBox="1"/>
          <p:nvPr/>
        </p:nvSpPr>
        <p:spPr>
          <a:xfrm>
            <a:off x="548640" y="3154680"/>
            <a:ext cx="11091672" cy="276999"/>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srgbClr val="CADCFC"/>
                </a:solidFill>
                <a:effectLst/>
                <a:uLnTx/>
                <a:uFillTx/>
                <a:latin typeface="Calibri"/>
                <a:ea typeface="+mn-ea"/>
                <a:cs typeface="+mn-cs"/>
              </a:rPr>
              <a:t>Public copy of the complete project</a:t>
            </a:r>
          </a:p>
        </p:txBody>
      </p:sp>
      <p:sp>
        <p:nvSpPr>
          <p:cNvPr id="5" name="Rounded Rectangle 4"/>
          <p:cNvSpPr/>
          <p:nvPr/>
        </p:nvSpPr>
        <p:spPr>
          <a:xfrm>
            <a:off x="548640" y="4114800"/>
            <a:ext cx="11091672" cy="1371600"/>
          </a:xfrm>
          <a:prstGeom prst="roundRect">
            <a:avLst>
              <a:gd name="adj" fmla="val 6000"/>
            </a:avLst>
          </a:prstGeom>
          <a:solidFill>
            <a:srgbClr val="1B305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822959" y="4416437"/>
            <a:ext cx="10543032" cy="759182"/>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dirty="0">
                <a:ln>
                  <a:noFill/>
                </a:ln>
                <a:solidFill>
                  <a:srgbClr val="02C39A"/>
                </a:solidFill>
                <a:effectLst/>
                <a:uLnTx/>
                <a:uFillTx/>
                <a:latin typeface="Calibri"/>
                <a:ea typeface="+mn-ea"/>
                <a:cs typeface="+mn-cs"/>
                <a:hlinkClick r:id="rId2"/>
              </a:rPr>
              <a:t>https://github.com/yamitkfir/YamAmit-MCP-auth-public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TotalTime>
  <Words>3701</Words>
  <Application>Microsoft Office PowerPoint</Application>
  <PresentationFormat>Custom</PresentationFormat>
  <Paragraphs>384</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Amit Cohen</cp:lastModifiedBy>
  <cp:revision>5</cp:revision>
  <dcterms:created xsi:type="dcterms:W3CDTF">2013-01-27T09:14:16Z</dcterms:created>
  <dcterms:modified xsi:type="dcterms:W3CDTF">2026-10-01T13:05:45Z</dcterms:modified>
  <cp:category/>
</cp:coreProperties>
</file>